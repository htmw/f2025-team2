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 ContentType="image/ti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Lst>
  <p:sldSz cx="9144000" cy="6858000" type="screen4x3"/>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lvl1pPr>
    <a:lvl2pPr marL="0" marR="0" indent="4572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lvl2pPr>
    <a:lvl3pPr marL="0" marR="0" indent="9144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lvl3pPr>
    <a:lvl4pPr marL="0" marR="0" indent="13716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lvl4pPr>
    <a:lvl5pPr marL="0" marR="0" indent="18288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lvl5pPr>
    <a:lvl6pPr marL="0" marR="0" indent="22860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lvl6pPr>
    <a:lvl7pPr marL="0" marR="0" indent="27432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lvl7pPr>
    <a:lvl8pPr marL="0" marR="0" indent="32004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lvl8pPr>
    <a:lvl9pPr marL="0" marR="0" indent="36576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E2BBB0A-BAC5-597D-45E8-A2672E5D85F3}" v="48" dt="2025-12-15T10:56:37.978"/>
    <p1510:client id="{DEBAD254-000C-0614-D3CC-FCE5E64EB532}" v="5" dt="2025-12-15T11:14:18.609"/>
  </p1510:revLst>
</p1510:revInfo>
</file>

<file path=ppt/tableStyles.xml><?xml version="1.0" encoding="utf-8"?>
<a:tblStyleLst xmlns:a="http://schemas.openxmlformats.org/drawingml/2006/main" def="{5940675A-B579-460E-94D1-54222C63F5DA}">
  <a:tblStyle styleId="{4C3C2611-4C71-4FC5-86AE-919BDF0F9419}" styleName="">
    <a:tblBg/>
    <a:wholeTbl>
      <a:tcTxStyle b="off" i="off">
        <a:font>
          <a:latin typeface="Calibri"/>
          <a:ea typeface="Calibri"/>
          <a:cs typeface="Calibri"/>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FF4"/>
          </a:solidFill>
        </a:fill>
      </a:tcStyle>
    </a:wholeTbl>
    <a:band2H>
      <a:tcTxStyle/>
      <a:tcStyle>
        <a:tcBdr/>
        <a:fill>
          <a:solidFill>
            <a:srgbClr val="E7F0FA"/>
          </a:solidFill>
        </a:fill>
      </a:tcStyle>
    </a:band2H>
    <a:firstCol>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5"/>
          </a:solidFill>
        </a:fill>
      </a:tcStyle>
    </a:firstCol>
    <a:la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5"/>
          </a:solidFill>
        </a:fill>
      </a:tcStyle>
    </a:lastRow>
    <a:fir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5"/>
          </a:solidFill>
        </a:fill>
      </a:tcStyle>
    </a:firstRow>
  </a:tblStyle>
  <a:tblStyle styleId="{C7B018BB-80A7-4F77-B60F-C8B233D01FF8}" styleName="">
    <a:tblBg/>
    <a:wholeTbl>
      <a:tcTxStyle b="off" i="off">
        <a:font>
          <a:latin typeface="Calibri"/>
          <a:ea typeface="Calibri"/>
          <a:cs typeface="Calibri"/>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5E5D0"/>
          </a:solidFill>
        </a:fill>
      </a:tcStyle>
    </a:wholeTbl>
    <a:band2H>
      <a:tcTxStyle/>
      <a:tcStyle>
        <a:tcBdr/>
        <a:fill>
          <a:solidFill>
            <a:srgbClr val="FAF2E9"/>
          </a:solidFill>
        </a:fill>
      </a:tcStyle>
    </a:band2H>
    <a:firstCol>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EEE7283C-3CF3-47DC-8721-378D4A62B228}" styleName="">
    <a:tblBg/>
    <a:wholeTbl>
      <a:tcTxStyle b="off"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noFill/>
        </a:fill>
      </a:tcStyle>
    </a:wholeTbl>
    <a:band2H>
      <a:tcTxStyle/>
      <a:tcStyle>
        <a:tcBdr/>
        <a:fill>
          <a:solidFill>
            <a:srgbClr val="FFFFFF"/>
          </a:solidFill>
        </a:fill>
      </a:tcStyle>
    </a:band2H>
    <a:firstCol>
      <a:tcTxStyle b="off"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noFill/>
        </a:fill>
      </a:tcStyle>
    </a:firstCol>
    <a:lastRow>
      <a:tcTxStyle b="off"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noFill/>
        </a:fill>
      </a:tcStyle>
    </a:lastRow>
    <a:firstRow>
      <a:tcTxStyle b="off"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noFill/>
        </a:fill>
      </a:tcStyle>
    </a:firstRow>
  </a:tblStyle>
  <a:tblStyle styleId="{CF821DB8-F4EB-4A41-A1BA-3FCAFE7338EE}" styleName="">
    <a:tblBg/>
    <a:wholeTbl>
      <a:tcTxStyle b="off" i="off">
        <a:font>
          <a:latin typeface="Calibri"/>
          <a:ea typeface="Calibri"/>
          <a:cs typeface="Calibri"/>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0CFD7"/>
          </a:solidFill>
        </a:fill>
      </a:tcStyle>
    </a:wholeTbl>
    <a:band2H>
      <a:tcTxStyle/>
      <a:tcStyle>
        <a:tcBdr/>
        <a:fill>
          <a:solidFill>
            <a:srgbClr val="F8E8EC"/>
          </a:solidFill>
        </a:fill>
      </a:tcStyle>
    </a:band2H>
    <a:firstCol>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33BA23B1-9221-436E-865A-0063620EA4FD}" styleName="">
    <a:tblBg/>
    <a:wholeTbl>
      <a:tcTxStyle b="off" i="off">
        <a:font>
          <a:latin typeface="Calibri"/>
          <a:ea typeface="Calibri"/>
          <a:cs typeface="Calibri"/>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BE8D5"/>
          </a:solidFill>
        </a:fill>
      </a:tcStyle>
    </a:wholeTbl>
    <a:band2H>
      <a:tcTxStyle/>
      <a:tcStyle>
        <a:tcBdr/>
        <a:fill>
          <a:solidFill>
            <a:srgbClr val="EEF4EB"/>
          </a:solidFill>
        </a:fill>
      </a:tcStyle>
    </a:band2H>
    <a:firstCol>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2708684C-4D16-4618-839F-0558EEFCDFE6}" styleName="">
    <a:tblBg/>
    <a:wholeTbl>
      <a:tcTxStyle b="off" i="off">
        <a:font>
          <a:latin typeface="Calibri"/>
          <a:ea typeface="Calibri"/>
          <a:cs typeface="Calibri"/>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ff">
        <a:font>
          <a:latin typeface="Calibri"/>
          <a:ea typeface="Calibri"/>
          <a:cs typeface="Calibri"/>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
          <a:latin typeface="Calibri"/>
          <a:ea typeface="Calibri"/>
          <a:cs typeface="Calibri"/>
        </a:font>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
          <a:latin typeface="Calibri"/>
          <a:ea typeface="Calibri"/>
          <a:cs typeface="Calibri"/>
        </a:font>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48" Type="http://schemas.microsoft.com/office/2016/11/relationships/changesInfo" Target="changesInfos/changesInfo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win, Mr. Nyi Nyi" userId="S::nl55428n@pace.edu::1faa4419-57a3-467e-8400-9da983744e49" providerId="AD" clId="Web-{6E2BBB0A-BAC5-597D-45E8-A2672E5D85F3}"/>
    <pc:docChg chg="modSld">
      <pc:chgData name="Lwin, Mr. Nyi Nyi" userId="S::nl55428n@pace.edu::1faa4419-57a3-467e-8400-9da983744e49" providerId="AD" clId="Web-{6E2BBB0A-BAC5-597D-45E8-A2672E5D85F3}" dt="2025-12-15T10:56:37.978" v="34"/>
      <pc:docMkLst>
        <pc:docMk/>
      </pc:docMkLst>
      <pc:sldChg chg="delAnim">
        <pc:chgData name="Lwin, Mr. Nyi Nyi" userId="S::nl55428n@pace.edu::1faa4419-57a3-467e-8400-9da983744e49" providerId="AD" clId="Web-{6E2BBB0A-BAC5-597D-45E8-A2672E5D85F3}" dt="2025-12-15T10:56:37.978" v="34"/>
        <pc:sldMkLst>
          <pc:docMk/>
          <pc:sldMk cId="0" sldId="256"/>
        </pc:sldMkLst>
      </pc:sldChg>
      <pc:sldChg chg="modSp">
        <pc:chgData name="Lwin, Mr. Nyi Nyi" userId="S::nl55428n@pace.edu::1faa4419-57a3-467e-8400-9da983744e49" providerId="AD" clId="Web-{6E2BBB0A-BAC5-597D-45E8-A2672E5D85F3}" dt="2025-12-15T10:50:08.976" v="23" actId="20577"/>
        <pc:sldMkLst>
          <pc:docMk/>
          <pc:sldMk cId="0" sldId="257"/>
        </pc:sldMkLst>
        <pc:spChg chg="mod">
          <ac:chgData name="Lwin, Mr. Nyi Nyi" userId="S::nl55428n@pace.edu::1faa4419-57a3-467e-8400-9da983744e49" providerId="AD" clId="Web-{6E2BBB0A-BAC5-597D-45E8-A2672E5D85F3}" dt="2025-12-15T10:50:08.976" v="23" actId="20577"/>
          <ac:spMkLst>
            <pc:docMk/>
            <pc:sldMk cId="0" sldId="257"/>
            <ac:spMk id="177" creationId="{00000000-0000-0000-0000-000000000000}"/>
          </ac:spMkLst>
        </pc:spChg>
      </pc:sldChg>
      <pc:sldChg chg="modSp">
        <pc:chgData name="Lwin, Mr. Nyi Nyi" userId="S::nl55428n@pace.edu::1faa4419-57a3-467e-8400-9da983744e49" providerId="AD" clId="Web-{6E2BBB0A-BAC5-597D-45E8-A2672E5D85F3}" dt="2025-12-15T10:50:46.198" v="26" actId="20577"/>
        <pc:sldMkLst>
          <pc:docMk/>
          <pc:sldMk cId="0" sldId="262"/>
        </pc:sldMkLst>
        <pc:spChg chg="mod">
          <ac:chgData name="Lwin, Mr. Nyi Nyi" userId="S::nl55428n@pace.edu::1faa4419-57a3-467e-8400-9da983744e49" providerId="AD" clId="Web-{6E2BBB0A-BAC5-597D-45E8-A2672E5D85F3}" dt="2025-12-15T10:50:46.198" v="26" actId="20577"/>
          <ac:spMkLst>
            <pc:docMk/>
            <pc:sldMk cId="0" sldId="262"/>
            <ac:spMk id="216" creationId="{00000000-0000-0000-0000-000000000000}"/>
          </ac:spMkLst>
        </pc:spChg>
      </pc:sldChg>
      <pc:sldChg chg="modSp">
        <pc:chgData name="Lwin, Mr. Nyi Nyi" userId="S::nl55428n@pace.edu::1faa4419-57a3-467e-8400-9da983744e49" providerId="AD" clId="Web-{6E2BBB0A-BAC5-597D-45E8-A2672E5D85F3}" dt="2025-12-15T10:51:01.605" v="27" actId="1076"/>
        <pc:sldMkLst>
          <pc:docMk/>
          <pc:sldMk cId="0" sldId="263"/>
        </pc:sldMkLst>
        <pc:spChg chg="mod">
          <ac:chgData name="Lwin, Mr. Nyi Nyi" userId="S::nl55428n@pace.edu::1faa4419-57a3-467e-8400-9da983744e49" providerId="AD" clId="Web-{6E2BBB0A-BAC5-597D-45E8-A2672E5D85F3}" dt="2025-12-15T10:51:01.605" v="27" actId="1076"/>
          <ac:spMkLst>
            <pc:docMk/>
            <pc:sldMk cId="0" sldId="263"/>
            <ac:spMk id="220" creationId="{00000000-0000-0000-0000-000000000000}"/>
          </ac:spMkLst>
        </pc:spChg>
      </pc:sldChg>
      <pc:sldChg chg="modSp">
        <pc:chgData name="Lwin, Mr. Nyi Nyi" userId="S::nl55428n@pace.edu::1faa4419-57a3-467e-8400-9da983744e49" providerId="AD" clId="Web-{6E2BBB0A-BAC5-597D-45E8-A2672E5D85F3}" dt="2025-12-15T10:47:35.670" v="2"/>
        <pc:sldMkLst>
          <pc:docMk/>
          <pc:sldMk cId="0" sldId="272"/>
        </pc:sldMkLst>
        <pc:spChg chg="mod">
          <ac:chgData name="Lwin, Mr. Nyi Nyi" userId="S::nl55428n@pace.edu::1faa4419-57a3-467e-8400-9da983744e49" providerId="AD" clId="Web-{6E2BBB0A-BAC5-597D-45E8-A2672E5D85F3}" dt="2025-12-15T10:47:35.670" v="2"/>
          <ac:spMkLst>
            <pc:docMk/>
            <pc:sldMk cId="0" sldId="272"/>
            <ac:spMk id="257" creationId="{00000000-0000-0000-0000-000000000000}"/>
          </ac:spMkLst>
        </pc:spChg>
      </pc:sldChg>
      <pc:sldChg chg="modSp">
        <pc:chgData name="Lwin, Mr. Nyi Nyi" userId="S::nl55428n@pace.edu::1faa4419-57a3-467e-8400-9da983744e49" providerId="AD" clId="Web-{6E2BBB0A-BAC5-597D-45E8-A2672E5D85F3}" dt="2025-12-15T10:48:42.625" v="12"/>
        <pc:sldMkLst>
          <pc:docMk/>
          <pc:sldMk cId="0" sldId="283"/>
        </pc:sldMkLst>
        <pc:graphicFrameChg chg="mod modGraphic">
          <ac:chgData name="Lwin, Mr. Nyi Nyi" userId="S::nl55428n@pace.edu::1faa4419-57a3-467e-8400-9da983744e49" providerId="AD" clId="Web-{6E2BBB0A-BAC5-597D-45E8-A2672E5D85F3}" dt="2025-12-15T10:48:42.625" v="12"/>
          <ac:graphicFrameMkLst>
            <pc:docMk/>
            <pc:sldMk cId="0" sldId="283"/>
            <ac:graphicFrameMk id="286" creationId="{00000000-0000-0000-0000-000000000000}"/>
          </ac:graphicFrameMkLst>
        </pc:graphicFrameChg>
      </pc:sldChg>
      <pc:sldChg chg="modSp">
        <pc:chgData name="Lwin, Mr. Nyi Nyi" userId="S::nl55428n@pace.edu::1faa4419-57a3-467e-8400-9da983744e49" providerId="AD" clId="Web-{6E2BBB0A-BAC5-597D-45E8-A2672E5D85F3}" dt="2025-12-15T10:54:23.380" v="33"/>
        <pc:sldMkLst>
          <pc:docMk/>
          <pc:sldMk cId="0" sldId="295"/>
        </pc:sldMkLst>
        <pc:spChg chg="mod">
          <ac:chgData name="Lwin, Mr. Nyi Nyi" userId="S::nl55428n@pace.edu::1faa4419-57a3-467e-8400-9da983744e49" providerId="AD" clId="Web-{6E2BBB0A-BAC5-597D-45E8-A2672E5D85F3}" dt="2025-12-15T10:54:23.380" v="33"/>
          <ac:spMkLst>
            <pc:docMk/>
            <pc:sldMk cId="0" sldId="295"/>
            <ac:spMk id="328" creationId="{00000000-0000-0000-0000-000000000000}"/>
          </ac:spMkLst>
        </pc:spChg>
      </pc:sldChg>
    </pc:docChg>
  </pc:docChgLst>
  <pc:docChgLst>
    <pc:chgData name="Lwin, Mr. Nyi Nyi" userId="S::nl55428n@pace.edu::1faa4419-57a3-467e-8400-9da983744e49" providerId="AD" clId="Web-{DEBAD254-000C-0614-D3CC-FCE5E64EB532}"/>
    <pc:docChg chg="modSld">
      <pc:chgData name="Lwin, Mr. Nyi Nyi" userId="S::nl55428n@pace.edu::1faa4419-57a3-467e-8400-9da983744e49" providerId="AD" clId="Web-{DEBAD254-000C-0614-D3CC-FCE5E64EB532}" dt="2025-12-15T11:14:18.609" v="3" actId="1076"/>
      <pc:docMkLst>
        <pc:docMk/>
      </pc:docMkLst>
      <pc:sldChg chg="addSp modSp">
        <pc:chgData name="Lwin, Mr. Nyi Nyi" userId="S::nl55428n@pace.edu::1faa4419-57a3-467e-8400-9da983744e49" providerId="AD" clId="Web-{DEBAD254-000C-0614-D3CC-FCE5E64EB532}" dt="2025-12-15T11:14:18.609" v="3" actId="1076"/>
        <pc:sldMkLst>
          <pc:docMk/>
          <pc:sldMk cId="0" sldId="294"/>
        </pc:sldMkLst>
        <pc:picChg chg="add mod">
          <ac:chgData name="Lwin, Mr. Nyi Nyi" userId="S::nl55428n@pace.edu::1faa4419-57a3-467e-8400-9da983744e49" providerId="AD" clId="Web-{DEBAD254-000C-0614-D3CC-FCE5E64EB532}" dt="2025-12-15T11:14:18.609" v="3" actId="1076"/>
          <ac:picMkLst>
            <pc:docMk/>
            <pc:sldMk cId="0" sldId="294"/>
            <ac:picMk id="2" creationId="{C8120E64-A0B8-C87A-9BD6-534A230E6F44}"/>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66" name="Shape 166"/>
          <p:cNvSpPr>
            <a:spLocks noGrp="1" noRot="1" noChangeAspect="1"/>
          </p:cNvSpPr>
          <p:nvPr>
            <p:ph type="sldImg"/>
          </p:nvPr>
        </p:nvSpPr>
        <p:spPr>
          <a:xfrm>
            <a:off x="1143000" y="685800"/>
            <a:ext cx="4572000" cy="3429000"/>
          </a:xfrm>
          <a:prstGeom prst="rect">
            <a:avLst/>
          </a:prstGeom>
        </p:spPr>
        <p:txBody>
          <a:bodyPr/>
          <a:lstStyle/>
          <a:p>
            <a:endParaRPr/>
          </a:p>
        </p:txBody>
      </p:sp>
      <p:sp>
        <p:nvSpPr>
          <p:cNvPr id="167" name="Shape 167"/>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latinLnBrk="0">
      <a:defRPr sz="1200">
        <a:latin typeface="+mj-lt"/>
        <a:ea typeface="+mj-ea"/>
        <a:cs typeface="+mj-cs"/>
        <a:sym typeface="Arial"/>
      </a:defRPr>
    </a:lvl1pPr>
    <a:lvl2pPr indent="228600" latinLnBrk="0">
      <a:defRPr sz="1200">
        <a:latin typeface="+mj-lt"/>
        <a:ea typeface="+mj-ea"/>
        <a:cs typeface="+mj-cs"/>
        <a:sym typeface="Arial"/>
      </a:defRPr>
    </a:lvl2pPr>
    <a:lvl3pPr indent="457200" latinLnBrk="0">
      <a:defRPr sz="1200">
        <a:latin typeface="+mj-lt"/>
        <a:ea typeface="+mj-ea"/>
        <a:cs typeface="+mj-cs"/>
        <a:sym typeface="Arial"/>
      </a:defRPr>
    </a:lvl3pPr>
    <a:lvl4pPr indent="685800" latinLnBrk="0">
      <a:defRPr sz="1200">
        <a:latin typeface="+mj-lt"/>
        <a:ea typeface="+mj-ea"/>
        <a:cs typeface="+mj-cs"/>
        <a:sym typeface="Arial"/>
      </a:defRPr>
    </a:lvl4pPr>
    <a:lvl5pPr indent="914400" latinLnBrk="0">
      <a:defRPr sz="1200">
        <a:latin typeface="+mj-lt"/>
        <a:ea typeface="+mj-ea"/>
        <a:cs typeface="+mj-cs"/>
        <a:sym typeface="Arial"/>
      </a:defRPr>
    </a:lvl5pPr>
    <a:lvl6pPr indent="1143000" latinLnBrk="0">
      <a:defRPr sz="1200">
        <a:latin typeface="+mj-lt"/>
        <a:ea typeface="+mj-ea"/>
        <a:cs typeface="+mj-cs"/>
        <a:sym typeface="Arial"/>
      </a:defRPr>
    </a:lvl6pPr>
    <a:lvl7pPr indent="1371600" latinLnBrk="0">
      <a:defRPr sz="1200">
        <a:latin typeface="+mj-lt"/>
        <a:ea typeface="+mj-ea"/>
        <a:cs typeface="+mj-cs"/>
        <a:sym typeface="Arial"/>
      </a:defRPr>
    </a:lvl7pPr>
    <a:lvl8pPr indent="1600200" latinLnBrk="0">
      <a:defRPr sz="1200">
        <a:latin typeface="+mj-lt"/>
        <a:ea typeface="+mj-ea"/>
        <a:cs typeface="+mj-cs"/>
        <a:sym typeface="Arial"/>
      </a:defRPr>
    </a:lvl8pPr>
    <a:lvl9pPr indent="1828800" latinLnBrk="0">
      <a:defRPr sz="1200">
        <a:latin typeface="+mj-lt"/>
        <a:ea typeface="+mj-ea"/>
        <a:cs typeface="+mj-cs"/>
        <a:sym typeface="Arial"/>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cSld name="Title Slide">
    <p:spTree>
      <p:nvGrpSpPr>
        <p:cNvPr id="1" name=""/>
        <p:cNvGrpSpPr/>
        <p:nvPr/>
      </p:nvGrpSpPr>
      <p:grpSpPr>
        <a:xfrm>
          <a:off x="0" y="0"/>
          <a:ext cx="0" cy="0"/>
          <a:chOff x="0" y="0"/>
          <a:chExt cx="0" cy="0"/>
        </a:xfrm>
      </p:grpSpPr>
      <p:pic>
        <p:nvPicPr>
          <p:cNvPr id="12" name="Picture 10" descr="Picture 10"/>
          <p:cNvPicPr>
            <a:picLocks noChangeAspect="1"/>
          </p:cNvPicPr>
          <p:nvPr/>
        </p:nvPicPr>
        <p:blipFill>
          <a:blip r:embed="rId2"/>
          <a:stretch>
            <a:fillRect/>
          </a:stretch>
        </p:blipFill>
        <p:spPr>
          <a:xfrm>
            <a:off x="0" y="0"/>
            <a:ext cx="7397750" cy="6858000"/>
          </a:xfrm>
          <a:prstGeom prst="rect">
            <a:avLst/>
          </a:prstGeom>
          <a:ln w="12700">
            <a:miter lim="400000"/>
          </a:ln>
        </p:spPr>
      </p:pic>
      <p:sp>
        <p:nvSpPr>
          <p:cNvPr id="13" name="Title Text"/>
          <p:cNvSpPr txBox="1">
            <a:spLocks noGrp="1"/>
          </p:cNvSpPr>
          <p:nvPr>
            <p:ph type="title"/>
          </p:nvPr>
        </p:nvSpPr>
        <p:spPr>
          <a:xfrm>
            <a:off x="2743973" y="1964266"/>
            <a:ext cx="5714228" cy="2421465"/>
          </a:xfrm>
          <a:prstGeom prst="rect">
            <a:avLst/>
          </a:prstGeom>
        </p:spPr>
        <p:txBody>
          <a:bodyPr anchor="b"/>
          <a:lstStyle>
            <a:lvl1pPr algn="ctr">
              <a:defRPr sz="4400" b="1">
                <a:ln w="3175" cap="flat">
                  <a:solidFill>
                    <a:srgbClr val="699E4A"/>
                  </a:solidFill>
                  <a:prstDash val="solid"/>
                  <a:round/>
                </a:ln>
                <a:latin typeface="Times New Roman"/>
                <a:ea typeface="Times New Roman"/>
                <a:cs typeface="Times New Roman"/>
                <a:sym typeface="Times New Roman"/>
              </a:defRPr>
            </a:lvl1pPr>
          </a:lstStyle>
          <a:p>
            <a:r>
              <a:t>Title Text</a:t>
            </a:r>
          </a:p>
        </p:txBody>
      </p:sp>
      <p:sp>
        <p:nvSpPr>
          <p:cNvPr id="14" name="Body Level One…"/>
          <p:cNvSpPr txBox="1">
            <a:spLocks noGrp="1"/>
          </p:cNvSpPr>
          <p:nvPr>
            <p:ph type="body" sz="quarter" idx="1"/>
          </p:nvPr>
        </p:nvSpPr>
        <p:spPr>
          <a:xfrm>
            <a:off x="2743973" y="4385733"/>
            <a:ext cx="5714228" cy="1405468"/>
          </a:xfrm>
          <a:prstGeom prst="rect">
            <a:avLst/>
          </a:prstGeom>
        </p:spPr>
        <p:txBody>
          <a:bodyPr anchor="t"/>
          <a:lstStyle>
            <a:lvl1pPr marL="0" indent="0" algn="r">
              <a:buClrTx/>
              <a:buSzTx/>
              <a:buFontTx/>
              <a:buNone/>
              <a:defRPr cap="all"/>
            </a:lvl1pPr>
            <a:lvl2pPr marL="0" indent="457200" algn="r">
              <a:buClrTx/>
              <a:buSzTx/>
              <a:buFontTx/>
              <a:buNone/>
              <a:defRPr cap="all"/>
            </a:lvl2pPr>
            <a:lvl3pPr marL="0" indent="914400" algn="r">
              <a:buClrTx/>
              <a:buSzTx/>
              <a:buFontTx/>
              <a:buNone/>
              <a:defRPr cap="all"/>
            </a:lvl3pPr>
            <a:lvl4pPr marL="0" indent="1371600" algn="r">
              <a:buClrTx/>
              <a:buSzTx/>
              <a:buFontTx/>
              <a:buNone/>
              <a:defRPr cap="all"/>
            </a:lvl4pPr>
            <a:lvl5pPr marL="0" indent="1828800" algn="r">
              <a:buClrTx/>
              <a:buSzTx/>
              <a:buFontTx/>
              <a:buNone/>
              <a:defRPr cap="all"/>
            </a:lvl5pPr>
          </a:lstStyle>
          <a:p>
            <a:r>
              <a:t>Body Level One</a:t>
            </a:r>
          </a:p>
          <a:p>
            <a:pPr lvl="1"/>
            <a:r>
              <a:t>Body Level Two</a:t>
            </a:r>
          </a:p>
          <a:p>
            <a:pPr lvl="2"/>
            <a:r>
              <a:t>Body Level Three</a:t>
            </a:r>
          </a:p>
          <a:p>
            <a:pPr lvl="3"/>
            <a:r>
              <a:t>Body Level Four</a:t>
            </a:r>
          </a:p>
          <a:p>
            <a:pPr lvl="4"/>
            <a:r>
              <a:t>Body Level Five</a:t>
            </a:r>
          </a:p>
        </p:txBody>
      </p:sp>
      <p:sp>
        <p:nvSpPr>
          <p:cNvPr id="15" name="Slide Number"/>
          <p:cNvSpPr txBox="1">
            <a:spLocks noGrp="1"/>
          </p:cNvSpPr>
          <p:nvPr>
            <p:ph type="sldNum" sz="quarter" idx="2"/>
          </p:nvPr>
        </p:nvSpPr>
        <p:spPr>
          <a:xfrm>
            <a:off x="8225325" y="5945233"/>
            <a:ext cx="232877" cy="228512"/>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Title and Content">
    <p:spTree>
      <p:nvGrpSpPr>
        <p:cNvPr id="1" name=""/>
        <p:cNvGrpSpPr/>
        <p:nvPr/>
      </p:nvGrpSpPr>
      <p:grpSpPr>
        <a:xfrm>
          <a:off x="0" y="0"/>
          <a:ext cx="0" cy="0"/>
          <a:chOff x="0" y="0"/>
          <a:chExt cx="0" cy="0"/>
        </a:xfrm>
      </p:grpSpPr>
      <p:sp>
        <p:nvSpPr>
          <p:cNvPr id="22" name="Title Text"/>
          <p:cNvSpPr txBox="1">
            <a:spLocks noGrp="1"/>
          </p:cNvSpPr>
          <p:nvPr>
            <p:ph type="title"/>
          </p:nvPr>
        </p:nvSpPr>
        <p:spPr>
          <a:xfrm>
            <a:off x="457200" y="609601"/>
            <a:ext cx="7772400" cy="1456268"/>
          </a:xfrm>
          <a:prstGeom prst="rect">
            <a:avLst/>
          </a:prstGeom>
        </p:spPr>
        <p:txBody>
          <a:bodyPr/>
          <a:lstStyle>
            <a:lvl1pPr>
              <a:defRPr sz="2800"/>
            </a:lvl1pPr>
          </a:lstStyle>
          <a:p>
            <a:r>
              <a:t>Title Text</a:t>
            </a:r>
          </a:p>
        </p:txBody>
      </p:sp>
      <p:sp>
        <p:nvSpPr>
          <p:cNvPr id="23" name="Body Level One…"/>
          <p:cNvSpPr txBox="1">
            <a:spLocks noGrp="1"/>
          </p:cNvSpPr>
          <p:nvPr>
            <p:ph type="body" idx="1"/>
          </p:nvPr>
        </p:nvSpPr>
        <p:spPr>
          <a:xfrm>
            <a:off x="457200" y="2142068"/>
            <a:ext cx="7772400" cy="3649134"/>
          </a:xfrm>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2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x">
  <p:cSld name="Section Header">
    <p:spTree>
      <p:nvGrpSpPr>
        <p:cNvPr id="1" name=""/>
        <p:cNvGrpSpPr/>
        <p:nvPr/>
      </p:nvGrpSpPr>
      <p:grpSpPr>
        <a:xfrm>
          <a:off x="0" y="0"/>
          <a:ext cx="0" cy="0"/>
          <a:chOff x="0" y="0"/>
          <a:chExt cx="0" cy="0"/>
        </a:xfrm>
      </p:grpSpPr>
      <p:pic>
        <p:nvPicPr>
          <p:cNvPr id="31" name="Picture 7" descr="Picture 7"/>
          <p:cNvPicPr>
            <a:picLocks noChangeAspect="1"/>
          </p:cNvPicPr>
          <p:nvPr/>
        </p:nvPicPr>
        <p:blipFill>
          <a:blip r:embed="rId2"/>
          <a:stretch>
            <a:fillRect/>
          </a:stretch>
        </p:blipFill>
        <p:spPr>
          <a:xfrm>
            <a:off x="13956" y="0"/>
            <a:ext cx="9118601" cy="6858000"/>
          </a:xfrm>
          <a:prstGeom prst="rect">
            <a:avLst/>
          </a:prstGeom>
          <a:ln w="12700">
            <a:miter lim="400000"/>
          </a:ln>
        </p:spPr>
      </p:pic>
      <p:sp>
        <p:nvSpPr>
          <p:cNvPr id="32" name="Title Text"/>
          <p:cNvSpPr txBox="1">
            <a:spLocks noGrp="1"/>
          </p:cNvSpPr>
          <p:nvPr>
            <p:ph type="title"/>
          </p:nvPr>
        </p:nvSpPr>
        <p:spPr>
          <a:xfrm>
            <a:off x="457201" y="3308580"/>
            <a:ext cx="7772401" cy="1468801"/>
          </a:xfrm>
          <a:prstGeom prst="rect">
            <a:avLst/>
          </a:prstGeom>
        </p:spPr>
        <p:txBody>
          <a:bodyPr anchor="b"/>
          <a:lstStyle/>
          <a:p>
            <a:r>
              <a:t>Title Text</a:t>
            </a:r>
          </a:p>
        </p:txBody>
      </p:sp>
      <p:sp>
        <p:nvSpPr>
          <p:cNvPr id="33" name="Body Level One…"/>
          <p:cNvSpPr txBox="1">
            <a:spLocks noGrp="1"/>
          </p:cNvSpPr>
          <p:nvPr>
            <p:ph type="body" sz="quarter" idx="1"/>
          </p:nvPr>
        </p:nvSpPr>
        <p:spPr>
          <a:xfrm>
            <a:off x="457201" y="4777380"/>
            <a:ext cx="7772401" cy="860401"/>
          </a:xfrm>
          <a:prstGeom prst="rect">
            <a:avLst/>
          </a:prstGeom>
        </p:spPr>
        <p:txBody>
          <a:bodyPr anchor="t"/>
          <a:lstStyle>
            <a:lvl1pPr marL="0" indent="0">
              <a:buClrTx/>
              <a:buSzTx/>
              <a:buFontTx/>
              <a:buNone/>
              <a:defRPr cap="all"/>
            </a:lvl1pPr>
            <a:lvl2pPr marL="0" indent="457200">
              <a:buClrTx/>
              <a:buSzTx/>
              <a:buFontTx/>
              <a:buNone/>
              <a:defRPr cap="all"/>
            </a:lvl2pPr>
            <a:lvl3pPr marL="0" indent="914400">
              <a:buClrTx/>
              <a:buSzTx/>
              <a:buFontTx/>
              <a:buNone/>
              <a:defRPr cap="all"/>
            </a:lvl3pPr>
            <a:lvl4pPr marL="0" indent="1371600">
              <a:buClrTx/>
              <a:buSzTx/>
              <a:buFontTx/>
              <a:buNone/>
              <a:defRPr cap="all"/>
            </a:lvl4pPr>
            <a:lvl5pPr marL="0" indent="1828800">
              <a:buClrTx/>
              <a:buSzTx/>
              <a:buFontTx/>
              <a:buNone/>
              <a:defRPr cap="all"/>
            </a:lvl5pPr>
          </a:lstStyle>
          <a:p>
            <a:r>
              <a:t>Body Level One</a:t>
            </a:r>
          </a:p>
          <a:p>
            <a:pPr lvl="1"/>
            <a:r>
              <a:t>Body Level Two</a:t>
            </a:r>
          </a:p>
          <a:p>
            <a:pPr lvl="2"/>
            <a:r>
              <a:t>Body Level Three</a:t>
            </a:r>
          </a:p>
          <a:p>
            <a:pPr lvl="3"/>
            <a:r>
              <a:t>Body Level Four</a:t>
            </a:r>
          </a:p>
          <a:p>
            <a:pPr lvl="4"/>
            <a:r>
              <a:t>Body Level Five</a:t>
            </a:r>
          </a:p>
        </p:txBody>
      </p:sp>
      <p:sp>
        <p:nvSpPr>
          <p:cNvPr id="3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Two Content">
    <p:spTree>
      <p:nvGrpSpPr>
        <p:cNvPr id="1" name=""/>
        <p:cNvGrpSpPr/>
        <p:nvPr/>
      </p:nvGrpSpPr>
      <p:grpSpPr>
        <a:xfrm>
          <a:off x="0" y="0"/>
          <a:ext cx="0" cy="0"/>
          <a:chOff x="0" y="0"/>
          <a:chExt cx="0" cy="0"/>
        </a:xfrm>
      </p:grpSpPr>
      <p:sp>
        <p:nvSpPr>
          <p:cNvPr id="41" name="Title Text"/>
          <p:cNvSpPr txBox="1">
            <a:spLocks noGrp="1"/>
          </p:cNvSpPr>
          <p:nvPr>
            <p:ph type="title"/>
          </p:nvPr>
        </p:nvSpPr>
        <p:spPr>
          <a:xfrm>
            <a:off x="457200" y="609601"/>
            <a:ext cx="7772400" cy="1456268"/>
          </a:xfrm>
          <a:prstGeom prst="rect">
            <a:avLst/>
          </a:prstGeom>
        </p:spPr>
        <p:txBody>
          <a:bodyPr/>
          <a:lstStyle/>
          <a:p>
            <a:r>
              <a:t>Title Text</a:t>
            </a:r>
          </a:p>
        </p:txBody>
      </p:sp>
      <p:sp>
        <p:nvSpPr>
          <p:cNvPr id="42" name="Body Level One…"/>
          <p:cNvSpPr txBox="1">
            <a:spLocks noGrp="1"/>
          </p:cNvSpPr>
          <p:nvPr>
            <p:ph type="body" sz="half" idx="1"/>
          </p:nvPr>
        </p:nvSpPr>
        <p:spPr>
          <a:xfrm>
            <a:off x="457201" y="2142068"/>
            <a:ext cx="3813048" cy="3649134"/>
          </a:xfrm>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4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x">
  <p:cSld name="Comparison">
    <p:spTree>
      <p:nvGrpSpPr>
        <p:cNvPr id="1" name=""/>
        <p:cNvGrpSpPr/>
        <p:nvPr/>
      </p:nvGrpSpPr>
      <p:grpSpPr>
        <a:xfrm>
          <a:off x="0" y="0"/>
          <a:ext cx="0" cy="0"/>
          <a:chOff x="0" y="0"/>
          <a:chExt cx="0" cy="0"/>
        </a:xfrm>
      </p:grpSpPr>
      <p:pic>
        <p:nvPicPr>
          <p:cNvPr id="50" name="Picture 12" descr="Picture 12"/>
          <p:cNvPicPr>
            <a:picLocks noChangeAspect="1"/>
          </p:cNvPicPr>
          <p:nvPr/>
        </p:nvPicPr>
        <p:blipFill>
          <a:blip r:embed="rId2"/>
          <a:stretch>
            <a:fillRect/>
          </a:stretch>
        </p:blipFill>
        <p:spPr>
          <a:xfrm>
            <a:off x="13956" y="0"/>
            <a:ext cx="9118601" cy="6858000"/>
          </a:xfrm>
          <a:prstGeom prst="rect">
            <a:avLst/>
          </a:prstGeom>
          <a:ln w="12700">
            <a:miter lim="400000"/>
          </a:ln>
        </p:spPr>
      </p:pic>
      <p:sp>
        <p:nvSpPr>
          <p:cNvPr id="51" name="Title Text"/>
          <p:cNvSpPr txBox="1">
            <a:spLocks noGrp="1"/>
          </p:cNvSpPr>
          <p:nvPr>
            <p:ph type="title"/>
          </p:nvPr>
        </p:nvSpPr>
        <p:spPr>
          <a:xfrm>
            <a:off x="457200" y="609601"/>
            <a:ext cx="7772400" cy="1456268"/>
          </a:xfrm>
          <a:prstGeom prst="rect">
            <a:avLst/>
          </a:prstGeom>
        </p:spPr>
        <p:txBody>
          <a:bodyPr/>
          <a:lstStyle/>
          <a:p>
            <a:r>
              <a:t>Title Text</a:t>
            </a:r>
          </a:p>
        </p:txBody>
      </p:sp>
      <p:sp>
        <p:nvSpPr>
          <p:cNvPr id="52" name="Body Level One…"/>
          <p:cNvSpPr txBox="1">
            <a:spLocks noGrp="1"/>
          </p:cNvSpPr>
          <p:nvPr>
            <p:ph type="body" sz="quarter" idx="1"/>
          </p:nvPr>
        </p:nvSpPr>
        <p:spPr>
          <a:xfrm>
            <a:off x="743480" y="2218266"/>
            <a:ext cx="3540603" cy="576263"/>
          </a:xfrm>
          <a:prstGeom prst="rect">
            <a:avLst/>
          </a:prstGeom>
        </p:spPr>
        <p:txBody>
          <a:bodyPr anchor="b"/>
          <a:lstStyle>
            <a:lvl1pPr marL="0" indent="0">
              <a:buClrTx/>
              <a:buSzTx/>
              <a:buFontTx/>
              <a:buNone/>
              <a:defRPr sz="2400"/>
            </a:lvl1pPr>
            <a:lvl2pPr marL="0" indent="457200">
              <a:buClrTx/>
              <a:buSzTx/>
              <a:buFontTx/>
              <a:buNone/>
              <a:defRPr sz="2400"/>
            </a:lvl2pPr>
            <a:lvl3pPr marL="0" indent="914400">
              <a:buClrTx/>
              <a:buSzTx/>
              <a:buFontTx/>
              <a:buNone/>
              <a:defRPr sz="2400"/>
            </a:lvl3pPr>
            <a:lvl4pPr marL="0" indent="1371600">
              <a:buClrTx/>
              <a:buSzTx/>
              <a:buFontTx/>
              <a:buNone/>
              <a:defRPr sz="2400"/>
            </a:lvl4pPr>
            <a:lvl5pPr marL="0" indent="1828800">
              <a:buClrTx/>
              <a:buSzTx/>
              <a:buFontTx/>
              <a:buNone/>
              <a:defRPr sz="2400"/>
            </a:lvl5pPr>
          </a:lstStyle>
          <a:p>
            <a:r>
              <a:t>Body Level One</a:t>
            </a:r>
          </a:p>
          <a:p>
            <a:pPr lvl="1"/>
            <a:r>
              <a:t>Body Level Two</a:t>
            </a:r>
          </a:p>
          <a:p>
            <a:pPr lvl="2"/>
            <a:r>
              <a:t>Body Level Three</a:t>
            </a:r>
          </a:p>
          <a:p>
            <a:pPr lvl="3"/>
            <a:r>
              <a:t>Body Level Four</a:t>
            </a:r>
          </a:p>
          <a:p>
            <a:pPr lvl="4"/>
            <a:r>
              <a:t>Body Level Five</a:t>
            </a:r>
          </a:p>
        </p:txBody>
      </p:sp>
      <p:sp>
        <p:nvSpPr>
          <p:cNvPr id="53" name="Text Placeholder 4"/>
          <p:cNvSpPr>
            <a:spLocks noGrp="1"/>
          </p:cNvSpPr>
          <p:nvPr>
            <p:ph type="body" sz="quarter" idx="21"/>
          </p:nvPr>
        </p:nvSpPr>
        <p:spPr>
          <a:xfrm>
            <a:off x="4711120" y="2218266"/>
            <a:ext cx="3518480" cy="576263"/>
          </a:xfrm>
          <a:prstGeom prst="rect">
            <a:avLst/>
          </a:prstGeom>
        </p:spPr>
        <p:txBody>
          <a:bodyPr anchor="b"/>
          <a:lstStyle/>
          <a:p>
            <a:pPr marL="0" indent="0">
              <a:buClrTx/>
              <a:buSzTx/>
              <a:buFontTx/>
              <a:buNone/>
              <a:defRPr sz="2400"/>
            </a:pPr>
            <a:endParaRPr/>
          </a:p>
        </p:txBody>
      </p:sp>
      <p:sp>
        <p:nvSpPr>
          <p:cNvPr id="5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Title Only">
    <p:spTree>
      <p:nvGrpSpPr>
        <p:cNvPr id="1" name=""/>
        <p:cNvGrpSpPr/>
        <p:nvPr/>
      </p:nvGrpSpPr>
      <p:grpSpPr>
        <a:xfrm>
          <a:off x="0" y="0"/>
          <a:ext cx="0" cy="0"/>
          <a:chOff x="0" y="0"/>
          <a:chExt cx="0" cy="0"/>
        </a:xfrm>
      </p:grpSpPr>
      <p:sp>
        <p:nvSpPr>
          <p:cNvPr id="61" name="Title Text"/>
          <p:cNvSpPr txBox="1">
            <a:spLocks noGrp="1"/>
          </p:cNvSpPr>
          <p:nvPr>
            <p:ph type="title"/>
          </p:nvPr>
        </p:nvSpPr>
        <p:spPr>
          <a:prstGeom prst="rect">
            <a:avLst/>
          </a:prstGeom>
        </p:spPr>
        <p:txBody>
          <a:bodyPr/>
          <a:lstStyle/>
          <a:p>
            <a:r>
              <a:t>Title Text</a:t>
            </a:r>
          </a:p>
        </p:txBody>
      </p:sp>
      <p:sp>
        <p:nvSpPr>
          <p:cNvPr id="62"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tx">
  <p:cSld name="Blank">
    <p:spTree>
      <p:nvGrpSpPr>
        <p:cNvPr id="1" name=""/>
        <p:cNvGrpSpPr/>
        <p:nvPr/>
      </p:nvGrpSpPr>
      <p:grpSpPr>
        <a:xfrm>
          <a:off x="0" y="0"/>
          <a:ext cx="0" cy="0"/>
          <a:chOff x="0" y="0"/>
          <a:chExt cx="0" cy="0"/>
        </a:xfrm>
      </p:grpSpPr>
      <p:pic>
        <p:nvPicPr>
          <p:cNvPr id="69" name="Picture 4" descr="Picture 4"/>
          <p:cNvPicPr>
            <a:picLocks noChangeAspect="1"/>
          </p:cNvPicPr>
          <p:nvPr/>
        </p:nvPicPr>
        <p:blipFill>
          <a:blip r:embed="rId2"/>
          <a:stretch>
            <a:fillRect/>
          </a:stretch>
        </p:blipFill>
        <p:spPr>
          <a:xfrm>
            <a:off x="13956" y="0"/>
            <a:ext cx="9118601" cy="6858000"/>
          </a:xfrm>
          <a:prstGeom prst="rect">
            <a:avLst/>
          </a:prstGeom>
          <a:ln w="12700">
            <a:miter lim="400000"/>
          </a:ln>
        </p:spPr>
      </p:pic>
      <p:sp>
        <p:nvSpPr>
          <p:cNvPr id="7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tx">
  <p:cSld name="Content with Caption">
    <p:spTree>
      <p:nvGrpSpPr>
        <p:cNvPr id="1" name=""/>
        <p:cNvGrpSpPr/>
        <p:nvPr/>
      </p:nvGrpSpPr>
      <p:grpSpPr>
        <a:xfrm>
          <a:off x="0" y="0"/>
          <a:ext cx="0" cy="0"/>
          <a:chOff x="0" y="0"/>
          <a:chExt cx="0" cy="0"/>
        </a:xfrm>
      </p:grpSpPr>
      <p:pic>
        <p:nvPicPr>
          <p:cNvPr id="77" name="Picture 11" descr="Picture 11"/>
          <p:cNvPicPr>
            <a:picLocks noChangeAspect="1"/>
          </p:cNvPicPr>
          <p:nvPr/>
        </p:nvPicPr>
        <p:blipFill>
          <a:blip r:embed="rId2"/>
          <a:stretch>
            <a:fillRect/>
          </a:stretch>
        </p:blipFill>
        <p:spPr>
          <a:xfrm>
            <a:off x="13956" y="0"/>
            <a:ext cx="9118601" cy="6858000"/>
          </a:xfrm>
          <a:prstGeom prst="rect">
            <a:avLst/>
          </a:prstGeom>
          <a:ln w="12700">
            <a:miter lim="400000"/>
          </a:ln>
        </p:spPr>
      </p:pic>
      <p:sp>
        <p:nvSpPr>
          <p:cNvPr id="78" name="Title Text"/>
          <p:cNvSpPr txBox="1">
            <a:spLocks noGrp="1"/>
          </p:cNvSpPr>
          <p:nvPr>
            <p:ph type="title"/>
          </p:nvPr>
        </p:nvSpPr>
        <p:spPr>
          <a:xfrm>
            <a:off x="461717" y="1557867"/>
            <a:ext cx="2862911" cy="1439333"/>
          </a:xfrm>
          <a:prstGeom prst="rect">
            <a:avLst/>
          </a:prstGeom>
        </p:spPr>
        <p:txBody>
          <a:bodyPr anchor="b"/>
          <a:lstStyle>
            <a:lvl1pPr>
              <a:defRPr sz="2400"/>
            </a:lvl1pPr>
          </a:lstStyle>
          <a:p>
            <a:r>
              <a:t>Title Text</a:t>
            </a:r>
          </a:p>
        </p:txBody>
      </p:sp>
      <p:sp>
        <p:nvSpPr>
          <p:cNvPr id="79" name="Body Level One…"/>
          <p:cNvSpPr txBox="1">
            <a:spLocks noGrp="1"/>
          </p:cNvSpPr>
          <p:nvPr>
            <p:ph type="body" sz="half" idx="1"/>
          </p:nvPr>
        </p:nvSpPr>
        <p:spPr>
          <a:xfrm>
            <a:off x="3606143" y="609601"/>
            <a:ext cx="4627976" cy="5181601"/>
          </a:xfrm>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80" name="Text Placeholder 3"/>
          <p:cNvSpPr>
            <a:spLocks noGrp="1"/>
          </p:cNvSpPr>
          <p:nvPr>
            <p:ph type="body" sz="quarter" idx="21"/>
          </p:nvPr>
        </p:nvSpPr>
        <p:spPr>
          <a:xfrm>
            <a:off x="461717" y="2997200"/>
            <a:ext cx="2862912" cy="1845736"/>
          </a:xfrm>
          <a:prstGeom prst="rect">
            <a:avLst/>
          </a:prstGeom>
        </p:spPr>
        <p:txBody>
          <a:bodyPr anchor="t"/>
          <a:lstStyle/>
          <a:p>
            <a:pPr marL="0" indent="0">
              <a:buClrTx/>
              <a:buSzTx/>
              <a:buFontTx/>
              <a:buNone/>
              <a:defRPr sz="1400"/>
            </a:pPr>
            <a:endParaRPr/>
          </a:p>
        </p:txBody>
      </p:sp>
      <p:sp>
        <p:nvSpPr>
          <p:cNvPr id="8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tx">
  <p:cSld name="Picture with Caption">
    <p:spTree>
      <p:nvGrpSpPr>
        <p:cNvPr id="1" name=""/>
        <p:cNvGrpSpPr/>
        <p:nvPr/>
      </p:nvGrpSpPr>
      <p:grpSpPr>
        <a:xfrm>
          <a:off x="0" y="0"/>
          <a:ext cx="0" cy="0"/>
          <a:chOff x="0" y="0"/>
          <a:chExt cx="0" cy="0"/>
        </a:xfrm>
      </p:grpSpPr>
      <p:pic>
        <p:nvPicPr>
          <p:cNvPr id="88" name="Picture 10" descr="Picture 10"/>
          <p:cNvPicPr>
            <a:picLocks noChangeAspect="1"/>
          </p:cNvPicPr>
          <p:nvPr/>
        </p:nvPicPr>
        <p:blipFill>
          <a:blip r:embed="rId2"/>
          <a:stretch>
            <a:fillRect/>
          </a:stretch>
        </p:blipFill>
        <p:spPr>
          <a:xfrm>
            <a:off x="13956" y="0"/>
            <a:ext cx="9118601" cy="6858000"/>
          </a:xfrm>
          <a:prstGeom prst="rect">
            <a:avLst/>
          </a:prstGeom>
          <a:ln w="12700">
            <a:miter lim="400000"/>
          </a:ln>
        </p:spPr>
      </p:pic>
      <p:sp>
        <p:nvSpPr>
          <p:cNvPr id="89" name="Title Text"/>
          <p:cNvSpPr txBox="1">
            <a:spLocks noGrp="1"/>
          </p:cNvSpPr>
          <p:nvPr>
            <p:ph type="title"/>
          </p:nvPr>
        </p:nvSpPr>
        <p:spPr>
          <a:xfrm>
            <a:off x="462127" y="1735671"/>
            <a:ext cx="4097206" cy="1371601"/>
          </a:xfrm>
          <a:prstGeom prst="rect">
            <a:avLst/>
          </a:prstGeom>
        </p:spPr>
        <p:txBody>
          <a:bodyPr anchor="b"/>
          <a:lstStyle>
            <a:lvl1pPr>
              <a:defRPr sz="2400"/>
            </a:lvl1pPr>
          </a:lstStyle>
          <a:p>
            <a:r>
              <a:t>Title Text</a:t>
            </a:r>
          </a:p>
        </p:txBody>
      </p:sp>
      <p:sp>
        <p:nvSpPr>
          <p:cNvPr id="90" name="Picture Placeholder 2"/>
          <p:cNvSpPr>
            <a:spLocks noGrp="1"/>
          </p:cNvSpPr>
          <p:nvPr>
            <p:ph type="pic" sz="half" idx="21"/>
          </p:nvPr>
        </p:nvSpPr>
        <p:spPr>
          <a:xfrm>
            <a:off x="5029200" y="914400"/>
            <a:ext cx="3200400" cy="4572000"/>
          </a:xfrm>
          <a:prstGeom prst="rect">
            <a:avLst/>
          </a:prstGeom>
          <a:ln w="50800" cap="sq">
            <a:solidFill>
              <a:srgbClr val="FFFFFF">
                <a:alpha val="50000"/>
              </a:srgbClr>
            </a:solidFill>
            <a:miter lim="800000"/>
          </a:ln>
          <a:effectLst>
            <a:outerShdw blurRad="254000" rotWithShape="0">
              <a:srgbClr val="000000">
                <a:alpha val="43000"/>
              </a:srgbClr>
            </a:outerShdw>
          </a:effectLst>
        </p:spPr>
        <p:txBody>
          <a:bodyPr lIns="91439" rIns="91439" anchor="t">
            <a:noAutofit/>
          </a:bodyPr>
          <a:lstStyle/>
          <a:p>
            <a:endParaRPr/>
          </a:p>
        </p:txBody>
      </p:sp>
      <p:sp>
        <p:nvSpPr>
          <p:cNvPr id="91" name="Body Level One…"/>
          <p:cNvSpPr txBox="1">
            <a:spLocks noGrp="1"/>
          </p:cNvSpPr>
          <p:nvPr>
            <p:ph type="body" sz="quarter" idx="1"/>
          </p:nvPr>
        </p:nvSpPr>
        <p:spPr>
          <a:xfrm>
            <a:off x="462127" y="3107271"/>
            <a:ext cx="4097206" cy="1828801"/>
          </a:xfrm>
          <a:prstGeom prst="rect">
            <a:avLst/>
          </a:prstGeom>
        </p:spPr>
        <p:txBody>
          <a:bodyPr anchor="t"/>
          <a:lstStyle>
            <a:lvl1pPr marL="0" indent="0">
              <a:buClrTx/>
              <a:buSzTx/>
              <a:buFontTx/>
              <a:buNone/>
              <a:defRPr sz="1600"/>
            </a:lvl1pPr>
            <a:lvl2pPr marL="0" indent="457200">
              <a:buClrTx/>
              <a:buSzTx/>
              <a:buFontTx/>
              <a:buNone/>
              <a:defRPr sz="1600"/>
            </a:lvl2pPr>
            <a:lvl3pPr marL="0" indent="914400">
              <a:buClrTx/>
              <a:buSzTx/>
              <a:buFontTx/>
              <a:buNone/>
              <a:defRPr sz="1600"/>
            </a:lvl3pPr>
            <a:lvl4pPr marL="0" indent="1371600">
              <a:buClrTx/>
              <a:buSzTx/>
              <a:buFontTx/>
              <a:buNone/>
              <a:defRPr sz="1600"/>
            </a:lvl4pPr>
            <a:lvl5pPr marL="0" indent="1828800">
              <a:buClrTx/>
              <a:buSzTx/>
              <a:buFontTx/>
              <a:buNone/>
              <a:defRPr sz="1600"/>
            </a:lvl5pPr>
          </a:lstStyle>
          <a:p>
            <a:r>
              <a:t>Body Level One</a:t>
            </a:r>
          </a:p>
          <a:p>
            <a:pPr lvl="1"/>
            <a:r>
              <a:t>Body Level Two</a:t>
            </a:r>
          </a:p>
          <a:p>
            <a:pPr lvl="2"/>
            <a:r>
              <a:t>Body Level Three</a:t>
            </a:r>
          </a:p>
          <a:p>
            <a:pPr lvl="3"/>
            <a:r>
              <a:t>Body Level Four</a:t>
            </a:r>
          </a:p>
          <a:p>
            <a:pPr lvl="4"/>
            <a:r>
              <a:t>Body Level Five</a:t>
            </a:r>
          </a:p>
        </p:txBody>
      </p:sp>
      <p:sp>
        <p:nvSpPr>
          <p:cNvPr id="92"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tx">
  <p:cSld name="Panoramic Picture with Caption">
    <p:spTree>
      <p:nvGrpSpPr>
        <p:cNvPr id="1" name=""/>
        <p:cNvGrpSpPr/>
        <p:nvPr/>
      </p:nvGrpSpPr>
      <p:grpSpPr>
        <a:xfrm>
          <a:off x="0" y="0"/>
          <a:ext cx="0" cy="0"/>
          <a:chOff x="0" y="0"/>
          <a:chExt cx="0" cy="0"/>
        </a:xfrm>
      </p:grpSpPr>
      <p:pic>
        <p:nvPicPr>
          <p:cNvPr id="99" name="Picture 9" descr="Picture 9"/>
          <p:cNvPicPr>
            <a:picLocks noChangeAspect="1"/>
          </p:cNvPicPr>
          <p:nvPr/>
        </p:nvPicPr>
        <p:blipFill>
          <a:blip r:embed="rId2"/>
          <a:stretch>
            <a:fillRect/>
          </a:stretch>
        </p:blipFill>
        <p:spPr>
          <a:xfrm>
            <a:off x="13956" y="0"/>
            <a:ext cx="9118601" cy="6858000"/>
          </a:xfrm>
          <a:prstGeom prst="rect">
            <a:avLst/>
          </a:prstGeom>
          <a:ln w="12700">
            <a:miter lim="400000"/>
          </a:ln>
        </p:spPr>
      </p:pic>
      <p:sp>
        <p:nvSpPr>
          <p:cNvPr id="100" name="Title Text"/>
          <p:cNvSpPr txBox="1">
            <a:spLocks noGrp="1"/>
          </p:cNvSpPr>
          <p:nvPr>
            <p:ph type="title"/>
          </p:nvPr>
        </p:nvSpPr>
        <p:spPr>
          <a:xfrm>
            <a:off x="457201" y="4732864"/>
            <a:ext cx="7772401" cy="566739"/>
          </a:xfrm>
          <a:prstGeom prst="rect">
            <a:avLst/>
          </a:prstGeom>
        </p:spPr>
        <p:txBody>
          <a:bodyPr anchor="b"/>
          <a:lstStyle>
            <a:lvl1pPr>
              <a:defRPr sz="2000"/>
            </a:lvl1pPr>
          </a:lstStyle>
          <a:p>
            <a:r>
              <a:t>Title Text</a:t>
            </a:r>
          </a:p>
        </p:txBody>
      </p:sp>
      <p:sp>
        <p:nvSpPr>
          <p:cNvPr id="101" name="Picture Placeholder 2"/>
          <p:cNvSpPr>
            <a:spLocks noGrp="1"/>
          </p:cNvSpPr>
          <p:nvPr>
            <p:ph type="pic" sz="half" idx="21"/>
          </p:nvPr>
        </p:nvSpPr>
        <p:spPr>
          <a:xfrm>
            <a:off x="914400" y="932112"/>
            <a:ext cx="6858001" cy="3164976"/>
          </a:xfrm>
          <a:prstGeom prst="rect">
            <a:avLst/>
          </a:prstGeom>
          <a:ln w="50800" cap="sq">
            <a:solidFill>
              <a:srgbClr val="FFFFFF">
                <a:alpha val="50000"/>
              </a:srgbClr>
            </a:solidFill>
            <a:miter lim="800000"/>
          </a:ln>
          <a:effectLst>
            <a:outerShdw blurRad="254000" rotWithShape="0">
              <a:srgbClr val="000000">
                <a:alpha val="43000"/>
              </a:srgbClr>
            </a:outerShdw>
          </a:effectLst>
        </p:spPr>
        <p:txBody>
          <a:bodyPr lIns="91439" rIns="91439" anchor="t">
            <a:noAutofit/>
          </a:bodyPr>
          <a:lstStyle/>
          <a:p>
            <a:endParaRPr/>
          </a:p>
        </p:txBody>
      </p:sp>
      <p:sp>
        <p:nvSpPr>
          <p:cNvPr id="102" name="Body Level One…"/>
          <p:cNvSpPr txBox="1">
            <a:spLocks noGrp="1"/>
          </p:cNvSpPr>
          <p:nvPr>
            <p:ph type="body" sz="quarter" idx="1"/>
          </p:nvPr>
        </p:nvSpPr>
        <p:spPr>
          <a:xfrm>
            <a:off x="457201" y="5299602"/>
            <a:ext cx="7772401" cy="493713"/>
          </a:xfrm>
          <a:prstGeom prst="rect">
            <a:avLst/>
          </a:prstGeom>
        </p:spPr>
        <p:txBody>
          <a:bodyPr/>
          <a:lstStyle>
            <a:lvl1pPr marL="0" indent="0">
              <a:buClrTx/>
              <a:buSzTx/>
              <a:buFontTx/>
              <a:buNone/>
              <a:defRPr sz="1400"/>
            </a:lvl1pPr>
            <a:lvl2pPr marL="0" indent="457200">
              <a:buClrTx/>
              <a:buSzTx/>
              <a:buFontTx/>
              <a:buNone/>
              <a:defRPr sz="1400"/>
            </a:lvl2pPr>
            <a:lvl3pPr marL="0" indent="914400">
              <a:buClrTx/>
              <a:buSzTx/>
              <a:buFontTx/>
              <a:buNone/>
              <a:defRPr sz="1400"/>
            </a:lvl3pPr>
            <a:lvl4pPr marL="0" indent="1371600">
              <a:buClrTx/>
              <a:buSzTx/>
              <a:buFontTx/>
              <a:buNone/>
              <a:defRPr sz="1400"/>
            </a:lvl4pPr>
            <a:lvl5pPr marL="0" indent="1828800">
              <a:buClrTx/>
              <a:buSzTx/>
              <a:buFontTx/>
              <a:buNone/>
              <a:defRPr sz="1400"/>
            </a:lvl5pPr>
          </a:lstStyle>
          <a:p>
            <a:r>
              <a:t>Body Level One</a:t>
            </a:r>
          </a:p>
          <a:p>
            <a:pPr lvl="1"/>
            <a:r>
              <a:t>Body Level Two</a:t>
            </a:r>
          </a:p>
          <a:p>
            <a:pPr lvl="2"/>
            <a:r>
              <a:t>Body Level Three</a:t>
            </a:r>
          </a:p>
          <a:p>
            <a:pPr lvl="3"/>
            <a:r>
              <a:t>Body Level Four</a:t>
            </a:r>
          </a:p>
          <a:p>
            <a:pPr lvl="4"/>
            <a:r>
              <a:t>Body Level Five</a:t>
            </a:r>
          </a:p>
        </p:txBody>
      </p:sp>
      <p:sp>
        <p:nvSpPr>
          <p:cNvPr id="10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tx">
  <p:cSld name="Title and Caption">
    <p:spTree>
      <p:nvGrpSpPr>
        <p:cNvPr id="1" name=""/>
        <p:cNvGrpSpPr/>
        <p:nvPr/>
      </p:nvGrpSpPr>
      <p:grpSpPr>
        <a:xfrm>
          <a:off x="0" y="0"/>
          <a:ext cx="0" cy="0"/>
          <a:chOff x="0" y="0"/>
          <a:chExt cx="0" cy="0"/>
        </a:xfrm>
      </p:grpSpPr>
      <p:pic>
        <p:nvPicPr>
          <p:cNvPr id="110" name="Picture 6" descr="Picture 6"/>
          <p:cNvPicPr>
            <a:picLocks noChangeAspect="1"/>
          </p:cNvPicPr>
          <p:nvPr/>
        </p:nvPicPr>
        <p:blipFill>
          <a:blip r:embed="rId2"/>
          <a:stretch>
            <a:fillRect/>
          </a:stretch>
        </p:blipFill>
        <p:spPr>
          <a:xfrm>
            <a:off x="13956" y="0"/>
            <a:ext cx="9118601" cy="6858000"/>
          </a:xfrm>
          <a:prstGeom prst="rect">
            <a:avLst/>
          </a:prstGeom>
          <a:ln w="12700">
            <a:miter lim="400000"/>
          </a:ln>
        </p:spPr>
      </p:pic>
      <p:sp>
        <p:nvSpPr>
          <p:cNvPr id="111" name="Title Text"/>
          <p:cNvSpPr txBox="1">
            <a:spLocks noGrp="1"/>
          </p:cNvSpPr>
          <p:nvPr>
            <p:ph type="title"/>
          </p:nvPr>
        </p:nvSpPr>
        <p:spPr>
          <a:xfrm>
            <a:off x="457203" y="609601"/>
            <a:ext cx="7772400" cy="3124201"/>
          </a:xfrm>
          <a:prstGeom prst="rect">
            <a:avLst/>
          </a:prstGeom>
        </p:spPr>
        <p:txBody>
          <a:bodyPr/>
          <a:lstStyle>
            <a:lvl1pPr>
              <a:defRPr cap="none"/>
            </a:lvl1pPr>
          </a:lstStyle>
          <a:p>
            <a:r>
              <a:t>Title Text</a:t>
            </a:r>
          </a:p>
        </p:txBody>
      </p:sp>
      <p:sp>
        <p:nvSpPr>
          <p:cNvPr id="112" name="Body Level One…"/>
          <p:cNvSpPr txBox="1">
            <a:spLocks noGrp="1"/>
          </p:cNvSpPr>
          <p:nvPr>
            <p:ph type="body" sz="quarter" idx="1"/>
          </p:nvPr>
        </p:nvSpPr>
        <p:spPr>
          <a:xfrm>
            <a:off x="457201" y="4343400"/>
            <a:ext cx="7772401" cy="1447800"/>
          </a:xfrm>
          <a:prstGeom prst="rect">
            <a:avLst/>
          </a:prstGeom>
        </p:spPr>
        <p:txBody>
          <a:bodyPr/>
          <a:lstStyle>
            <a:lvl1pPr marL="0" indent="0">
              <a:buClrTx/>
              <a:buSzTx/>
              <a:buFontTx/>
              <a:buNone/>
              <a:defRPr sz="2000"/>
            </a:lvl1pPr>
            <a:lvl2pPr marL="0" indent="457200">
              <a:buClrTx/>
              <a:buSzTx/>
              <a:buFontTx/>
              <a:buNone/>
              <a:defRPr sz="2000"/>
            </a:lvl2pPr>
            <a:lvl3pPr marL="0" indent="914400">
              <a:buClrTx/>
              <a:buSzTx/>
              <a:buFontTx/>
              <a:buNone/>
              <a:defRPr sz="2000"/>
            </a:lvl3pPr>
            <a:lvl4pPr marL="0" indent="1371600">
              <a:buClrTx/>
              <a:buSzTx/>
              <a:buFontTx/>
              <a:buNone/>
              <a:defRPr sz="2000"/>
            </a:lvl4pPr>
            <a:lvl5pPr marL="0" indent="1828800">
              <a:buClrTx/>
              <a:buSzTx/>
              <a:buFontTx/>
              <a:buNone/>
              <a:defRPr sz="2000"/>
            </a:lvl5pPr>
          </a:lstStyle>
          <a:p>
            <a:r>
              <a:t>Body Level One</a:t>
            </a:r>
          </a:p>
          <a:p>
            <a:pPr lvl="1"/>
            <a:r>
              <a:t>Body Level Two</a:t>
            </a:r>
          </a:p>
          <a:p>
            <a:pPr lvl="2"/>
            <a:r>
              <a:t>Body Level Three</a:t>
            </a:r>
          </a:p>
          <a:p>
            <a:pPr lvl="3"/>
            <a:r>
              <a:t>Body Level Four</a:t>
            </a:r>
          </a:p>
          <a:p>
            <a:pPr lvl="4"/>
            <a:r>
              <a:t>Body Level Five</a:t>
            </a:r>
          </a:p>
        </p:txBody>
      </p:sp>
      <p:sp>
        <p:nvSpPr>
          <p:cNvPr id="11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x">
  <p:cSld name="Quote with Caption">
    <p:spTree>
      <p:nvGrpSpPr>
        <p:cNvPr id="1" name=""/>
        <p:cNvGrpSpPr/>
        <p:nvPr/>
      </p:nvGrpSpPr>
      <p:grpSpPr>
        <a:xfrm>
          <a:off x="0" y="0"/>
          <a:ext cx="0" cy="0"/>
          <a:chOff x="0" y="0"/>
          <a:chExt cx="0" cy="0"/>
        </a:xfrm>
      </p:grpSpPr>
      <p:pic>
        <p:nvPicPr>
          <p:cNvPr id="120" name="Picture 16" descr="Picture 16"/>
          <p:cNvPicPr>
            <a:picLocks noChangeAspect="1"/>
          </p:cNvPicPr>
          <p:nvPr/>
        </p:nvPicPr>
        <p:blipFill>
          <a:blip r:embed="rId2"/>
          <a:stretch>
            <a:fillRect/>
          </a:stretch>
        </p:blipFill>
        <p:spPr>
          <a:xfrm>
            <a:off x="13956" y="0"/>
            <a:ext cx="9118601" cy="6858000"/>
          </a:xfrm>
          <a:prstGeom prst="rect">
            <a:avLst/>
          </a:prstGeom>
          <a:ln w="12700">
            <a:miter lim="400000"/>
          </a:ln>
        </p:spPr>
      </p:pic>
      <p:sp>
        <p:nvSpPr>
          <p:cNvPr id="121" name="TextBox 13"/>
          <p:cNvSpPr txBox="1"/>
          <p:nvPr/>
        </p:nvSpPr>
        <p:spPr>
          <a:xfrm>
            <a:off x="7781519" y="2488156"/>
            <a:ext cx="365880" cy="111180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spAutoFit/>
          </a:bodyPr>
          <a:lstStyle>
            <a:lvl1pPr algn="r">
              <a:defRPr sz="8000" cap="all">
                <a:solidFill>
                  <a:srgbClr val="FFFFFF"/>
                </a:solidFill>
              </a:defRPr>
            </a:lvl1pPr>
          </a:lstStyle>
          <a:p>
            <a:r>
              <a:t>”</a:t>
            </a:r>
          </a:p>
        </p:txBody>
      </p:sp>
      <p:sp>
        <p:nvSpPr>
          <p:cNvPr id="122" name="TextBox 10"/>
          <p:cNvSpPr txBox="1"/>
          <p:nvPr/>
        </p:nvSpPr>
        <p:spPr>
          <a:xfrm>
            <a:off x="467516" y="454599"/>
            <a:ext cx="365880" cy="111180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spAutoFit/>
          </a:bodyPr>
          <a:lstStyle>
            <a:lvl1pPr>
              <a:defRPr sz="8000" cap="all">
                <a:solidFill>
                  <a:srgbClr val="FFFFFF"/>
                </a:solidFill>
              </a:defRPr>
            </a:lvl1pPr>
          </a:lstStyle>
          <a:p>
            <a:r>
              <a:t>“</a:t>
            </a:r>
          </a:p>
        </p:txBody>
      </p:sp>
      <p:sp>
        <p:nvSpPr>
          <p:cNvPr id="123" name="Title Text"/>
          <p:cNvSpPr txBox="1">
            <a:spLocks noGrp="1"/>
          </p:cNvSpPr>
          <p:nvPr>
            <p:ph type="title"/>
          </p:nvPr>
        </p:nvSpPr>
        <p:spPr>
          <a:xfrm>
            <a:off x="879115" y="609601"/>
            <a:ext cx="7091297" cy="2743201"/>
          </a:xfrm>
          <a:prstGeom prst="rect">
            <a:avLst/>
          </a:prstGeom>
        </p:spPr>
        <p:txBody>
          <a:bodyPr/>
          <a:lstStyle>
            <a:lvl1pPr>
              <a:defRPr cap="none"/>
            </a:lvl1pPr>
          </a:lstStyle>
          <a:p>
            <a:r>
              <a:t>Title Text</a:t>
            </a:r>
          </a:p>
        </p:txBody>
      </p:sp>
      <p:sp>
        <p:nvSpPr>
          <p:cNvPr id="124" name="Body Level One…"/>
          <p:cNvSpPr txBox="1">
            <a:spLocks noGrp="1"/>
          </p:cNvSpPr>
          <p:nvPr>
            <p:ph type="body" sz="quarter" idx="1"/>
          </p:nvPr>
        </p:nvSpPr>
        <p:spPr>
          <a:xfrm>
            <a:off x="988671" y="3352800"/>
            <a:ext cx="6876134" cy="381000"/>
          </a:xfrm>
          <a:prstGeom prst="rect">
            <a:avLst/>
          </a:prstGeom>
        </p:spPr>
        <p:txBody>
          <a:bodyPr/>
          <a:lstStyle>
            <a:lvl1pPr marL="0" indent="0">
              <a:buClrTx/>
              <a:buSzTx/>
              <a:buFontTx/>
              <a:buNone/>
              <a:defRPr sz="1600"/>
            </a:lvl1pPr>
            <a:lvl2pPr marL="0" indent="457200">
              <a:buClrTx/>
              <a:buSzTx/>
              <a:buFontTx/>
              <a:buNone/>
              <a:defRPr sz="1600"/>
            </a:lvl2pPr>
            <a:lvl3pPr marL="0" indent="914400">
              <a:buClrTx/>
              <a:buSzTx/>
              <a:buFontTx/>
              <a:buNone/>
              <a:defRPr sz="1600"/>
            </a:lvl3pPr>
            <a:lvl4pPr marL="0" indent="1371600">
              <a:buClrTx/>
              <a:buSzTx/>
              <a:buFontTx/>
              <a:buNone/>
              <a:defRPr sz="1600"/>
            </a:lvl4pPr>
            <a:lvl5pPr marL="0" indent="1828800">
              <a:buClrTx/>
              <a:buSzTx/>
              <a:buFontTx/>
              <a:buNone/>
              <a:defRPr sz="1600"/>
            </a:lvl5pPr>
          </a:lstStyle>
          <a:p>
            <a:r>
              <a:t>Body Level One</a:t>
            </a:r>
          </a:p>
          <a:p>
            <a:pPr lvl="1"/>
            <a:r>
              <a:t>Body Level Two</a:t>
            </a:r>
          </a:p>
          <a:p>
            <a:pPr lvl="2"/>
            <a:r>
              <a:t>Body Level Three</a:t>
            </a:r>
          </a:p>
          <a:p>
            <a:pPr lvl="3"/>
            <a:r>
              <a:t>Body Level Four</a:t>
            </a:r>
          </a:p>
          <a:p>
            <a:pPr lvl="4"/>
            <a:r>
              <a:t>Body Level Five</a:t>
            </a:r>
          </a:p>
        </p:txBody>
      </p:sp>
      <p:sp>
        <p:nvSpPr>
          <p:cNvPr id="125" name="Text Placeholder 2"/>
          <p:cNvSpPr>
            <a:spLocks noGrp="1"/>
          </p:cNvSpPr>
          <p:nvPr>
            <p:ph type="body" sz="quarter" idx="21"/>
          </p:nvPr>
        </p:nvSpPr>
        <p:spPr>
          <a:xfrm>
            <a:off x="462266" y="4343400"/>
            <a:ext cx="7772401" cy="1447800"/>
          </a:xfrm>
          <a:prstGeom prst="rect">
            <a:avLst/>
          </a:prstGeom>
        </p:spPr>
        <p:txBody>
          <a:bodyPr/>
          <a:lstStyle/>
          <a:p>
            <a:pPr marL="0" indent="0">
              <a:buClrTx/>
              <a:buSzTx/>
              <a:buFontTx/>
              <a:buNone/>
              <a:defRPr sz="2000"/>
            </a:pPr>
            <a:endParaRPr/>
          </a:p>
        </p:txBody>
      </p:sp>
      <p:sp>
        <p:nvSpPr>
          <p:cNvPr id="126"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x">
  <p:cSld name="Name Card">
    <p:spTree>
      <p:nvGrpSpPr>
        <p:cNvPr id="1" name=""/>
        <p:cNvGrpSpPr/>
        <p:nvPr/>
      </p:nvGrpSpPr>
      <p:grpSpPr>
        <a:xfrm>
          <a:off x="0" y="0"/>
          <a:ext cx="0" cy="0"/>
          <a:chOff x="0" y="0"/>
          <a:chExt cx="0" cy="0"/>
        </a:xfrm>
      </p:grpSpPr>
      <p:pic>
        <p:nvPicPr>
          <p:cNvPr id="133" name="Picture 6" descr="Picture 6"/>
          <p:cNvPicPr>
            <a:picLocks noChangeAspect="1"/>
          </p:cNvPicPr>
          <p:nvPr/>
        </p:nvPicPr>
        <p:blipFill>
          <a:blip r:embed="rId2"/>
          <a:stretch>
            <a:fillRect/>
          </a:stretch>
        </p:blipFill>
        <p:spPr>
          <a:xfrm>
            <a:off x="13956" y="0"/>
            <a:ext cx="9118601" cy="6858000"/>
          </a:xfrm>
          <a:prstGeom prst="rect">
            <a:avLst/>
          </a:prstGeom>
          <a:ln w="12700">
            <a:miter lim="400000"/>
          </a:ln>
        </p:spPr>
      </p:pic>
      <p:sp>
        <p:nvSpPr>
          <p:cNvPr id="134" name="Title Text"/>
          <p:cNvSpPr txBox="1">
            <a:spLocks noGrp="1"/>
          </p:cNvSpPr>
          <p:nvPr>
            <p:ph type="title"/>
          </p:nvPr>
        </p:nvSpPr>
        <p:spPr>
          <a:xfrm>
            <a:off x="457201" y="3291647"/>
            <a:ext cx="7772401" cy="1468801"/>
          </a:xfrm>
          <a:prstGeom prst="rect">
            <a:avLst/>
          </a:prstGeom>
        </p:spPr>
        <p:txBody>
          <a:bodyPr anchor="b"/>
          <a:lstStyle>
            <a:lvl1pPr>
              <a:defRPr sz="2800" cap="none"/>
            </a:lvl1pPr>
          </a:lstStyle>
          <a:p>
            <a:r>
              <a:t>Title Text</a:t>
            </a:r>
          </a:p>
        </p:txBody>
      </p:sp>
      <p:sp>
        <p:nvSpPr>
          <p:cNvPr id="135" name="Body Level One…"/>
          <p:cNvSpPr txBox="1">
            <a:spLocks noGrp="1"/>
          </p:cNvSpPr>
          <p:nvPr>
            <p:ph type="body" sz="quarter" idx="1"/>
          </p:nvPr>
        </p:nvSpPr>
        <p:spPr>
          <a:xfrm>
            <a:off x="457200" y="4760448"/>
            <a:ext cx="7772403" cy="860401"/>
          </a:xfrm>
          <a:prstGeom prst="rect">
            <a:avLst/>
          </a:prstGeom>
        </p:spPr>
        <p:txBody>
          <a:bodyPr anchor="t"/>
          <a:lstStyle>
            <a:lvl1pPr marL="0" indent="0">
              <a:buClrTx/>
              <a:buSzTx/>
              <a:buFontTx/>
              <a:buNone/>
            </a:lvl1pPr>
            <a:lvl2pPr marL="0" indent="457200">
              <a:buClrTx/>
              <a:buSzTx/>
              <a:buFontTx/>
              <a:buNone/>
            </a:lvl2pPr>
            <a:lvl3pPr marL="0" indent="914400">
              <a:buClrTx/>
              <a:buSzTx/>
              <a:buFontTx/>
              <a:buNone/>
            </a:lvl3pPr>
            <a:lvl4pPr marL="0" indent="1371600">
              <a:buClrTx/>
              <a:buSzTx/>
              <a:buFontTx/>
              <a:buNone/>
            </a:lvl4pPr>
            <a:lvl5pPr marL="0" indent="1828800">
              <a:buClrTx/>
              <a:buSzTx/>
              <a:buFontTx/>
              <a:buNone/>
            </a:lvl5pPr>
          </a:lstStyle>
          <a:p>
            <a:r>
              <a:t>Body Level One</a:t>
            </a:r>
          </a:p>
          <a:p>
            <a:pPr lvl="1"/>
            <a:r>
              <a:t>Body Level Two</a:t>
            </a:r>
          </a:p>
          <a:p>
            <a:pPr lvl="2"/>
            <a:r>
              <a:t>Body Level Three</a:t>
            </a:r>
          </a:p>
          <a:p>
            <a:pPr lvl="3"/>
            <a:r>
              <a:t>Body Level Four</a:t>
            </a:r>
          </a:p>
          <a:p>
            <a:pPr lvl="4"/>
            <a:r>
              <a:t>Body Level Five</a:t>
            </a:r>
          </a:p>
        </p:txBody>
      </p:sp>
      <p:sp>
        <p:nvSpPr>
          <p:cNvPr id="136"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tx">
  <p:cSld name="Quote Name Card">
    <p:spTree>
      <p:nvGrpSpPr>
        <p:cNvPr id="1" name=""/>
        <p:cNvGrpSpPr/>
        <p:nvPr/>
      </p:nvGrpSpPr>
      <p:grpSpPr>
        <a:xfrm>
          <a:off x="0" y="0"/>
          <a:ext cx="0" cy="0"/>
          <a:chOff x="0" y="0"/>
          <a:chExt cx="0" cy="0"/>
        </a:xfrm>
      </p:grpSpPr>
      <p:pic>
        <p:nvPicPr>
          <p:cNvPr id="143" name="Picture 12" descr="Picture 12"/>
          <p:cNvPicPr>
            <a:picLocks noChangeAspect="1"/>
          </p:cNvPicPr>
          <p:nvPr/>
        </p:nvPicPr>
        <p:blipFill>
          <a:blip r:embed="rId2"/>
          <a:stretch>
            <a:fillRect/>
          </a:stretch>
        </p:blipFill>
        <p:spPr>
          <a:xfrm>
            <a:off x="13956" y="0"/>
            <a:ext cx="9118601" cy="6858000"/>
          </a:xfrm>
          <a:prstGeom prst="rect">
            <a:avLst/>
          </a:prstGeom>
          <a:ln w="12700">
            <a:miter lim="400000"/>
          </a:ln>
        </p:spPr>
      </p:pic>
      <p:sp>
        <p:nvSpPr>
          <p:cNvPr id="144" name="TextBox 13"/>
          <p:cNvSpPr txBox="1"/>
          <p:nvPr/>
        </p:nvSpPr>
        <p:spPr>
          <a:xfrm>
            <a:off x="7781519" y="2488156"/>
            <a:ext cx="365880" cy="111180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spAutoFit/>
          </a:bodyPr>
          <a:lstStyle>
            <a:lvl1pPr algn="r">
              <a:defRPr sz="8000" cap="all">
                <a:solidFill>
                  <a:srgbClr val="FFFFFF"/>
                </a:solidFill>
              </a:defRPr>
            </a:lvl1pPr>
          </a:lstStyle>
          <a:p>
            <a:r>
              <a:t>”</a:t>
            </a:r>
          </a:p>
        </p:txBody>
      </p:sp>
      <p:sp>
        <p:nvSpPr>
          <p:cNvPr id="145" name="TextBox 10"/>
          <p:cNvSpPr txBox="1"/>
          <p:nvPr/>
        </p:nvSpPr>
        <p:spPr>
          <a:xfrm>
            <a:off x="467516" y="454599"/>
            <a:ext cx="365880" cy="111180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spAutoFit/>
          </a:bodyPr>
          <a:lstStyle>
            <a:lvl1pPr>
              <a:defRPr sz="8000" cap="all">
                <a:solidFill>
                  <a:srgbClr val="FFFFFF"/>
                </a:solidFill>
              </a:defRPr>
            </a:lvl1pPr>
          </a:lstStyle>
          <a:p>
            <a:r>
              <a:t>“</a:t>
            </a:r>
          </a:p>
        </p:txBody>
      </p:sp>
      <p:sp>
        <p:nvSpPr>
          <p:cNvPr id="146" name="Title Text"/>
          <p:cNvSpPr txBox="1">
            <a:spLocks noGrp="1"/>
          </p:cNvSpPr>
          <p:nvPr>
            <p:ph type="title"/>
          </p:nvPr>
        </p:nvSpPr>
        <p:spPr>
          <a:xfrm>
            <a:off x="879115" y="609601"/>
            <a:ext cx="7091297" cy="2743201"/>
          </a:xfrm>
          <a:prstGeom prst="rect">
            <a:avLst/>
          </a:prstGeom>
        </p:spPr>
        <p:txBody>
          <a:bodyPr/>
          <a:lstStyle>
            <a:lvl1pPr>
              <a:defRPr cap="none"/>
            </a:lvl1pPr>
          </a:lstStyle>
          <a:p>
            <a:r>
              <a:t>Title Text</a:t>
            </a:r>
          </a:p>
        </p:txBody>
      </p:sp>
      <p:sp>
        <p:nvSpPr>
          <p:cNvPr id="147" name="Body Level One…"/>
          <p:cNvSpPr txBox="1">
            <a:spLocks noGrp="1"/>
          </p:cNvSpPr>
          <p:nvPr>
            <p:ph type="body" sz="quarter" idx="1"/>
          </p:nvPr>
        </p:nvSpPr>
        <p:spPr>
          <a:xfrm>
            <a:off x="457200" y="3886200"/>
            <a:ext cx="7772401" cy="889000"/>
          </a:xfrm>
          <a:prstGeom prst="rect">
            <a:avLst/>
          </a:prstGeom>
        </p:spPr>
        <p:txBody>
          <a:bodyPr anchor="b"/>
          <a:lstStyle>
            <a:lvl1pPr indent="-571500">
              <a:buClrTx/>
              <a:buSzTx/>
              <a:buFontTx/>
              <a:buNone/>
              <a:defRPr sz="2000"/>
            </a:lvl1pPr>
            <a:lvl2pPr marL="814387" indent="-357187">
              <a:buClrTx/>
              <a:buFontTx/>
              <a:defRPr sz="2000"/>
            </a:lvl2pPr>
            <a:lvl3pPr marL="1322614" indent="-408214">
              <a:buClrTx/>
              <a:buFontTx/>
              <a:defRPr sz="2000"/>
            </a:lvl3pPr>
            <a:lvl4pPr marL="1657350" indent="-285750">
              <a:buClrTx/>
              <a:buFontTx/>
              <a:defRPr sz="2000"/>
            </a:lvl4pPr>
            <a:lvl5pPr marL="2114550" indent="-285750">
              <a:buClrTx/>
              <a:buFontTx/>
              <a:defRPr sz="2000"/>
            </a:lvl5pPr>
          </a:lstStyle>
          <a:p>
            <a:r>
              <a:t>Body Level One</a:t>
            </a:r>
          </a:p>
          <a:p>
            <a:pPr lvl="1"/>
            <a:r>
              <a:t>Body Level Two</a:t>
            </a:r>
          </a:p>
          <a:p>
            <a:pPr lvl="2"/>
            <a:r>
              <a:t>Body Level Three</a:t>
            </a:r>
          </a:p>
          <a:p>
            <a:pPr lvl="3"/>
            <a:r>
              <a:t>Body Level Four</a:t>
            </a:r>
          </a:p>
          <a:p>
            <a:pPr lvl="4"/>
            <a:r>
              <a:t>Body Level Five</a:t>
            </a:r>
          </a:p>
        </p:txBody>
      </p:sp>
      <p:sp>
        <p:nvSpPr>
          <p:cNvPr id="148" name="Text Placeholder 2"/>
          <p:cNvSpPr>
            <a:spLocks noGrp="1"/>
          </p:cNvSpPr>
          <p:nvPr>
            <p:ph type="body" sz="quarter" idx="21"/>
          </p:nvPr>
        </p:nvSpPr>
        <p:spPr>
          <a:xfrm>
            <a:off x="457200" y="4775200"/>
            <a:ext cx="7772401" cy="1016000"/>
          </a:xfrm>
          <a:prstGeom prst="rect">
            <a:avLst/>
          </a:prstGeom>
        </p:spPr>
        <p:txBody>
          <a:bodyPr anchor="t"/>
          <a:lstStyle/>
          <a:p>
            <a:pPr marL="0" indent="0">
              <a:buClrTx/>
              <a:buSzTx/>
              <a:buFontTx/>
              <a:buNone/>
              <a:defRPr sz="1600"/>
            </a:pPr>
            <a:endParaRPr/>
          </a:p>
        </p:txBody>
      </p:sp>
      <p:sp>
        <p:nvSpPr>
          <p:cNvPr id="14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x">
  <p:cSld name="True or False">
    <p:spTree>
      <p:nvGrpSpPr>
        <p:cNvPr id="1" name=""/>
        <p:cNvGrpSpPr/>
        <p:nvPr/>
      </p:nvGrpSpPr>
      <p:grpSpPr>
        <a:xfrm>
          <a:off x="0" y="0"/>
          <a:ext cx="0" cy="0"/>
          <a:chOff x="0" y="0"/>
          <a:chExt cx="0" cy="0"/>
        </a:xfrm>
      </p:grpSpPr>
      <p:pic>
        <p:nvPicPr>
          <p:cNvPr id="156" name="Picture 7" descr="Picture 7"/>
          <p:cNvPicPr>
            <a:picLocks noChangeAspect="1"/>
          </p:cNvPicPr>
          <p:nvPr/>
        </p:nvPicPr>
        <p:blipFill>
          <a:blip r:embed="rId2"/>
          <a:stretch>
            <a:fillRect/>
          </a:stretch>
        </p:blipFill>
        <p:spPr>
          <a:xfrm>
            <a:off x="13956" y="0"/>
            <a:ext cx="9118601" cy="6858000"/>
          </a:xfrm>
          <a:prstGeom prst="rect">
            <a:avLst/>
          </a:prstGeom>
          <a:ln w="12700">
            <a:miter lim="400000"/>
          </a:ln>
        </p:spPr>
      </p:pic>
      <p:sp>
        <p:nvSpPr>
          <p:cNvPr id="157" name="Title Text"/>
          <p:cNvSpPr txBox="1">
            <a:spLocks noGrp="1"/>
          </p:cNvSpPr>
          <p:nvPr>
            <p:ph type="title"/>
          </p:nvPr>
        </p:nvSpPr>
        <p:spPr>
          <a:xfrm>
            <a:off x="464440" y="609601"/>
            <a:ext cx="7772401" cy="2743201"/>
          </a:xfrm>
          <a:prstGeom prst="rect">
            <a:avLst/>
          </a:prstGeom>
        </p:spPr>
        <p:txBody>
          <a:bodyPr/>
          <a:lstStyle>
            <a:lvl1pPr>
              <a:defRPr sz="2800"/>
            </a:lvl1pPr>
          </a:lstStyle>
          <a:p>
            <a:r>
              <a:t>Title Text</a:t>
            </a:r>
          </a:p>
        </p:txBody>
      </p:sp>
      <p:sp>
        <p:nvSpPr>
          <p:cNvPr id="158" name="Body Level One…"/>
          <p:cNvSpPr txBox="1">
            <a:spLocks noGrp="1"/>
          </p:cNvSpPr>
          <p:nvPr>
            <p:ph type="body" sz="quarter" idx="1"/>
          </p:nvPr>
        </p:nvSpPr>
        <p:spPr>
          <a:xfrm>
            <a:off x="464440" y="3505200"/>
            <a:ext cx="7772401" cy="838200"/>
          </a:xfrm>
          <a:prstGeom prst="rect">
            <a:avLst/>
          </a:prstGeom>
        </p:spPr>
        <p:txBody>
          <a:bodyPr anchor="b"/>
          <a:lstStyle>
            <a:lvl1pPr indent="-571500">
              <a:buClrTx/>
              <a:buSzTx/>
              <a:buFontTx/>
              <a:buNone/>
              <a:defRPr sz="2000"/>
            </a:lvl1pPr>
            <a:lvl2pPr marL="814387" indent="-357187">
              <a:buClrTx/>
              <a:buFontTx/>
              <a:defRPr sz="2000"/>
            </a:lvl2pPr>
            <a:lvl3pPr marL="1322614" indent="-408214">
              <a:buClrTx/>
              <a:buFontTx/>
              <a:defRPr sz="2000"/>
            </a:lvl3pPr>
            <a:lvl4pPr marL="1657350" indent="-285750">
              <a:buClrTx/>
              <a:buFontTx/>
              <a:defRPr sz="2000"/>
            </a:lvl4pPr>
            <a:lvl5pPr marL="2114550" indent="-285750">
              <a:buClrTx/>
              <a:buFontTx/>
              <a:defRPr sz="2000"/>
            </a:lvl5pPr>
          </a:lstStyle>
          <a:p>
            <a:r>
              <a:t>Body Level One</a:t>
            </a:r>
          </a:p>
          <a:p>
            <a:pPr lvl="1"/>
            <a:r>
              <a:t>Body Level Two</a:t>
            </a:r>
          </a:p>
          <a:p>
            <a:pPr lvl="2"/>
            <a:r>
              <a:t>Body Level Three</a:t>
            </a:r>
          </a:p>
          <a:p>
            <a:pPr lvl="3"/>
            <a:r>
              <a:t>Body Level Four</a:t>
            </a:r>
          </a:p>
          <a:p>
            <a:pPr lvl="4"/>
            <a:r>
              <a:t>Body Level Five</a:t>
            </a:r>
          </a:p>
        </p:txBody>
      </p:sp>
      <p:sp>
        <p:nvSpPr>
          <p:cNvPr id="159" name="Text Placeholder 2"/>
          <p:cNvSpPr>
            <a:spLocks noGrp="1"/>
          </p:cNvSpPr>
          <p:nvPr>
            <p:ph type="body" sz="quarter" idx="21"/>
          </p:nvPr>
        </p:nvSpPr>
        <p:spPr>
          <a:xfrm>
            <a:off x="464439" y="4343400"/>
            <a:ext cx="7772401" cy="1447800"/>
          </a:xfrm>
          <a:prstGeom prst="rect">
            <a:avLst/>
          </a:prstGeom>
        </p:spPr>
        <p:txBody>
          <a:bodyPr anchor="t"/>
          <a:lstStyle/>
          <a:p>
            <a:pPr marL="0" indent="0">
              <a:buClrTx/>
              <a:buSzTx/>
              <a:buFontTx/>
              <a:buNone/>
              <a:defRPr sz="1600"/>
            </a:pPr>
            <a:endParaRPr/>
          </a:p>
        </p:txBody>
      </p:sp>
      <p:sp>
        <p:nvSpPr>
          <p:cNvPr id="16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jpe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1">
          <a:blip r:embed="rId17"/>
          <a:srcRect/>
          <a:stretch>
            <a:fillRect/>
          </a:stretch>
        </a:blipFill>
        <a:effectLst/>
      </p:bgPr>
    </p:bg>
    <p:spTree>
      <p:nvGrpSpPr>
        <p:cNvPr id="1" name=""/>
        <p:cNvGrpSpPr/>
        <p:nvPr/>
      </p:nvGrpSpPr>
      <p:grpSpPr>
        <a:xfrm>
          <a:off x="0" y="0"/>
          <a:ext cx="0" cy="0"/>
          <a:chOff x="0" y="0"/>
          <a:chExt cx="0" cy="0"/>
        </a:xfrm>
      </p:grpSpPr>
      <p:pic>
        <p:nvPicPr>
          <p:cNvPr id="2" name="Picture 5" descr="Picture 5"/>
          <p:cNvPicPr>
            <a:picLocks noChangeAspect="1"/>
          </p:cNvPicPr>
          <p:nvPr/>
        </p:nvPicPr>
        <p:blipFill>
          <a:blip r:embed="rId18"/>
          <a:stretch>
            <a:fillRect/>
          </a:stretch>
        </p:blipFill>
        <p:spPr>
          <a:xfrm>
            <a:off x="13956" y="0"/>
            <a:ext cx="9118601" cy="6858000"/>
          </a:xfrm>
          <a:prstGeom prst="rect">
            <a:avLst/>
          </a:prstGeom>
          <a:ln w="12700">
            <a:miter lim="400000"/>
          </a:ln>
        </p:spPr>
      </p:pic>
      <p:sp>
        <p:nvSpPr>
          <p:cNvPr id="3" name="Title Text"/>
          <p:cNvSpPr txBox="1">
            <a:spLocks noGrp="1"/>
          </p:cNvSpPr>
          <p:nvPr>
            <p:ph type="title"/>
          </p:nvPr>
        </p:nvSpPr>
        <p:spPr>
          <a:xfrm>
            <a:off x="457201" y="609601"/>
            <a:ext cx="7772401" cy="145626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normAutofit/>
          </a:bodyPr>
          <a:lstStyle/>
          <a:p>
            <a:r>
              <a:t>Title Text</a:t>
            </a:r>
          </a:p>
        </p:txBody>
      </p:sp>
      <p:sp>
        <p:nvSpPr>
          <p:cNvPr id="4" name="Body Level One…"/>
          <p:cNvSpPr txBox="1">
            <a:spLocks noGrp="1"/>
          </p:cNvSpPr>
          <p:nvPr>
            <p:ph type="body" idx="1"/>
          </p:nvPr>
        </p:nvSpPr>
        <p:spPr>
          <a:xfrm>
            <a:off x="457200" y="1600200"/>
            <a:ext cx="8229600" cy="452596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normAutofit/>
          </a:bodyPr>
          <a:lstStyle/>
          <a:p>
            <a:r>
              <a:t>Body Level One</a:t>
            </a:r>
          </a:p>
          <a:p>
            <a:pPr lvl="1"/>
            <a:r>
              <a:t>Body Level Two</a:t>
            </a:r>
          </a:p>
          <a:p>
            <a:pPr lvl="2"/>
            <a:r>
              <a:t>Body Level Three</a:t>
            </a:r>
          </a:p>
          <a:p>
            <a:pPr lvl="3"/>
            <a:r>
              <a:t>Body Level Four</a:t>
            </a:r>
          </a:p>
          <a:p>
            <a:pPr lvl="4"/>
            <a:r>
              <a:t>Body Level Five</a:t>
            </a:r>
          </a:p>
        </p:txBody>
      </p:sp>
      <p:sp>
        <p:nvSpPr>
          <p:cNvPr id="5" name="Slide Number"/>
          <p:cNvSpPr txBox="1">
            <a:spLocks noGrp="1"/>
          </p:cNvSpPr>
          <p:nvPr>
            <p:ph type="sldNum" sz="quarter" idx="2"/>
          </p:nvPr>
        </p:nvSpPr>
        <p:spPr>
          <a:xfrm>
            <a:off x="7996725" y="5945233"/>
            <a:ext cx="232877" cy="228512"/>
          </a:xfrm>
          <a:prstGeom prst="rect">
            <a:avLst/>
          </a:prstGeom>
          <a:ln w="12700">
            <a:miter lim="400000"/>
          </a:ln>
        </p:spPr>
        <p:txBody>
          <a:bodyPr wrap="none" lIns="45719" rIns="45719" anchor="ctr">
            <a:spAutoFit/>
          </a:bodyPr>
          <a:lstStyle>
            <a:lvl1pPr algn="r">
              <a:defRPr sz="1000">
                <a:solidFill>
                  <a:srgbClr val="FFFFFF"/>
                </a:solidFill>
              </a:defRPr>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transition spd="med"/>
  <p:txStyles>
    <p:titleStyle>
      <a:lvl1pPr marL="0" marR="0" indent="0" algn="l" defTabSz="457200" rtl="0" latinLnBrk="0">
        <a:lnSpc>
          <a:spcPct val="100000"/>
        </a:lnSpc>
        <a:spcBef>
          <a:spcPts val="0"/>
        </a:spcBef>
        <a:spcAft>
          <a:spcPts val="0"/>
        </a:spcAft>
        <a:buClrTx/>
        <a:buSzTx/>
        <a:buFontTx/>
        <a:buNone/>
        <a:tabLst/>
        <a:defRPr sz="3200" b="0" i="0" u="none" strike="noStrike" cap="all" spc="0" baseline="0">
          <a:solidFill>
            <a:srgbClr val="FFFFFF"/>
          </a:solidFill>
          <a:uFillTx/>
          <a:latin typeface="Calibri Light"/>
          <a:ea typeface="Calibri Light"/>
          <a:cs typeface="Calibri Light"/>
          <a:sym typeface="Calibri Light"/>
        </a:defRPr>
      </a:lvl1pPr>
      <a:lvl2pPr marL="0" marR="0" indent="0" algn="l" defTabSz="457200" rtl="0" latinLnBrk="0">
        <a:lnSpc>
          <a:spcPct val="100000"/>
        </a:lnSpc>
        <a:spcBef>
          <a:spcPts val="0"/>
        </a:spcBef>
        <a:spcAft>
          <a:spcPts val="0"/>
        </a:spcAft>
        <a:buClrTx/>
        <a:buSzTx/>
        <a:buFontTx/>
        <a:buNone/>
        <a:tabLst/>
        <a:defRPr sz="3200" b="0" i="0" u="none" strike="noStrike" cap="all" spc="0" baseline="0">
          <a:solidFill>
            <a:srgbClr val="FFFFFF"/>
          </a:solidFill>
          <a:uFillTx/>
          <a:latin typeface="Calibri Light"/>
          <a:ea typeface="Calibri Light"/>
          <a:cs typeface="Calibri Light"/>
          <a:sym typeface="Calibri Light"/>
        </a:defRPr>
      </a:lvl2pPr>
      <a:lvl3pPr marL="0" marR="0" indent="0" algn="l" defTabSz="457200" rtl="0" latinLnBrk="0">
        <a:lnSpc>
          <a:spcPct val="100000"/>
        </a:lnSpc>
        <a:spcBef>
          <a:spcPts val="0"/>
        </a:spcBef>
        <a:spcAft>
          <a:spcPts val="0"/>
        </a:spcAft>
        <a:buClrTx/>
        <a:buSzTx/>
        <a:buFontTx/>
        <a:buNone/>
        <a:tabLst/>
        <a:defRPr sz="3200" b="0" i="0" u="none" strike="noStrike" cap="all" spc="0" baseline="0">
          <a:solidFill>
            <a:srgbClr val="FFFFFF"/>
          </a:solidFill>
          <a:uFillTx/>
          <a:latin typeface="Calibri Light"/>
          <a:ea typeface="Calibri Light"/>
          <a:cs typeface="Calibri Light"/>
          <a:sym typeface="Calibri Light"/>
        </a:defRPr>
      </a:lvl3pPr>
      <a:lvl4pPr marL="0" marR="0" indent="0" algn="l" defTabSz="457200" rtl="0" latinLnBrk="0">
        <a:lnSpc>
          <a:spcPct val="100000"/>
        </a:lnSpc>
        <a:spcBef>
          <a:spcPts val="0"/>
        </a:spcBef>
        <a:spcAft>
          <a:spcPts val="0"/>
        </a:spcAft>
        <a:buClrTx/>
        <a:buSzTx/>
        <a:buFontTx/>
        <a:buNone/>
        <a:tabLst/>
        <a:defRPr sz="3200" b="0" i="0" u="none" strike="noStrike" cap="all" spc="0" baseline="0">
          <a:solidFill>
            <a:srgbClr val="FFFFFF"/>
          </a:solidFill>
          <a:uFillTx/>
          <a:latin typeface="Calibri Light"/>
          <a:ea typeface="Calibri Light"/>
          <a:cs typeface="Calibri Light"/>
          <a:sym typeface="Calibri Light"/>
        </a:defRPr>
      </a:lvl4pPr>
      <a:lvl5pPr marL="0" marR="0" indent="0" algn="l" defTabSz="457200" rtl="0" latinLnBrk="0">
        <a:lnSpc>
          <a:spcPct val="100000"/>
        </a:lnSpc>
        <a:spcBef>
          <a:spcPts val="0"/>
        </a:spcBef>
        <a:spcAft>
          <a:spcPts val="0"/>
        </a:spcAft>
        <a:buClrTx/>
        <a:buSzTx/>
        <a:buFontTx/>
        <a:buNone/>
        <a:tabLst/>
        <a:defRPr sz="3200" b="0" i="0" u="none" strike="noStrike" cap="all" spc="0" baseline="0">
          <a:solidFill>
            <a:srgbClr val="FFFFFF"/>
          </a:solidFill>
          <a:uFillTx/>
          <a:latin typeface="Calibri Light"/>
          <a:ea typeface="Calibri Light"/>
          <a:cs typeface="Calibri Light"/>
          <a:sym typeface="Calibri Light"/>
        </a:defRPr>
      </a:lvl5pPr>
      <a:lvl6pPr marL="0" marR="0" indent="0" algn="l" defTabSz="457200" rtl="0" latinLnBrk="0">
        <a:lnSpc>
          <a:spcPct val="100000"/>
        </a:lnSpc>
        <a:spcBef>
          <a:spcPts val="0"/>
        </a:spcBef>
        <a:spcAft>
          <a:spcPts val="0"/>
        </a:spcAft>
        <a:buClrTx/>
        <a:buSzTx/>
        <a:buFontTx/>
        <a:buNone/>
        <a:tabLst/>
        <a:defRPr sz="3200" b="0" i="0" u="none" strike="noStrike" cap="all" spc="0" baseline="0">
          <a:solidFill>
            <a:srgbClr val="FFFFFF"/>
          </a:solidFill>
          <a:uFillTx/>
          <a:latin typeface="Calibri Light"/>
          <a:ea typeface="Calibri Light"/>
          <a:cs typeface="Calibri Light"/>
          <a:sym typeface="Calibri Light"/>
        </a:defRPr>
      </a:lvl6pPr>
      <a:lvl7pPr marL="0" marR="0" indent="0" algn="l" defTabSz="457200" rtl="0" latinLnBrk="0">
        <a:lnSpc>
          <a:spcPct val="100000"/>
        </a:lnSpc>
        <a:spcBef>
          <a:spcPts val="0"/>
        </a:spcBef>
        <a:spcAft>
          <a:spcPts val="0"/>
        </a:spcAft>
        <a:buClrTx/>
        <a:buSzTx/>
        <a:buFontTx/>
        <a:buNone/>
        <a:tabLst/>
        <a:defRPr sz="3200" b="0" i="0" u="none" strike="noStrike" cap="all" spc="0" baseline="0">
          <a:solidFill>
            <a:srgbClr val="FFFFFF"/>
          </a:solidFill>
          <a:uFillTx/>
          <a:latin typeface="Calibri Light"/>
          <a:ea typeface="Calibri Light"/>
          <a:cs typeface="Calibri Light"/>
          <a:sym typeface="Calibri Light"/>
        </a:defRPr>
      </a:lvl7pPr>
      <a:lvl8pPr marL="0" marR="0" indent="0" algn="l" defTabSz="457200" rtl="0" latinLnBrk="0">
        <a:lnSpc>
          <a:spcPct val="100000"/>
        </a:lnSpc>
        <a:spcBef>
          <a:spcPts val="0"/>
        </a:spcBef>
        <a:spcAft>
          <a:spcPts val="0"/>
        </a:spcAft>
        <a:buClrTx/>
        <a:buSzTx/>
        <a:buFontTx/>
        <a:buNone/>
        <a:tabLst/>
        <a:defRPr sz="3200" b="0" i="0" u="none" strike="noStrike" cap="all" spc="0" baseline="0">
          <a:solidFill>
            <a:srgbClr val="FFFFFF"/>
          </a:solidFill>
          <a:uFillTx/>
          <a:latin typeface="Calibri Light"/>
          <a:ea typeface="Calibri Light"/>
          <a:cs typeface="Calibri Light"/>
          <a:sym typeface="Calibri Light"/>
        </a:defRPr>
      </a:lvl8pPr>
      <a:lvl9pPr marL="0" marR="0" indent="0" algn="l" defTabSz="457200" rtl="0" latinLnBrk="0">
        <a:lnSpc>
          <a:spcPct val="100000"/>
        </a:lnSpc>
        <a:spcBef>
          <a:spcPts val="0"/>
        </a:spcBef>
        <a:spcAft>
          <a:spcPts val="0"/>
        </a:spcAft>
        <a:buClrTx/>
        <a:buSzTx/>
        <a:buFontTx/>
        <a:buNone/>
        <a:tabLst/>
        <a:defRPr sz="3200" b="0" i="0" u="none" strike="noStrike" cap="all" spc="0" baseline="0">
          <a:solidFill>
            <a:srgbClr val="FFFFFF"/>
          </a:solidFill>
          <a:uFillTx/>
          <a:latin typeface="Calibri Light"/>
          <a:ea typeface="Calibri Light"/>
          <a:cs typeface="Calibri Light"/>
          <a:sym typeface="Calibri Light"/>
        </a:defRPr>
      </a:lvl9pPr>
    </p:titleStyle>
    <p:bodyStyle>
      <a:lvl1pPr marL="285750" marR="0" indent="-285750" algn="l" defTabSz="457200" rtl="0" latinLnBrk="0">
        <a:lnSpc>
          <a:spcPct val="100000"/>
        </a:lnSpc>
        <a:spcBef>
          <a:spcPts val="1000"/>
        </a:spcBef>
        <a:spcAft>
          <a:spcPts val="0"/>
        </a:spcAft>
        <a:buClr>
          <a:srgbClr val="FFFFFF"/>
        </a:buClr>
        <a:buSzPct val="100000"/>
        <a:buFont typeface="Arial"/>
        <a:buChar char="•"/>
        <a:tabLst/>
        <a:defRPr sz="1800" b="0" i="0" u="none" strike="noStrike" cap="none" spc="0" baseline="0">
          <a:solidFill>
            <a:srgbClr val="FFFFFF"/>
          </a:solidFill>
          <a:uFillTx/>
          <a:latin typeface="Calibri"/>
          <a:ea typeface="Calibri"/>
          <a:cs typeface="Calibri"/>
          <a:sym typeface="Calibri"/>
        </a:defRPr>
      </a:lvl1pPr>
      <a:lvl2pPr marL="778668" marR="0" indent="-321468" algn="l" defTabSz="457200" rtl="0" latinLnBrk="0">
        <a:lnSpc>
          <a:spcPct val="100000"/>
        </a:lnSpc>
        <a:spcBef>
          <a:spcPts val="1000"/>
        </a:spcBef>
        <a:spcAft>
          <a:spcPts val="0"/>
        </a:spcAft>
        <a:buClr>
          <a:srgbClr val="FFFFFF"/>
        </a:buClr>
        <a:buSzPct val="100000"/>
        <a:buFont typeface="Arial"/>
        <a:buChar char="•"/>
        <a:tabLst/>
        <a:defRPr sz="1800" b="0" i="0" u="none" strike="noStrike" cap="none" spc="0" baseline="0">
          <a:solidFill>
            <a:srgbClr val="FFFFFF"/>
          </a:solidFill>
          <a:uFillTx/>
          <a:latin typeface="Calibri"/>
          <a:ea typeface="Calibri"/>
          <a:cs typeface="Calibri"/>
          <a:sym typeface="Calibri"/>
        </a:defRPr>
      </a:lvl2pPr>
      <a:lvl3pPr marL="1281792" marR="0" indent="-367392" algn="l" defTabSz="457200" rtl="0" latinLnBrk="0">
        <a:lnSpc>
          <a:spcPct val="100000"/>
        </a:lnSpc>
        <a:spcBef>
          <a:spcPts val="1000"/>
        </a:spcBef>
        <a:spcAft>
          <a:spcPts val="0"/>
        </a:spcAft>
        <a:buClr>
          <a:srgbClr val="FFFFFF"/>
        </a:buClr>
        <a:buSzPct val="100000"/>
        <a:buFont typeface="Arial"/>
        <a:buChar char="•"/>
        <a:tabLst/>
        <a:defRPr sz="1800" b="0" i="0" u="none" strike="noStrike" cap="none" spc="0" baseline="0">
          <a:solidFill>
            <a:srgbClr val="FFFFFF"/>
          </a:solidFill>
          <a:uFillTx/>
          <a:latin typeface="Calibri"/>
          <a:ea typeface="Calibri"/>
          <a:cs typeface="Calibri"/>
          <a:sym typeface="Calibri"/>
        </a:defRPr>
      </a:lvl3pPr>
      <a:lvl4pPr marL="1628775" marR="0" indent="-257175" algn="l" defTabSz="457200" rtl="0" latinLnBrk="0">
        <a:lnSpc>
          <a:spcPct val="100000"/>
        </a:lnSpc>
        <a:spcBef>
          <a:spcPts val="1000"/>
        </a:spcBef>
        <a:spcAft>
          <a:spcPts val="0"/>
        </a:spcAft>
        <a:buClr>
          <a:srgbClr val="FFFFFF"/>
        </a:buClr>
        <a:buSzPct val="100000"/>
        <a:buFont typeface="Arial"/>
        <a:buChar char="•"/>
        <a:tabLst/>
        <a:defRPr sz="1800" b="0" i="0" u="none" strike="noStrike" cap="none" spc="0" baseline="0">
          <a:solidFill>
            <a:srgbClr val="FFFFFF"/>
          </a:solidFill>
          <a:uFillTx/>
          <a:latin typeface="Calibri"/>
          <a:ea typeface="Calibri"/>
          <a:cs typeface="Calibri"/>
          <a:sym typeface="Calibri"/>
        </a:defRPr>
      </a:lvl4pPr>
      <a:lvl5pPr marL="2085975" marR="0" indent="-257175" algn="l" defTabSz="457200" rtl="0" latinLnBrk="0">
        <a:lnSpc>
          <a:spcPct val="100000"/>
        </a:lnSpc>
        <a:spcBef>
          <a:spcPts val="1000"/>
        </a:spcBef>
        <a:spcAft>
          <a:spcPts val="0"/>
        </a:spcAft>
        <a:buClr>
          <a:srgbClr val="FFFFFF"/>
        </a:buClr>
        <a:buSzPct val="100000"/>
        <a:buFont typeface="Arial"/>
        <a:buChar char="•"/>
        <a:tabLst/>
        <a:defRPr sz="1800" b="0" i="0" u="none" strike="noStrike" cap="none" spc="0" baseline="0">
          <a:solidFill>
            <a:srgbClr val="FFFFFF"/>
          </a:solidFill>
          <a:uFillTx/>
          <a:latin typeface="Calibri"/>
          <a:ea typeface="Calibri"/>
          <a:cs typeface="Calibri"/>
          <a:sym typeface="Calibri"/>
        </a:defRPr>
      </a:lvl5pPr>
      <a:lvl6pPr marL="2628900" marR="0" indent="-342900" algn="l" defTabSz="457200" rtl="0" latinLnBrk="0">
        <a:lnSpc>
          <a:spcPct val="100000"/>
        </a:lnSpc>
        <a:spcBef>
          <a:spcPts val="1000"/>
        </a:spcBef>
        <a:spcAft>
          <a:spcPts val="0"/>
        </a:spcAft>
        <a:buClr>
          <a:srgbClr val="FFFFFF"/>
        </a:buClr>
        <a:buSzPct val="100000"/>
        <a:buFont typeface="Arial"/>
        <a:buChar char="•"/>
        <a:tabLst/>
        <a:defRPr sz="1800" b="0" i="0" u="none" strike="noStrike" cap="none" spc="0" baseline="0">
          <a:solidFill>
            <a:srgbClr val="FFFFFF"/>
          </a:solidFill>
          <a:uFillTx/>
          <a:latin typeface="Calibri"/>
          <a:ea typeface="Calibri"/>
          <a:cs typeface="Calibri"/>
          <a:sym typeface="Calibri"/>
        </a:defRPr>
      </a:lvl6pPr>
      <a:lvl7pPr marL="3086100" marR="0" indent="-342900" algn="l" defTabSz="457200" rtl="0" latinLnBrk="0">
        <a:lnSpc>
          <a:spcPct val="100000"/>
        </a:lnSpc>
        <a:spcBef>
          <a:spcPts val="1000"/>
        </a:spcBef>
        <a:spcAft>
          <a:spcPts val="0"/>
        </a:spcAft>
        <a:buClr>
          <a:srgbClr val="FFFFFF"/>
        </a:buClr>
        <a:buSzPct val="100000"/>
        <a:buFont typeface="Arial"/>
        <a:buChar char="•"/>
        <a:tabLst/>
        <a:defRPr sz="1800" b="0" i="0" u="none" strike="noStrike" cap="none" spc="0" baseline="0">
          <a:solidFill>
            <a:srgbClr val="FFFFFF"/>
          </a:solidFill>
          <a:uFillTx/>
          <a:latin typeface="Calibri"/>
          <a:ea typeface="Calibri"/>
          <a:cs typeface="Calibri"/>
          <a:sym typeface="Calibri"/>
        </a:defRPr>
      </a:lvl7pPr>
      <a:lvl8pPr marL="3543300" marR="0" indent="-342900" algn="l" defTabSz="457200" rtl="0" latinLnBrk="0">
        <a:lnSpc>
          <a:spcPct val="100000"/>
        </a:lnSpc>
        <a:spcBef>
          <a:spcPts val="1000"/>
        </a:spcBef>
        <a:spcAft>
          <a:spcPts val="0"/>
        </a:spcAft>
        <a:buClr>
          <a:srgbClr val="FFFFFF"/>
        </a:buClr>
        <a:buSzPct val="100000"/>
        <a:buFont typeface="Arial"/>
        <a:buChar char="•"/>
        <a:tabLst/>
        <a:defRPr sz="1800" b="0" i="0" u="none" strike="noStrike" cap="none" spc="0" baseline="0">
          <a:solidFill>
            <a:srgbClr val="FFFFFF"/>
          </a:solidFill>
          <a:uFillTx/>
          <a:latin typeface="Calibri"/>
          <a:ea typeface="Calibri"/>
          <a:cs typeface="Calibri"/>
          <a:sym typeface="Calibri"/>
        </a:defRPr>
      </a:lvl8pPr>
      <a:lvl9pPr marL="4000500" marR="0" indent="-342900" algn="l" defTabSz="457200" rtl="0" latinLnBrk="0">
        <a:lnSpc>
          <a:spcPct val="100000"/>
        </a:lnSpc>
        <a:spcBef>
          <a:spcPts val="1000"/>
        </a:spcBef>
        <a:spcAft>
          <a:spcPts val="0"/>
        </a:spcAft>
        <a:buClr>
          <a:srgbClr val="FFFFFF"/>
        </a:buClr>
        <a:buSzPct val="100000"/>
        <a:buFont typeface="Arial"/>
        <a:buChar char="•"/>
        <a:tabLst/>
        <a:defRPr sz="1800" b="0" i="0" u="none" strike="noStrike" cap="none" spc="0" baseline="0">
          <a:solidFill>
            <a:srgbClr val="FFFFFF"/>
          </a:solidFill>
          <a:uFillTx/>
          <a:latin typeface="Calibri"/>
          <a:ea typeface="Calibri"/>
          <a:cs typeface="Calibri"/>
          <a:sym typeface="Calibri"/>
        </a:defRPr>
      </a:lvl9pPr>
    </p:bodyStyle>
    <p:otherStyle>
      <a:lvl1pPr marL="0" marR="0" indent="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Calibri"/>
        </a:defRPr>
      </a:lvl1pPr>
      <a:lvl2pPr marL="0" marR="0" indent="4572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Calibri"/>
        </a:defRPr>
      </a:lvl2pPr>
      <a:lvl3pPr marL="0" marR="0" indent="9144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Calibri"/>
        </a:defRPr>
      </a:lvl3pPr>
      <a:lvl4pPr marL="0" marR="0" indent="13716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Calibri"/>
        </a:defRPr>
      </a:lvl4pPr>
      <a:lvl5pPr marL="0" marR="0" indent="18288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Calibri"/>
        </a:defRPr>
      </a:lvl5pPr>
      <a:lvl6pPr marL="0" marR="0" indent="22860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Calibri"/>
        </a:defRPr>
      </a:lvl6pPr>
      <a:lvl7pPr marL="0" marR="0" indent="27432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Calibri"/>
        </a:defRPr>
      </a:lvl7pPr>
      <a:lvl8pPr marL="0" marR="0" indent="32004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Calibri"/>
        </a:defRPr>
      </a:lvl8pPr>
      <a:lvl9pPr marL="0" marR="0" indent="36576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Calibri"/>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image" Target="../media/image7.jpeg"/><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image" Target="../media/image13.jpeg"/><Relationship Id="rId1" Type="http://schemas.openxmlformats.org/officeDocument/2006/relationships/slideLayout" Target="../slideLayouts/slideLayout2.xml"/><Relationship Id="rId6" Type="http://schemas.openxmlformats.org/officeDocument/2006/relationships/image" Target="../media/image17.jpeg"/><Relationship Id="rId5" Type="http://schemas.openxmlformats.org/officeDocument/2006/relationships/image" Target="../media/image16.png"/><Relationship Id="rId4" Type="http://schemas.openxmlformats.org/officeDocument/2006/relationships/image" Target="../media/image15.jpeg"/></Relationships>
</file>

<file path=ppt/slides/_rels/slide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0.ti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jpeg"/><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image" Target="../media/image4.jpeg"/><Relationship Id="rId1" Type="http://schemas.openxmlformats.org/officeDocument/2006/relationships/slideLayout" Target="../slideLayouts/slideLayout2.xml"/><Relationship Id="rId4" Type="http://schemas.openxmlformats.org/officeDocument/2006/relationships/image" Target="../media/image41.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2"/>
          <a:srcRect/>
          <a:stretch>
            <a:fillRect/>
          </a:stretch>
        </a:blipFill>
        <a:effectLst/>
      </p:bgPr>
    </p:bg>
    <p:spTree>
      <p:nvGrpSpPr>
        <p:cNvPr id="1" name=""/>
        <p:cNvGrpSpPr/>
        <p:nvPr/>
      </p:nvGrpSpPr>
      <p:grpSpPr>
        <a:xfrm>
          <a:off x="0" y="0"/>
          <a:ext cx="0" cy="0"/>
          <a:chOff x="0" y="0"/>
          <a:chExt cx="0" cy="0"/>
        </a:xfrm>
      </p:grpSpPr>
      <p:sp>
        <p:nvSpPr>
          <p:cNvPr id="169" name="Rectangle 16"/>
          <p:cNvSpPr/>
          <p:nvPr/>
        </p:nvSpPr>
        <p:spPr>
          <a:xfrm>
            <a:off x="0" y="-1"/>
            <a:ext cx="9141618" cy="6856216"/>
          </a:xfrm>
          <a:prstGeom prst="rect">
            <a:avLst/>
          </a:prstGeom>
          <a:ln w="12700">
            <a:miter lim="400000"/>
          </a:ln>
        </p:spPr>
        <p:txBody>
          <a:bodyPr lIns="45719" rIns="45719" anchor="ctr"/>
          <a:lstStyle/>
          <a:p>
            <a:pPr algn="ctr">
              <a:defRPr>
                <a:solidFill>
                  <a:srgbClr val="FFFFFF"/>
                </a:solidFill>
              </a:defRPr>
            </a:pPr>
            <a:endParaRPr/>
          </a:p>
        </p:txBody>
      </p:sp>
      <p:pic>
        <p:nvPicPr>
          <p:cNvPr id="170" name="Picture 5" descr="Picture 5"/>
          <p:cNvPicPr>
            <a:picLocks noChangeAspect="1"/>
          </p:cNvPicPr>
          <p:nvPr/>
        </p:nvPicPr>
        <p:blipFill>
          <a:blip r:embed="rId3">
            <a:alphaModFix amt="20000"/>
          </a:blip>
          <a:srcRect l="333"/>
          <a:stretch>
            <a:fillRect/>
          </a:stretch>
        </p:blipFill>
        <p:spPr>
          <a:xfrm>
            <a:off x="19" y="10"/>
            <a:ext cx="9143798" cy="6857853"/>
          </a:xfrm>
          <a:prstGeom prst="rect">
            <a:avLst/>
          </a:prstGeom>
          <a:ln w="12700">
            <a:miter lim="400000"/>
          </a:ln>
        </p:spPr>
      </p:pic>
      <p:pic>
        <p:nvPicPr>
          <p:cNvPr id="171" name="Picture 18" descr="Picture 18"/>
          <p:cNvPicPr>
            <a:picLocks noChangeAspect="1"/>
          </p:cNvPicPr>
          <p:nvPr/>
        </p:nvPicPr>
        <p:blipFill>
          <a:blip r:embed="rId4">
            <a:alphaModFix amt="45331"/>
          </a:blip>
          <a:stretch>
            <a:fillRect/>
          </a:stretch>
        </p:blipFill>
        <p:spPr>
          <a:xfrm>
            <a:off x="0" y="0"/>
            <a:ext cx="9141618" cy="6856215"/>
          </a:xfrm>
          <a:prstGeom prst="rect">
            <a:avLst/>
          </a:prstGeom>
          <a:ln w="12700">
            <a:miter lim="400000"/>
          </a:ln>
        </p:spPr>
      </p:pic>
      <p:sp>
        <p:nvSpPr>
          <p:cNvPr id="172" name="Title 1"/>
          <p:cNvSpPr txBox="1">
            <a:spLocks noGrp="1"/>
          </p:cNvSpPr>
          <p:nvPr>
            <p:ph type="ctrTitle"/>
          </p:nvPr>
        </p:nvSpPr>
        <p:spPr>
          <a:xfrm>
            <a:off x="1872852" y="849990"/>
            <a:ext cx="5398296" cy="1742495"/>
          </a:xfrm>
          <a:prstGeom prst="rect">
            <a:avLst/>
          </a:prstGeom>
          <a:effectLst>
            <a:outerShdw blurRad="50800" dist="38100" dir="5400000" rotWithShape="0">
              <a:srgbClr val="000000">
                <a:alpha val="35000"/>
              </a:srgbClr>
            </a:outerShdw>
          </a:effectLst>
        </p:spPr>
        <p:txBody>
          <a:bodyPr/>
          <a:lstStyle>
            <a:lvl1pPr>
              <a:defRPr/>
            </a:lvl1pPr>
          </a:lstStyle>
          <a:p>
            <a:pPr>
              <a:defRPr>
                <a:ln>
                  <a:noFill/>
                </a:ln>
              </a:defRPr>
            </a:pPr>
            <a:r>
              <a:t>Crowdfunding </a:t>
            </a:r>
          </a:p>
        </p:txBody>
      </p:sp>
      <p:sp>
        <p:nvSpPr>
          <p:cNvPr id="173" name="Subtitle 2"/>
          <p:cNvSpPr txBox="1">
            <a:spLocks noGrp="1"/>
          </p:cNvSpPr>
          <p:nvPr>
            <p:ph type="subTitle" sz="quarter" idx="1"/>
          </p:nvPr>
        </p:nvSpPr>
        <p:spPr>
          <a:xfrm>
            <a:off x="1872852" y="3789536"/>
            <a:ext cx="5398296" cy="1199535"/>
          </a:xfrm>
          <a:prstGeom prst="rect">
            <a:avLst/>
          </a:prstGeom>
        </p:spPr>
        <p:txBody>
          <a:bodyPr/>
          <a:lstStyle/>
          <a:p>
            <a:pPr algn="ctr">
              <a:defRPr i="1"/>
            </a:pPr>
            <a:r>
              <a:t>By</a:t>
            </a:r>
          </a:p>
          <a:p>
            <a:pPr algn="ctr">
              <a:defRPr i="1"/>
            </a:pPr>
            <a:r>
              <a:t>Team Nexus</a:t>
            </a:r>
          </a:p>
        </p:txBody>
      </p:sp>
      <p:sp>
        <p:nvSpPr>
          <p:cNvPr id="174" name="Subtitle 2"/>
          <p:cNvSpPr txBox="1"/>
          <p:nvPr/>
        </p:nvSpPr>
        <p:spPr>
          <a:xfrm>
            <a:off x="1872852" y="2695635"/>
            <a:ext cx="5398296" cy="60060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ormAutofit/>
          </a:bodyPr>
          <a:lstStyle>
            <a:lvl1pPr algn="ctr">
              <a:spcBef>
                <a:spcPts val="1000"/>
              </a:spcBef>
              <a:defRPr cap="all">
                <a:solidFill>
                  <a:srgbClr val="FFFFFF"/>
                </a:solidFill>
              </a:defRPr>
            </a:lvl1pPr>
          </a:lstStyle>
          <a:p>
            <a:r>
              <a:t>Fall 2025 capstone project | Prof Henry Wong</a:t>
            </a: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 name="Title 1"/>
          <p:cNvSpPr txBox="1">
            <a:spLocks noGrp="1"/>
          </p:cNvSpPr>
          <p:nvPr>
            <p:ph type="title"/>
          </p:nvPr>
        </p:nvSpPr>
        <p:spPr>
          <a:xfrm>
            <a:off x="571005" y="161506"/>
            <a:ext cx="7772401" cy="1317524"/>
          </a:xfrm>
          <a:prstGeom prst="rect">
            <a:avLst/>
          </a:prstGeom>
        </p:spPr>
        <p:txBody>
          <a:bodyPr/>
          <a:lstStyle>
            <a:lvl1pPr>
              <a:defRPr b="1">
                <a:latin typeface="Times New Roman"/>
                <a:ea typeface="Times New Roman"/>
                <a:cs typeface="Times New Roman"/>
                <a:sym typeface="Times New Roman"/>
              </a:defRPr>
            </a:lvl1pPr>
          </a:lstStyle>
          <a:p>
            <a:r>
              <a:t>Agenda</a:t>
            </a:r>
          </a:p>
        </p:txBody>
      </p:sp>
      <p:sp>
        <p:nvSpPr>
          <p:cNvPr id="177" name="Content Placeholder 2"/>
          <p:cNvSpPr txBox="1">
            <a:spLocks noGrp="1"/>
          </p:cNvSpPr>
          <p:nvPr>
            <p:ph type="body" idx="1"/>
          </p:nvPr>
        </p:nvSpPr>
        <p:spPr>
          <a:xfrm>
            <a:off x="457200" y="1196931"/>
            <a:ext cx="7772400" cy="5217954"/>
          </a:xfrm>
          <a:prstGeom prst="rect">
            <a:avLst/>
          </a:prstGeom>
        </p:spPr>
        <p:txBody>
          <a:bodyPr lIns="45719" tIns="45720" rIns="45719" bIns="45720" anchor="ctr">
            <a:normAutofit fontScale="92500" lnSpcReduction="10000"/>
          </a:bodyPr>
          <a:lstStyle/>
          <a:p>
            <a:pPr marL="457200" indent="-316865">
              <a:lnSpc>
                <a:spcPct val="150000"/>
              </a:lnSpc>
              <a:spcBef>
                <a:spcPts val="0"/>
              </a:spcBef>
              <a:buFontTx/>
              <a:buAutoNum type="arabicPeriod"/>
              <a:defRPr sz="1600">
                <a:latin typeface="Times New Roman"/>
                <a:ea typeface="Times New Roman"/>
                <a:cs typeface="Times New Roman"/>
                <a:sym typeface="Times New Roman"/>
              </a:defRPr>
            </a:pPr>
            <a:r>
              <a:rPr dirty="0"/>
              <a:t>Team Member Roles | Improvements | Responsibilities</a:t>
            </a:r>
            <a:endParaRPr lang="en-US" dirty="0"/>
          </a:p>
          <a:p>
            <a:pPr marL="457200" indent="-316865">
              <a:lnSpc>
                <a:spcPct val="150000"/>
              </a:lnSpc>
              <a:spcBef>
                <a:spcPts val="0"/>
              </a:spcBef>
              <a:buFontTx/>
              <a:buAutoNum type="arabicPeriod"/>
              <a:defRPr sz="1600">
                <a:latin typeface="Times New Roman"/>
                <a:ea typeface="Times New Roman"/>
                <a:cs typeface="Times New Roman"/>
                <a:sym typeface="Times New Roman"/>
              </a:defRPr>
            </a:pPr>
            <a:r>
              <a:rPr dirty="0"/>
              <a:t>Problem Statement | Project Description | Team Working Agreement</a:t>
            </a:r>
          </a:p>
          <a:p>
            <a:pPr marL="457200" indent="-316865">
              <a:lnSpc>
                <a:spcPct val="150000"/>
              </a:lnSpc>
              <a:spcBef>
                <a:spcPts val="0"/>
              </a:spcBef>
              <a:buFontTx/>
              <a:buAutoNum type="arabicPeriod"/>
              <a:defRPr sz="1600">
                <a:latin typeface="Times New Roman"/>
                <a:ea typeface="Times New Roman"/>
                <a:cs typeface="Times New Roman"/>
                <a:sym typeface="Times New Roman"/>
              </a:defRPr>
            </a:pPr>
            <a:r>
              <a:rPr dirty="0"/>
              <a:t>User Personas | MVP | Project Design</a:t>
            </a:r>
          </a:p>
          <a:p>
            <a:pPr marL="457200" indent="-316865">
              <a:lnSpc>
                <a:spcPct val="150000"/>
              </a:lnSpc>
              <a:spcBef>
                <a:spcPts val="0"/>
              </a:spcBef>
              <a:buFontTx/>
              <a:buAutoNum type="arabicPeriod"/>
              <a:defRPr sz="1600">
                <a:latin typeface="Times New Roman"/>
                <a:ea typeface="Times New Roman"/>
                <a:cs typeface="Times New Roman"/>
                <a:sym typeface="Times New Roman"/>
              </a:defRPr>
            </a:pPr>
            <a:r>
              <a:rPr dirty="0"/>
              <a:t>Technologies | Algorithms | Diagrams</a:t>
            </a:r>
          </a:p>
          <a:p>
            <a:pPr marL="457200" indent="-316865">
              <a:lnSpc>
                <a:spcPct val="150000"/>
              </a:lnSpc>
              <a:spcBef>
                <a:spcPts val="0"/>
              </a:spcBef>
              <a:buFontTx/>
              <a:buAutoNum type="arabicPeriod"/>
              <a:defRPr sz="1600">
                <a:latin typeface="Times New Roman"/>
                <a:ea typeface="Times New Roman"/>
                <a:cs typeface="Times New Roman"/>
                <a:sym typeface="Times New Roman"/>
              </a:defRPr>
            </a:pPr>
            <a:r>
              <a:rPr dirty="0"/>
              <a:t>Product Backlog</a:t>
            </a:r>
          </a:p>
          <a:p>
            <a:pPr marL="457200" indent="-316865">
              <a:lnSpc>
                <a:spcPct val="150000"/>
              </a:lnSpc>
              <a:spcBef>
                <a:spcPts val="0"/>
              </a:spcBef>
              <a:buFontTx/>
              <a:buAutoNum type="arabicPeriod"/>
              <a:defRPr sz="1600">
                <a:latin typeface="Times New Roman"/>
                <a:ea typeface="Times New Roman"/>
                <a:cs typeface="Times New Roman"/>
                <a:sym typeface="Times New Roman"/>
              </a:defRPr>
            </a:pPr>
            <a:r>
              <a:rPr lang="en-US" dirty="0"/>
              <a:t>Sprint Summary</a:t>
            </a:r>
          </a:p>
          <a:p>
            <a:pPr marL="457200" indent="-316865">
              <a:lnSpc>
                <a:spcPct val="150000"/>
              </a:lnSpc>
              <a:spcBef>
                <a:spcPts val="0"/>
              </a:spcBef>
              <a:buFontTx/>
              <a:buAutoNum type="arabicPeriod"/>
              <a:defRPr sz="1600">
                <a:latin typeface="Times New Roman"/>
                <a:ea typeface="Times New Roman"/>
                <a:cs typeface="Times New Roman"/>
                <a:sym typeface="Times New Roman"/>
              </a:defRPr>
            </a:pPr>
            <a:r>
              <a:rPr dirty="0"/>
              <a:t>Metrics</a:t>
            </a:r>
          </a:p>
          <a:p>
            <a:pPr marL="457200" indent="-316865">
              <a:lnSpc>
                <a:spcPct val="150000"/>
              </a:lnSpc>
              <a:spcBef>
                <a:spcPts val="0"/>
              </a:spcBef>
              <a:buFontTx/>
              <a:buAutoNum type="arabicPeriod"/>
              <a:defRPr sz="1600">
                <a:latin typeface="Times New Roman"/>
                <a:ea typeface="Times New Roman"/>
                <a:cs typeface="Times New Roman"/>
                <a:sym typeface="Times New Roman"/>
              </a:defRPr>
            </a:pPr>
            <a:r>
              <a:rPr dirty="0"/>
              <a:t>Sprint 2 Recap</a:t>
            </a:r>
          </a:p>
          <a:p>
            <a:pPr marL="457200" indent="-316865">
              <a:lnSpc>
                <a:spcPct val="150000"/>
              </a:lnSpc>
              <a:spcBef>
                <a:spcPts val="0"/>
              </a:spcBef>
              <a:buFontTx/>
              <a:buAutoNum type="arabicPeriod"/>
              <a:defRPr sz="1600">
                <a:latin typeface="Times New Roman"/>
                <a:ea typeface="Times New Roman"/>
                <a:cs typeface="Times New Roman"/>
                <a:sym typeface="Times New Roman"/>
              </a:defRPr>
            </a:pPr>
            <a:r>
              <a:rPr dirty="0"/>
              <a:t>Sprint 3</a:t>
            </a:r>
          </a:p>
          <a:p>
            <a:pPr marL="914400" indent="-296545">
              <a:lnSpc>
                <a:spcPct val="150000"/>
              </a:lnSpc>
              <a:spcBef>
                <a:spcPts val="0"/>
              </a:spcBef>
              <a:buChar char="●"/>
              <a:defRPr sz="1600">
                <a:latin typeface="Times New Roman"/>
                <a:ea typeface="Times New Roman"/>
                <a:cs typeface="Times New Roman"/>
                <a:sym typeface="Times New Roman"/>
              </a:defRPr>
            </a:pPr>
            <a:r>
              <a:rPr dirty="0"/>
              <a:t>User Stories</a:t>
            </a:r>
          </a:p>
          <a:p>
            <a:pPr marL="914400" indent="-296545">
              <a:lnSpc>
                <a:spcPct val="150000"/>
              </a:lnSpc>
              <a:spcBef>
                <a:spcPts val="0"/>
              </a:spcBef>
              <a:buChar char="●"/>
              <a:defRPr sz="1600">
                <a:latin typeface="Times New Roman"/>
                <a:ea typeface="Times New Roman"/>
                <a:cs typeface="Times New Roman"/>
                <a:sym typeface="Times New Roman"/>
              </a:defRPr>
            </a:pPr>
            <a:r>
              <a:rPr dirty="0"/>
              <a:t>Test Cases</a:t>
            </a:r>
          </a:p>
          <a:p>
            <a:pPr marL="914400" indent="-296545">
              <a:lnSpc>
                <a:spcPct val="150000"/>
              </a:lnSpc>
              <a:spcBef>
                <a:spcPts val="0"/>
              </a:spcBef>
              <a:buChar char="●"/>
              <a:defRPr sz="1600">
                <a:latin typeface="Times New Roman"/>
                <a:ea typeface="Times New Roman"/>
                <a:cs typeface="Times New Roman"/>
                <a:sym typeface="Times New Roman"/>
              </a:defRPr>
            </a:pPr>
            <a:r>
              <a:rPr dirty="0"/>
              <a:t>Stories Completed</a:t>
            </a:r>
          </a:p>
          <a:p>
            <a:pPr marL="914400" indent="-296545">
              <a:lnSpc>
                <a:spcPct val="150000"/>
              </a:lnSpc>
              <a:spcBef>
                <a:spcPts val="0"/>
              </a:spcBef>
              <a:buChar char="●"/>
              <a:defRPr sz="1600">
                <a:latin typeface="Times New Roman"/>
                <a:ea typeface="Times New Roman"/>
                <a:cs typeface="Times New Roman"/>
                <a:sym typeface="Times New Roman"/>
              </a:defRPr>
            </a:pPr>
            <a:r>
              <a:rPr dirty="0"/>
              <a:t>Stories Not Completed</a:t>
            </a:r>
          </a:p>
          <a:p>
            <a:pPr marL="457200" indent="-316865">
              <a:lnSpc>
                <a:spcPct val="150000"/>
              </a:lnSpc>
              <a:spcBef>
                <a:spcPts val="0"/>
              </a:spcBef>
              <a:buFontTx/>
              <a:buAutoNum type="arabicPeriod" startAt="9"/>
              <a:defRPr sz="1600">
                <a:latin typeface="Times New Roman"/>
                <a:ea typeface="Times New Roman"/>
                <a:cs typeface="Times New Roman"/>
                <a:sym typeface="Times New Roman"/>
              </a:defRPr>
            </a:pPr>
            <a:r>
              <a:rPr dirty="0"/>
              <a:t>Metrics</a:t>
            </a:r>
          </a:p>
          <a:p>
            <a:pPr marL="457200" indent="-316865">
              <a:lnSpc>
                <a:spcPct val="150000"/>
              </a:lnSpc>
              <a:spcBef>
                <a:spcPts val="0"/>
              </a:spcBef>
              <a:buFontTx/>
              <a:buAutoNum type="arabicPeriod" startAt="9"/>
              <a:defRPr sz="1600">
                <a:latin typeface="Times New Roman"/>
                <a:ea typeface="Times New Roman"/>
                <a:cs typeface="Times New Roman"/>
                <a:sym typeface="Times New Roman"/>
              </a:defRPr>
            </a:pPr>
            <a:r>
              <a:rPr dirty="0"/>
              <a:t> Retrospective</a:t>
            </a:r>
          </a:p>
          <a:p>
            <a:pPr marL="457200" indent="-316865">
              <a:lnSpc>
                <a:spcPct val="150000"/>
              </a:lnSpc>
              <a:spcBef>
                <a:spcPts val="0"/>
              </a:spcBef>
              <a:buFontTx/>
              <a:buAutoNum type="arabicPeriod" startAt="9"/>
              <a:defRPr sz="1600">
                <a:latin typeface="Times New Roman"/>
                <a:ea typeface="Times New Roman"/>
                <a:cs typeface="Times New Roman"/>
                <a:sym typeface="Times New Roman"/>
              </a:defRPr>
            </a:pPr>
            <a:r>
              <a:rPr dirty="0"/>
              <a:t>Project Demo</a:t>
            </a:r>
          </a:p>
        </p:txBody>
      </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 name="Title 1"/>
          <p:cNvSpPr txBox="1">
            <a:spLocks noGrp="1"/>
          </p:cNvSpPr>
          <p:nvPr>
            <p:ph type="title"/>
          </p:nvPr>
        </p:nvSpPr>
        <p:spPr>
          <a:xfrm>
            <a:off x="406680" y="887458"/>
            <a:ext cx="5992762" cy="629265"/>
          </a:xfrm>
          <a:prstGeom prst="rect">
            <a:avLst/>
          </a:prstGeom>
        </p:spPr>
        <p:txBody>
          <a:bodyPr/>
          <a:lstStyle>
            <a:lvl1pPr>
              <a:defRPr b="1">
                <a:latin typeface="Times New Roman"/>
                <a:ea typeface="Times New Roman"/>
                <a:cs typeface="Times New Roman"/>
                <a:sym typeface="Times New Roman"/>
              </a:defRPr>
            </a:lvl1pPr>
          </a:lstStyle>
          <a:p>
            <a:r>
              <a:t>Getting to know the Team…</a:t>
            </a:r>
          </a:p>
        </p:txBody>
      </p:sp>
      <p:grpSp>
        <p:nvGrpSpPr>
          <p:cNvPr id="182" name="Content Placeholder 6"/>
          <p:cNvGrpSpPr/>
          <p:nvPr/>
        </p:nvGrpSpPr>
        <p:grpSpPr>
          <a:xfrm>
            <a:off x="3084772" y="2050387"/>
            <a:ext cx="2503936" cy="2594899"/>
            <a:chOff x="0" y="0"/>
            <a:chExt cx="2503934" cy="2594898"/>
          </a:xfrm>
        </p:grpSpPr>
        <p:pic>
          <p:nvPicPr>
            <p:cNvPr id="181" name="Content Placeholder 6" descr="Content Placeholder 6"/>
            <p:cNvPicPr>
              <a:picLocks noChangeAspect="1"/>
            </p:cNvPicPr>
            <p:nvPr/>
          </p:nvPicPr>
          <p:blipFill>
            <a:blip r:embed="rId2"/>
            <a:srcRect t="22038"/>
            <a:stretch>
              <a:fillRect/>
            </a:stretch>
          </p:blipFill>
          <p:spPr>
            <a:xfrm>
              <a:off x="38100" y="25400"/>
              <a:ext cx="2427735" cy="2467899"/>
            </a:xfrm>
            <a:prstGeom prst="rect">
              <a:avLst/>
            </a:prstGeom>
            <a:ln>
              <a:noFill/>
            </a:ln>
            <a:effectLst/>
          </p:spPr>
        </p:pic>
        <p:pic>
          <p:nvPicPr>
            <p:cNvPr id="180" name="Content Placeholder 6" descr="Content Placeholder 6"/>
            <p:cNvPicPr>
              <a:picLocks/>
            </p:cNvPicPr>
            <p:nvPr/>
          </p:nvPicPr>
          <p:blipFill>
            <a:blip r:embed="rId3"/>
            <a:stretch>
              <a:fillRect/>
            </a:stretch>
          </p:blipFill>
          <p:spPr>
            <a:xfrm>
              <a:off x="0" y="0"/>
              <a:ext cx="2503935" cy="2594899"/>
            </a:xfrm>
            <a:prstGeom prst="rect">
              <a:avLst/>
            </a:prstGeom>
            <a:effectLst/>
          </p:spPr>
        </p:pic>
      </p:grpSp>
      <p:sp>
        <p:nvSpPr>
          <p:cNvPr id="183" name="TextBox 8"/>
          <p:cNvSpPr txBox="1"/>
          <p:nvPr/>
        </p:nvSpPr>
        <p:spPr>
          <a:xfrm>
            <a:off x="3480325" y="4606874"/>
            <a:ext cx="1712780" cy="49028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lgn="ctr">
              <a:defRPr sz="1400" b="1">
                <a:solidFill>
                  <a:srgbClr val="FFFFFF"/>
                </a:solidFill>
                <a:latin typeface="Times New Roman"/>
                <a:ea typeface="Times New Roman"/>
                <a:cs typeface="Times New Roman"/>
                <a:sym typeface="Times New Roman"/>
              </a:defRPr>
            </a:pPr>
            <a:r>
              <a:t>Ashwitha Maram</a:t>
            </a:r>
          </a:p>
          <a:p>
            <a:pPr algn="ctr">
              <a:defRPr sz="1400">
                <a:solidFill>
                  <a:srgbClr val="FFFFFF"/>
                </a:solidFill>
                <a:latin typeface="Times New Roman"/>
                <a:ea typeface="Times New Roman"/>
                <a:cs typeface="Times New Roman"/>
                <a:sym typeface="Times New Roman"/>
              </a:defRPr>
            </a:pPr>
            <a:r>
              <a:t>Developer/Tester</a:t>
            </a:r>
          </a:p>
        </p:txBody>
      </p:sp>
      <p:grpSp>
        <p:nvGrpSpPr>
          <p:cNvPr id="186" name="Picture 10"/>
          <p:cNvGrpSpPr/>
          <p:nvPr/>
        </p:nvGrpSpPr>
        <p:grpSpPr>
          <a:xfrm>
            <a:off x="447270" y="2050387"/>
            <a:ext cx="2266335" cy="2594899"/>
            <a:chOff x="0" y="0"/>
            <a:chExt cx="2266334" cy="2594898"/>
          </a:xfrm>
        </p:grpSpPr>
        <p:pic>
          <p:nvPicPr>
            <p:cNvPr id="185" name="Picture 10" descr="Picture 10"/>
            <p:cNvPicPr>
              <a:picLocks noChangeAspect="1"/>
            </p:cNvPicPr>
            <p:nvPr/>
          </p:nvPicPr>
          <p:blipFill>
            <a:blip r:embed="rId4"/>
            <a:srcRect t="11930"/>
            <a:stretch>
              <a:fillRect/>
            </a:stretch>
          </p:blipFill>
          <p:spPr>
            <a:xfrm>
              <a:off x="38100" y="25399"/>
              <a:ext cx="2190135" cy="2467899"/>
            </a:xfrm>
            <a:prstGeom prst="rect">
              <a:avLst/>
            </a:prstGeom>
            <a:ln>
              <a:noFill/>
            </a:ln>
            <a:effectLst/>
          </p:spPr>
        </p:pic>
        <p:pic>
          <p:nvPicPr>
            <p:cNvPr id="184" name="Picture 10" descr="Picture 10"/>
            <p:cNvPicPr>
              <a:picLocks/>
            </p:cNvPicPr>
            <p:nvPr/>
          </p:nvPicPr>
          <p:blipFill>
            <a:blip r:embed="rId5"/>
            <a:stretch>
              <a:fillRect/>
            </a:stretch>
          </p:blipFill>
          <p:spPr>
            <a:xfrm>
              <a:off x="0" y="0"/>
              <a:ext cx="2266335" cy="2594899"/>
            </a:xfrm>
            <a:prstGeom prst="rect">
              <a:avLst/>
            </a:prstGeom>
            <a:effectLst/>
          </p:spPr>
        </p:pic>
      </p:grpSp>
      <p:sp>
        <p:nvSpPr>
          <p:cNvPr id="187" name="TextBox 11"/>
          <p:cNvSpPr txBox="1"/>
          <p:nvPr/>
        </p:nvSpPr>
        <p:spPr>
          <a:xfrm>
            <a:off x="660049" y="4606874"/>
            <a:ext cx="1840599" cy="49028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lgn="ctr">
              <a:defRPr sz="1400">
                <a:solidFill>
                  <a:srgbClr val="FFFFFF"/>
                </a:solidFill>
                <a:latin typeface="Times New Roman"/>
                <a:ea typeface="Times New Roman"/>
                <a:cs typeface="Times New Roman"/>
                <a:sym typeface="Times New Roman"/>
              </a:defRPr>
            </a:pPr>
            <a:r>
              <a:rPr b="1"/>
              <a:t>Ashwanth Maram</a:t>
            </a:r>
            <a:br/>
            <a:r>
              <a:t>Full Stack Developer</a:t>
            </a:r>
          </a:p>
        </p:txBody>
      </p:sp>
      <p:grpSp>
        <p:nvGrpSpPr>
          <p:cNvPr id="190" name="Picture 12"/>
          <p:cNvGrpSpPr/>
          <p:nvPr/>
        </p:nvGrpSpPr>
        <p:grpSpPr>
          <a:xfrm>
            <a:off x="5769173" y="2050470"/>
            <a:ext cx="2927367" cy="2594734"/>
            <a:chOff x="0" y="0"/>
            <a:chExt cx="2927365" cy="2594732"/>
          </a:xfrm>
        </p:grpSpPr>
        <p:pic>
          <p:nvPicPr>
            <p:cNvPr id="189" name="Picture 12" descr="Picture 12"/>
            <p:cNvPicPr>
              <a:picLocks noChangeAspect="1"/>
            </p:cNvPicPr>
            <p:nvPr/>
          </p:nvPicPr>
          <p:blipFill>
            <a:blip r:embed="rId6"/>
            <a:srcRect t="29576" b="19666"/>
            <a:stretch>
              <a:fillRect/>
            </a:stretch>
          </p:blipFill>
          <p:spPr>
            <a:xfrm>
              <a:off x="38100" y="25400"/>
              <a:ext cx="2851166" cy="2467733"/>
            </a:xfrm>
            <a:prstGeom prst="rect">
              <a:avLst/>
            </a:prstGeom>
            <a:ln>
              <a:noFill/>
            </a:ln>
            <a:effectLst/>
          </p:spPr>
        </p:pic>
        <p:pic>
          <p:nvPicPr>
            <p:cNvPr id="188" name="Picture 12" descr="Picture 12"/>
            <p:cNvPicPr>
              <a:picLocks/>
            </p:cNvPicPr>
            <p:nvPr/>
          </p:nvPicPr>
          <p:blipFill>
            <a:blip r:embed="rId7"/>
            <a:stretch>
              <a:fillRect/>
            </a:stretch>
          </p:blipFill>
          <p:spPr>
            <a:xfrm>
              <a:off x="-1" y="0"/>
              <a:ext cx="2927367" cy="2594733"/>
            </a:xfrm>
            <a:prstGeom prst="rect">
              <a:avLst/>
            </a:prstGeom>
            <a:effectLst/>
          </p:spPr>
        </p:pic>
      </p:grpSp>
      <p:sp>
        <p:nvSpPr>
          <p:cNvPr id="191" name="TextBox 13"/>
          <p:cNvSpPr txBox="1"/>
          <p:nvPr/>
        </p:nvSpPr>
        <p:spPr>
          <a:xfrm>
            <a:off x="6054459" y="4606874"/>
            <a:ext cx="2356795" cy="49028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lgn="ctr">
              <a:defRPr sz="1400" b="1">
                <a:solidFill>
                  <a:srgbClr val="FFFFFF"/>
                </a:solidFill>
                <a:latin typeface="Times New Roman"/>
                <a:ea typeface="Times New Roman"/>
                <a:cs typeface="Times New Roman"/>
                <a:sym typeface="Times New Roman"/>
              </a:defRPr>
            </a:pPr>
            <a:r>
              <a:t>Raj Mandaliya</a:t>
            </a:r>
          </a:p>
          <a:p>
            <a:pPr algn="ctr">
              <a:defRPr sz="1400">
                <a:solidFill>
                  <a:srgbClr val="FFFFFF"/>
                </a:solidFill>
                <a:latin typeface="Times New Roman"/>
                <a:ea typeface="Times New Roman"/>
                <a:cs typeface="Times New Roman"/>
                <a:sym typeface="Times New Roman"/>
              </a:defRPr>
            </a:pPr>
            <a:r>
              <a:t>Block Chain Developer</a:t>
            </a:r>
          </a:p>
        </p:txBody>
      </p:sp>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 name="Title 1"/>
          <p:cNvSpPr txBox="1">
            <a:spLocks noGrp="1"/>
          </p:cNvSpPr>
          <p:nvPr>
            <p:ph type="title"/>
          </p:nvPr>
        </p:nvSpPr>
        <p:spPr>
          <a:xfrm>
            <a:off x="469829" y="761159"/>
            <a:ext cx="6150078" cy="550606"/>
          </a:xfrm>
          <a:prstGeom prst="rect">
            <a:avLst/>
          </a:prstGeom>
        </p:spPr>
        <p:txBody>
          <a:bodyPr/>
          <a:lstStyle>
            <a:lvl1pPr>
              <a:defRPr b="1">
                <a:latin typeface="Times New Roman"/>
                <a:ea typeface="Times New Roman"/>
                <a:cs typeface="Times New Roman"/>
                <a:sym typeface="Times New Roman"/>
              </a:defRPr>
            </a:lvl1pPr>
          </a:lstStyle>
          <a:p>
            <a:r>
              <a:t>Getting to know the Team…</a:t>
            </a:r>
          </a:p>
        </p:txBody>
      </p:sp>
      <p:grpSp>
        <p:nvGrpSpPr>
          <p:cNvPr id="196" name="Content Placeholder 4"/>
          <p:cNvGrpSpPr/>
          <p:nvPr/>
        </p:nvGrpSpPr>
        <p:grpSpPr>
          <a:xfrm>
            <a:off x="513846" y="1863738"/>
            <a:ext cx="2391972" cy="2623308"/>
            <a:chOff x="0" y="0"/>
            <a:chExt cx="2391971" cy="2623306"/>
          </a:xfrm>
        </p:grpSpPr>
        <p:pic>
          <p:nvPicPr>
            <p:cNvPr id="195" name="Content Placeholder 4" descr="Content Placeholder 4"/>
            <p:cNvPicPr>
              <a:picLocks noChangeAspect="1"/>
            </p:cNvPicPr>
            <p:nvPr/>
          </p:nvPicPr>
          <p:blipFill>
            <a:blip r:embed="rId2"/>
            <a:stretch>
              <a:fillRect/>
            </a:stretch>
          </p:blipFill>
          <p:spPr>
            <a:xfrm>
              <a:off x="38100" y="25400"/>
              <a:ext cx="2315772" cy="2496307"/>
            </a:xfrm>
            <a:prstGeom prst="rect">
              <a:avLst/>
            </a:prstGeom>
            <a:ln>
              <a:noFill/>
            </a:ln>
            <a:effectLst/>
          </p:spPr>
        </p:pic>
        <p:pic>
          <p:nvPicPr>
            <p:cNvPr id="194" name="Content Placeholder 4" descr="Content Placeholder 4"/>
            <p:cNvPicPr>
              <a:picLocks/>
            </p:cNvPicPr>
            <p:nvPr/>
          </p:nvPicPr>
          <p:blipFill>
            <a:blip r:embed="rId3"/>
            <a:stretch>
              <a:fillRect/>
            </a:stretch>
          </p:blipFill>
          <p:spPr>
            <a:xfrm>
              <a:off x="0" y="0"/>
              <a:ext cx="2391972" cy="2623307"/>
            </a:xfrm>
            <a:prstGeom prst="rect">
              <a:avLst/>
            </a:prstGeom>
            <a:effectLst/>
          </p:spPr>
        </p:pic>
      </p:grpSp>
      <p:sp>
        <p:nvSpPr>
          <p:cNvPr id="197" name="TextBox 5"/>
          <p:cNvSpPr txBox="1"/>
          <p:nvPr/>
        </p:nvSpPr>
        <p:spPr>
          <a:xfrm>
            <a:off x="109364" y="4486963"/>
            <a:ext cx="3200936" cy="49028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lgn="ctr">
              <a:defRPr sz="1400">
                <a:solidFill>
                  <a:srgbClr val="FFFFFF"/>
                </a:solidFill>
                <a:latin typeface="Times New Roman"/>
                <a:ea typeface="Times New Roman"/>
                <a:cs typeface="Times New Roman"/>
                <a:sym typeface="Times New Roman"/>
              </a:defRPr>
            </a:pPr>
            <a:r>
              <a:rPr b="1"/>
              <a:t>Vinukonda Yashwanth Reddy</a:t>
            </a:r>
            <a:br/>
            <a:r>
              <a:t>Backend and Database Engineer</a:t>
            </a:r>
          </a:p>
        </p:txBody>
      </p:sp>
      <p:grpSp>
        <p:nvGrpSpPr>
          <p:cNvPr id="200" name="Picture 2"/>
          <p:cNvGrpSpPr/>
          <p:nvPr/>
        </p:nvGrpSpPr>
        <p:grpSpPr>
          <a:xfrm>
            <a:off x="3111382" y="1855349"/>
            <a:ext cx="2590441" cy="2623308"/>
            <a:chOff x="0" y="0"/>
            <a:chExt cx="2590439" cy="2623306"/>
          </a:xfrm>
        </p:grpSpPr>
        <p:pic>
          <p:nvPicPr>
            <p:cNvPr id="199" name="Picture 2" descr="Picture 2"/>
            <p:cNvPicPr>
              <a:picLocks noChangeAspect="1"/>
            </p:cNvPicPr>
            <p:nvPr/>
          </p:nvPicPr>
          <p:blipFill>
            <a:blip r:embed="rId4"/>
            <a:stretch>
              <a:fillRect/>
            </a:stretch>
          </p:blipFill>
          <p:spPr>
            <a:xfrm>
              <a:off x="38100" y="25400"/>
              <a:ext cx="2514240" cy="2496307"/>
            </a:xfrm>
            <a:prstGeom prst="rect">
              <a:avLst/>
            </a:prstGeom>
            <a:ln>
              <a:noFill/>
            </a:ln>
            <a:effectLst/>
          </p:spPr>
        </p:pic>
        <p:pic>
          <p:nvPicPr>
            <p:cNvPr id="198" name="Picture 2" descr="Picture 2"/>
            <p:cNvPicPr>
              <a:picLocks/>
            </p:cNvPicPr>
            <p:nvPr/>
          </p:nvPicPr>
          <p:blipFill>
            <a:blip r:embed="rId5"/>
            <a:stretch>
              <a:fillRect/>
            </a:stretch>
          </p:blipFill>
          <p:spPr>
            <a:xfrm>
              <a:off x="0" y="0"/>
              <a:ext cx="2590440" cy="2623307"/>
            </a:xfrm>
            <a:prstGeom prst="rect">
              <a:avLst/>
            </a:prstGeom>
            <a:effectLst/>
          </p:spPr>
        </p:pic>
      </p:grpSp>
      <p:sp>
        <p:nvSpPr>
          <p:cNvPr id="201" name="Rectangle 3"/>
          <p:cNvSpPr txBox="1"/>
          <p:nvPr/>
        </p:nvSpPr>
        <p:spPr>
          <a:xfrm>
            <a:off x="2778699" y="4486963"/>
            <a:ext cx="3255807" cy="49028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lgn="ctr">
              <a:defRPr sz="1400">
                <a:solidFill>
                  <a:srgbClr val="FFFFFF"/>
                </a:solidFill>
                <a:latin typeface="Times New Roman"/>
                <a:ea typeface="Times New Roman"/>
                <a:cs typeface="Times New Roman"/>
                <a:sym typeface="Times New Roman"/>
              </a:defRPr>
            </a:pPr>
            <a:r>
              <a:rPr b="1"/>
              <a:t>Nyi Nyi Lwin</a:t>
            </a:r>
            <a:br/>
            <a:r>
              <a:t>Full Stack Developer</a:t>
            </a:r>
          </a:p>
        </p:txBody>
      </p:sp>
      <p:grpSp>
        <p:nvGrpSpPr>
          <p:cNvPr id="204" name="Picture 6"/>
          <p:cNvGrpSpPr/>
          <p:nvPr/>
        </p:nvGrpSpPr>
        <p:grpSpPr>
          <a:xfrm>
            <a:off x="5907387" y="1855349"/>
            <a:ext cx="2830747" cy="2623308"/>
            <a:chOff x="0" y="0"/>
            <a:chExt cx="2830746" cy="2623306"/>
          </a:xfrm>
        </p:grpSpPr>
        <p:pic>
          <p:nvPicPr>
            <p:cNvPr id="203" name="Picture 6" descr="Picture 6"/>
            <p:cNvPicPr>
              <a:picLocks noChangeAspect="1"/>
            </p:cNvPicPr>
            <p:nvPr/>
          </p:nvPicPr>
          <p:blipFill>
            <a:blip r:embed="rId6"/>
            <a:stretch>
              <a:fillRect/>
            </a:stretch>
          </p:blipFill>
          <p:spPr>
            <a:xfrm>
              <a:off x="38100" y="25400"/>
              <a:ext cx="2754547" cy="2496307"/>
            </a:xfrm>
            <a:prstGeom prst="rect">
              <a:avLst/>
            </a:prstGeom>
            <a:ln>
              <a:noFill/>
            </a:ln>
            <a:effectLst/>
          </p:spPr>
        </p:pic>
        <p:pic>
          <p:nvPicPr>
            <p:cNvPr id="202" name="Picture 6" descr="Picture 6"/>
            <p:cNvPicPr>
              <a:picLocks/>
            </p:cNvPicPr>
            <p:nvPr/>
          </p:nvPicPr>
          <p:blipFill>
            <a:blip r:embed="rId7"/>
            <a:stretch>
              <a:fillRect/>
            </a:stretch>
          </p:blipFill>
          <p:spPr>
            <a:xfrm>
              <a:off x="0" y="0"/>
              <a:ext cx="2830747" cy="2623307"/>
            </a:xfrm>
            <a:prstGeom prst="rect">
              <a:avLst/>
            </a:prstGeom>
            <a:effectLst/>
          </p:spPr>
        </p:pic>
      </p:grpSp>
      <p:sp>
        <p:nvSpPr>
          <p:cNvPr id="205" name="Rectangle 7"/>
          <p:cNvSpPr txBox="1"/>
          <p:nvPr/>
        </p:nvSpPr>
        <p:spPr>
          <a:xfrm>
            <a:off x="5694857" y="4486963"/>
            <a:ext cx="3255807" cy="49028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lgn="ctr">
              <a:defRPr sz="1400" b="1">
                <a:solidFill>
                  <a:srgbClr val="FFFFFF"/>
                </a:solidFill>
                <a:latin typeface="Times New Roman"/>
                <a:ea typeface="Times New Roman"/>
                <a:cs typeface="Times New Roman"/>
                <a:sym typeface="Times New Roman"/>
              </a:defRPr>
            </a:pPr>
            <a:r>
              <a:t>Naveen Pesalabanda</a:t>
            </a:r>
          </a:p>
          <a:p>
            <a:pPr algn="ctr">
              <a:defRPr sz="1400">
                <a:solidFill>
                  <a:srgbClr val="FFFFFF"/>
                </a:solidFill>
                <a:latin typeface="Times New Roman"/>
                <a:ea typeface="Times New Roman"/>
                <a:cs typeface="Times New Roman"/>
                <a:sym typeface="Times New Roman"/>
              </a:defRPr>
            </a:pPr>
            <a:r>
              <a:t>SCRUM Master</a:t>
            </a:r>
          </a:p>
        </p:txBody>
      </p:sp>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 name="Title 1"/>
          <p:cNvSpPr txBox="1">
            <a:spLocks noGrp="1"/>
          </p:cNvSpPr>
          <p:nvPr>
            <p:ph type="title"/>
          </p:nvPr>
        </p:nvSpPr>
        <p:spPr>
          <a:xfrm>
            <a:off x="511628" y="1219710"/>
            <a:ext cx="7772401" cy="1061884"/>
          </a:xfrm>
          <a:prstGeom prst="rect">
            <a:avLst/>
          </a:prstGeom>
        </p:spPr>
        <p:txBody>
          <a:bodyPr/>
          <a:lstStyle>
            <a:lvl1pPr>
              <a:defRPr b="1">
                <a:latin typeface="Times New Roman"/>
                <a:ea typeface="Times New Roman"/>
                <a:cs typeface="Times New Roman"/>
                <a:sym typeface="Times New Roman"/>
              </a:defRPr>
            </a:lvl1pPr>
          </a:lstStyle>
          <a:p>
            <a:r>
              <a:t>Improvements</a:t>
            </a:r>
          </a:p>
        </p:txBody>
      </p:sp>
      <p:sp>
        <p:nvSpPr>
          <p:cNvPr id="208" name="Content Placeholder 2"/>
          <p:cNvSpPr txBox="1">
            <a:spLocks noGrp="1"/>
          </p:cNvSpPr>
          <p:nvPr>
            <p:ph type="body" sz="half" idx="1"/>
          </p:nvPr>
        </p:nvSpPr>
        <p:spPr>
          <a:xfrm>
            <a:off x="520553" y="1847465"/>
            <a:ext cx="4865285" cy="4119718"/>
          </a:xfrm>
          <a:prstGeom prst="rect">
            <a:avLst/>
          </a:prstGeom>
        </p:spPr>
        <p:txBody>
          <a:bodyPr/>
          <a:lstStyle/>
          <a:p>
            <a:pPr>
              <a:defRPr>
                <a:latin typeface="Times New Roman"/>
                <a:ea typeface="Times New Roman"/>
                <a:cs typeface="Times New Roman"/>
                <a:sym typeface="Times New Roman"/>
              </a:defRPr>
            </a:pPr>
            <a:r>
              <a:t>Improved Algorithms section</a:t>
            </a:r>
          </a:p>
          <a:p>
            <a:pPr>
              <a:defRPr>
                <a:latin typeface="Times New Roman"/>
                <a:ea typeface="Times New Roman"/>
                <a:cs typeface="Times New Roman"/>
                <a:sym typeface="Times New Roman"/>
              </a:defRPr>
            </a:pPr>
            <a:r>
              <a:t>Improved sprint backlog and product backlog</a:t>
            </a:r>
          </a:p>
          <a:p>
            <a:pPr>
              <a:defRPr>
                <a:latin typeface="Times New Roman"/>
                <a:ea typeface="Times New Roman"/>
                <a:cs typeface="Times New Roman"/>
                <a:sym typeface="Times New Roman"/>
              </a:defRPr>
            </a:pPr>
            <a:r>
              <a:t>Improved test cases</a:t>
            </a:r>
          </a:p>
          <a:p>
            <a:pPr>
              <a:defRPr>
                <a:latin typeface="Times New Roman"/>
                <a:ea typeface="Times New Roman"/>
                <a:cs typeface="Times New Roman"/>
                <a:sym typeface="Times New Roman"/>
              </a:defRPr>
            </a:pPr>
            <a:r>
              <a:t>Improved the Metrics (Team Velocity, Sprint Burn down Chart, Completed Committed Ratio)</a:t>
            </a:r>
          </a:p>
          <a:p>
            <a:pPr>
              <a:defRPr>
                <a:latin typeface="Times New Roman"/>
                <a:ea typeface="Times New Roman"/>
                <a:cs typeface="Times New Roman"/>
                <a:sym typeface="Times New Roman"/>
              </a:defRPr>
            </a:pPr>
            <a:r>
              <a:t>Improved project demo section </a:t>
            </a:r>
          </a:p>
          <a:p>
            <a:endParaRPr/>
          </a:p>
        </p:txBody>
      </p:sp>
      <p:pic>
        <p:nvPicPr>
          <p:cNvPr id="209" name="pasted-movie.png" descr="pasted-movie.png"/>
          <p:cNvPicPr>
            <a:picLocks noChangeAspect="1"/>
          </p:cNvPicPr>
          <p:nvPr/>
        </p:nvPicPr>
        <p:blipFill>
          <a:blip r:embed="rId2"/>
          <a:stretch>
            <a:fillRect/>
          </a:stretch>
        </p:blipFill>
        <p:spPr>
          <a:xfrm>
            <a:off x="6273799" y="2328279"/>
            <a:ext cx="2201443" cy="2201442"/>
          </a:xfrm>
          <a:prstGeom prst="rect">
            <a:avLst/>
          </a:prstGeom>
          <a:ln w="12700">
            <a:miter lim="400000"/>
          </a:ln>
        </p:spPr>
      </p:pic>
    </p:spTree>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 name="Title 1"/>
          <p:cNvSpPr txBox="1">
            <a:spLocks noGrp="1"/>
          </p:cNvSpPr>
          <p:nvPr>
            <p:ph type="title"/>
          </p:nvPr>
        </p:nvSpPr>
        <p:spPr>
          <a:xfrm>
            <a:off x="467096" y="586009"/>
            <a:ext cx="7772401" cy="835743"/>
          </a:xfrm>
          <a:prstGeom prst="rect">
            <a:avLst/>
          </a:prstGeom>
        </p:spPr>
        <p:txBody>
          <a:bodyPr/>
          <a:lstStyle>
            <a:lvl1pPr>
              <a:defRPr b="1">
                <a:latin typeface="Times New Roman"/>
                <a:ea typeface="Times New Roman"/>
                <a:cs typeface="Times New Roman"/>
                <a:sym typeface="Times New Roman"/>
              </a:defRPr>
            </a:lvl1pPr>
          </a:lstStyle>
          <a:p>
            <a:r>
              <a:t>Project Description</a:t>
            </a:r>
          </a:p>
        </p:txBody>
      </p:sp>
      <p:pic>
        <p:nvPicPr>
          <p:cNvPr id="212" name="Image" descr="Image"/>
          <p:cNvPicPr>
            <a:picLocks noChangeAspect="1"/>
          </p:cNvPicPr>
          <p:nvPr/>
        </p:nvPicPr>
        <p:blipFill>
          <a:blip r:embed="rId2"/>
          <a:stretch>
            <a:fillRect/>
          </a:stretch>
        </p:blipFill>
        <p:spPr>
          <a:xfrm>
            <a:off x="533020" y="1454727"/>
            <a:ext cx="4911206" cy="4463602"/>
          </a:xfrm>
          <a:prstGeom prst="rect">
            <a:avLst/>
          </a:prstGeom>
          <a:ln w="12700">
            <a:miter lim="400000"/>
          </a:ln>
        </p:spPr>
      </p:pic>
    </p:spTree>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 name="Title 1"/>
          <p:cNvSpPr txBox="1">
            <a:spLocks noGrp="1"/>
          </p:cNvSpPr>
          <p:nvPr>
            <p:ph type="title"/>
          </p:nvPr>
        </p:nvSpPr>
        <p:spPr>
          <a:xfrm>
            <a:off x="457200" y="609601"/>
            <a:ext cx="7772400" cy="993058"/>
          </a:xfrm>
          <a:prstGeom prst="rect">
            <a:avLst/>
          </a:prstGeom>
        </p:spPr>
        <p:txBody>
          <a:bodyPr/>
          <a:lstStyle>
            <a:lvl1pPr>
              <a:defRPr b="1">
                <a:latin typeface="Times New Roman"/>
                <a:ea typeface="Times New Roman"/>
                <a:cs typeface="Times New Roman"/>
                <a:sym typeface="Times New Roman"/>
              </a:defRPr>
            </a:lvl1pPr>
          </a:lstStyle>
          <a:p>
            <a:r>
              <a:t>Team Working Agreement</a:t>
            </a:r>
          </a:p>
        </p:txBody>
      </p:sp>
      <p:sp>
        <p:nvSpPr>
          <p:cNvPr id="215" name="Content Placeholder 2"/>
          <p:cNvSpPr txBox="1">
            <a:spLocks noGrp="1"/>
          </p:cNvSpPr>
          <p:nvPr>
            <p:ph type="body" sz="half" idx="1"/>
          </p:nvPr>
        </p:nvSpPr>
        <p:spPr>
          <a:xfrm>
            <a:off x="561297" y="1599637"/>
            <a:ext cx="3813048" cy="4050893"/>
          </a:xfrm>
          <a:prstGeom prst="rect">
            <a:avLst/>
          </a:prstGeom>
        </p:spPr>
        <p:txBody>
          <a:bodyPr/>
          <a:lstStyle/>
          <a:p>
            <a:pPr marL="0" indent="0">
              <a:buSzTx/>
              <a:buNone/>
              <a:defRPr sz="1600" b="1">
                <a:latin typeface="Times New Roman"/>
                <a:ea typeface="Times New Roman"/>
                <a:cs typeface="Times New Roman"/>
                <a:sym typeface="Times New Roman"/>
              </a:defRPr>
            </a:pPr>
            <a:r>
              <a:t>Communication Expectations</a:t>
            </a:r>
          </a:p>
          <a:p>
            <a:pPr>
              <a:defRPr sz="1500">
                <a:latin typeface="Times New Roman"/>
                <a:ea typeface="Times New Roman"/>
                <a:cs typeface="Times New Roman"/>
                <a:sym typeface="Times New Roman"/>
              </a:defRPr>
            </a:pPr>
            <a:r>
              <a:t>Use  Zoom, GitHub for collaboration.</a:t>
            </a:r>
            <a:endParaRPr sz="1600"/>
          </a:p>
          <a:p>
            <a:pPr>
              <a:defRPr sz="1500">
                <a:latin typeface="Times New Roman"/>
                <a:ea typeface="Times New Roman"/>
                <a:cs typeface="Times New Roman"/>
                <a:sym typeface="Times New Roman"/>
              </a:defRPr>
            </a:pPr>
            <a:r>
              <a:t>Respect everyone opinions; decisions are made collectively.</a:t>
            </a:r>
            <a:endParaRPr sz="1600"/>
          </a:p>
          <a:p>
            <a:pPr>
              <a:defRPr sz="1500">
                <a:latin typeface="Times New Roman"/>
                <a:ea typeface="Times New Roman"/>
                <a:cs typeface="Times New Roman"/>
                <a:sym typeface="Times New Roman"/>
              </a:defRPr>
            </a:pPr>
            <a:r>
              <a:t>Notifying the team in advance if you cannot complete or attend.</a:t>
            </a:r>
            <a:endParaRPr sz="1600"/>
          </a:p>
          <a:p>
            <a:pPr>
              <a:defRPr sz="1500">
                <a:latin typeface="Times New Roman"/>
                <a:ea typeface="Times New Roman"/>
                <a:cs typeface="Times New Roman"/>
                <a:sym typeface="Times New Roman"/>
              </a:defRPr>
            </a:pPr>
            <a:r>
              <a:t>In case of any conflicts, present research-backed solutions and resolve by majority vote.</a:t>
            </a:r>
            <a:endParaRPr sz="1600"/>
          </a:p>
          <a:p>
            <a:pPr>
              <a:defRPr sz="1500">
                <a:latin typeface="Times New Roman"/>
                <a:ea typeface="Times New Roman"/>
                <a:cs typeface="Times New Roman"/>
                <a:sym typeface="Times New Roman"/>
              </a:defRPr>
            </a:pPr>
            <a:r>
              <a:t>Keeping everyone updated when pushing code or making changes.</a:t>
            </a:r>
            <a:endParaRPr sz="1600"/>
          </a:p>
          <a:p>
            <a:pPr>
              <a:defRPr sz="1500">
                <a:latin typeface="Times New Roman"/>
                <a:ea typeface="Times New Roman"/>
                <a:cs typeface="Times New Roman"/>
                <a:sym typeface="Times New Roman"/>
              </a:defRPr>
            </a:pPr>
            <a:r>
              <a:t>No last-minute dumping of work on others</a:t>
            </a:r>
            <a:r>
              <a:rPr>
                <a:latin typeface="Calibri"/>
                <a:ea typeface="Calibri"/>
                <a:cs typeface="Calibri"/>
                <a:sym typeface="Calibri"/>
              </a:rPr>
              <a:t>.</a:t>
            </a:r>
          </a:p>
        </p:txBody>
      </p:sp>
      <p:sp>
        <p:nvSpPr>
          <p:cNvPr id="216" name="Content Placeholder 3"/>
          <p:cNvSpPr txBox="1"/>
          <p:nvPr/>
        </p:nvSpPr>
        <p:spPr>
          <a:xfrm>
            <a:off x="4574333" y="1654821"/>
            <a:ext cx="3792304" cy="394273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tIns="45720" rIns="45719" bIns="45720" anchor="ctr">
            <a:normAutofit/>
          </a:bodyPr>
          <a:lstStyle/>
          <a:p>
            <a:pPr>
              <a:spcBef>
                <a:spcPts val="1000"/>
              </a:spcBef>
              <a:defRPr sz="1500" b="1">
                <a:solidFill>
                  <a:srgbClr val="FFFFFF"/>
                </a:solidFill>
                <a:latin typeface="Times New Roman"/>
                <a:ea typeface="Times New Roman"/>
                <a:cs typeface="Times New Roman"/>
                <a:sym typeface="Times New Roman"/>
              </a:defRPr>
            </a:pPr>
            <a:r>
              <a:rPr sz="1600" dirty="0"/>
              <a:t>Meeting Schedules</a:t>
            </a:r>
          </a:p>
          <a:p>
            <a:pPr marL="285750" indent="-285750">
              <a:spcBef>
                <a:spcPts val="1000"/>
              </a:spcBef>
              <a:buClr>
                <a:srgbClr val="FFFFFF"/>
              </a:buClr>
              <a:buSzPct val="100000"/>
              <a:buFont typeface="Arial"/>
              <a:buChar char="•"/>
              <a:defRPr sz="1500">
                <a:solidFill>
                  <a:srgbClr val="FFFFFF"/>
                </a:solidFill>
                <a:latin typeface="Times New Roman"/>
                <a:ea typeface="Times New Roman"/>
                <a:cs typeface="Times New Roman"/>
                <a:sym typeface="Times New Roman"/>
              </a:defRPr>
            </a:pPr>
            <a:r>
              <a:rPr dirty="0"/>
              <a:t>Meetings will be held twice weekly on Zoom or Google meet</a:t>
            </a:r>
            <a:endParaRPr sz="1600" dirty="0"/>
          </a:p>
          <a:p>
            <a:pPr marL="285750" indent="-285750">
              <a:spcBef>
                <a:spcPts val="1000"/>
              </a:spcBef>
              <a:buClr>
                <a:srgbClr val="FFFFFF"/>
              </a:buClr>
              <a:buSzPct val="100000"/>
              <a:buFont typeface="Arial"/>
              <a:buChar char="•"/>
              <a:defRPr sz="1500">
                <a:solidFill>
                  <a:srgbClr val="FFFFFF"/>
                </a:solidFill>
                <a:latin typeface="Times New Roman"/>
                <a:ea typeface="Times New Roman"/>
                <a:cs typeface="Times New Roman"/>
                <a:sym typeface="Times New Roman"/>
              </a:defRPr>
            </a:pPr>
            <a:r>
              <a:rPr dirty="0"/>
              <a:t>Meeting time is set based on availability.</a:t>
            </a:r>
            <a:endParaRPr sz="1600" dirty="0"/>
          </a:p>
          <a:p>
            <a:pPr marL="285750" indent="-285750">
              <a:spcBef>
                <a:spcPts val="1000"/>
              </a:spcBef>
              <a:buClr>
                <a:srgbClr val="FFFFFF"/>
              </a:buClr>
              <a:buSzPct val="100000"/>
              <a:buFont typeface="Arial"/>
              <a:buChar char="•"/>
              <a:defRPr sz="1500">
                <a:solidFill>
                  <a:srgbClr val="FFFFFF"/>
                </a:solidFill>
                <a:latin typeface="Times New Roman"/>
                <a:ea typeface="Times New Roman"/>
                <a:cs typeface="Times New Roman"/>
                <a:sym typeface="Times New Roman"/>
              </a:defRPr>
            </a:pPr>
            <a:r>
              <a:rPr dirty="0"/>
              <a:t>Agenda will be shared in advance for preparation.</a:t>
            </a:r>
            <a:endParaRPr sz="1600" dirty="0"/>
          </a:p>
          <a:p>
            <a:pPr marL="285750" indent="-285750">
              <a:spcBef>
                <a:spcPts val="1000"/>
              </a:spcBef>
              <a:buClr>
                <a:srgbClr val="FFFFFF"/>
              </a:buClr>
              <a:buSzPct val="100000"/>
              <a:buFont typeface="Arial"/>
              <a:buChar char="•"/>
              <a:defRPr sz="1500">
                <a:solidFill>
                  <a:srgbClr val="FFFFFF"/>
                </a:solidFill>
                <a:latin typeface="Times New Roman"/>
                <a:ea typeface="Times New Roman"/>
                <a:cs typeface="Times New Roman"/>
                <a:sym typeface="Times New Roman"/>
              </a:defRPr>
            </a:pPr>
            <a:r>
              <a:rPr dirty="0"/>
              <a:t>Sprint Planning at the start, Retrospective at the end of each sprint.</a:t>
            </a:r>
            <a:endParaRPr sz="1600" dirty="0"/>
          </a:p>
          <a:p>
            <a:pPr marL="285750" indent="-285750">
              <a:spcBef>
                <a:spcPts val="1000"/>
              </a:spcBef>
              <a:buClr>
                <a:srgbClr val="FFFFFF"/>
              </a:buClr>
              <a:buSzPct val="100000"/>
              <a:buFont typeface="Arial"/>
              <a:buChar char="•"/>
              <a:defRPr sz="1500">
                <a:solidFill>
                  <a:srgbClr val="FFFFFF"/>
                </a:solidFill>
                <a:latin typeface="Times New Roman"/>
                <a:ea typeface="Times New Roman"/>
                <a:cs typeface="Times New Roman"/>
                <a:sym typeface="Times New Roman"/>
              </a:defRPr>
            </a:pPr>
            <a:r>
              <a:rPr dirty="0"/>
              <a:t>Absence must be informed ahead of time; member must read meeting summary.</a:t>
            </a:r>
            <a:endParaRPr sz="1600" dirty="0"/>
          </a:p>
          <a:p>
            <a:pPr marL="285750" indent="-285750">
              <a:spcBef>
                <a:spcPts val="1000"/>
              </a:spcBef>
              <a:buClr>
                <a:srgbClr val="FFFFFF"/>
              </a:buClr>
              <a:buSzPct val="100000"/>
              <a:buFont typeface="Arial"/>
              <a:buChar char="•"/>
              <a:defRPr sz="1500">
                <a:solidFill>
                  <a:srgbClr val="FFFFFF"/>
                </a:solidFill>
                <a:latin typeface="Times New Roman"/>
                <a:ea typeface="Times New Roman"/>
                <a:cs typeface="Times New Roman"/>
                <a:sym typeface="Times New Roman"/>
              </a:defRPr>
            </a:pPr>
            <a:r>
              <a:rPr dirty="0"/>
              <a:t>All members are expected to participate and contribute fairly.</a:t>
            </a:r>
            <a:endParaRPr sz="1600" dirty="0"/>
          </a:p>
        </p:txBody>
      </p:sp>
    </p:spTree>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 name="Title 1"/>
          <p:cNvSpPr txBox="1">
            <a:spLocks noGrp="1"/>
          </p:cNvSpPr>
          <p:nvPr>
            <p:ph type="title"/>
          </p:nvPr>
        </p:nvSpPr>
        <p:spPr>
          <a:xfrm>
            <a:off x="457200" y="609601"/>
            <a:ext cx="7772400" cy="993058"/>
          </a:xfrm>
          <a:prstGeom prst="rect">
            <a:avLst/>
          </a:prstGeom>
        </p:spPr>
        <p:txBody>
          <a:bodyPr/>
          <a:lstStyle>
            <a:lvl1pPr>
              <a:defRPr b="1">
                <a:latin typeface="Times New Roman"/>
                <a:ea typeface="Times New Roman"/>
                <a:cs typeface="Times New Roman"/>
                <a:sym typeface="Times New Roman"/>
              </a:defRPr>
            </a:lvl1pPr>
          </a:lstStyle>
          <a:p>
            <a:r>
              <a:t>Team Working Agreement</a:t>
            </a:r>
          </a:p>
        </p:txBody>
      </p:sp>
      <p:sp>
        <p:nvSpPr>
          <p:cNvPr id="219" name="Content Placeholder 2"/>
          <p:cNvSpPr txBox="1">
            <a:spLocks noGrp="1"/>
          </p:cNvSpPr>
          <p:nvPr>
            <p:ph type="body" sz="half" idx="1"/>
          </p:nvPr>
        </p:nvSpPr>
        <p:spPr>
          <a:xfrm>
            <a:off x="653011" y="1698464"/>
            <a:ext cx="3813049" cy="3813035"/>
          </a:xfrm>
          <a:prstGeom prst="rect">
            <a:avLst/>
          </a:prstGeom>
        </p:spPr>
        <p:txBody>
          <a:bodyPr/>
          <a:lstStyle/>
          <a:p>
            <a:pPr marL="0" indent="0">
              <a:buSzTx/>
              <a:buNone/>
              <a:defRPr sz="1600" b="1">
                <a:latin typeface="Times New Roman"/>
                <a:ea typeface="Times New Roman"/>
                <a:cs typeface="Times New Roman"/>
                <a:sym typeface="Times New Roman"/>
              </a:defRPr>
            </a:pPr>
            <a:r>
              <a:t>Team Dynamics &amp; Principles</a:t>
            </a:r>
          </a:p>
          <a:p>
            <a:pPr>
              <a:defRPr sz="1600">
                <a:latin typeface="Times New Roman"/>
                <a:ea typeface="Times New Roman"/>
                <a:cs typeface="Times New Roman"/>
                <a:sym typeface="Times New Roman"/>
              </a:defRPr>
            </a:pPr>
            <a:r>
              <a:t>Each member must clearly understand and own their tasks.</a:t>
            </a:r>
          </a:p>
          <a:p>
            <a:pPr>
              <a:defRPr sz="1600">
                <a:latin typeface="Times New Roman"/>
                <a:ea typeface="Times New Roman"/>
                <a:cs typeface="Times New Roman"/>
                <a:sym typeface="Times New Roman"/>
              </a:defRPr>
            </a:pPr>
            <a:r>
              <a:t>Workload distributed fairly; large tasks broken into smaller ones.</a:t>
            </a:r>
          </a:p>
          <a:p>
            <a:pPr>
              <a:defRPr sz="1600">
                <a:latin typeface="Times New Roman"/>
                <a:ea typeface="Times New Roman"/>
                <a:cs typeface="Times New Roman"/>
                <a:sym typeface="Times New Roman"/>
              </a:defRPr>
            </a:pPr>
            <a:r>
              <a:t>Every task has a </a:t>
            </a:r>
            <a:r>
              <a:rPr b="1"/>
              <a:t>deadline</a:t>
            </a:r>
            <a:r>
              <a:t> and review on completion.</a:t>
            </a:r>
          </a:p>
          <a:p>
            <a:pPr>
              <a:defRPr sz="1600">
                <a:latin typeface="Times New Roman"/>
                <a:ea typeface="Times New Roman"/>
                <a:cs typeface="Times New Roman"/>
                <a:sym typeface="Times New Roman"/>
              </a:defRPr>
            </a:pPr>
            <a:r>
              <a:t>Encourage problem-solving before escalating blockers.</a:t>
            </a:r>
          </a:p>
          <a:p>
            <a:pPr>
              <a:defRPr sz="1600">
                <a:latin typeface="Times New Roman"/>
                <a:ea typeface="Times New Roman"/>
                <a:cs typeface="Times New Roman"/>
                <a:sym typeface="Times New Roman"/>
              </a:defRPr>
            </a:pPr>
            <a:r>
              <a:t> Trackers must be updated regularly.</a:t>
            </a:r>
          </a:p>
          <a:p>
            <a:pPr>
              <a:defRPr sz="1600">
                <a:latin typeface="Times New Roman"/>
                <a:ea typeface="Times New Roman"/>
                <a:cs typeface="Times New Roman"/>
                <a:sym typeface="Times New Roman"/>
              </a:defRPr>
            </a:pPr>
            <a:r>
              <a:t>Work progress should be committed and shared on GitHub.</a:t>
            </a:r>
          </a:p>
        </p:txBody>
      </p:sp>
      <p:sp>
        <p:nvSpPr>
          <p:cNvPr id="220" name="Content Placeholder 3"/>
          <p:cNvSpPr txBox="1"/>
          <p:nvPr/>
        </p:nvSpPr>
        <p:spPr>
          <a:xfrm>
            <a:off x="4765250" y="1425474"/>
            <a:ext cx="3861128" cy="350979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normAutofit/>
          </a:bodyPr>
          <a:lstStyle/>
          <a:p>
            <a:pPr>
              <a:spcBef>
                <a:spcPts val="1000"/>
              </a:spcBef>
              <a:defRPr sz="1600" b="1">
                <a:solidFill>
                  <a:srgbClr val="FFFFFF"/>
                </a:solidFill>
                <a:latin typeface="Times New Roman"/>
                <a:ea typeface="Times New Roman"/>
                <a:cs typeface="Times New Roman"/>
                <a:sym typeface="Times New Roman"/>
              </a:defRPr>
            </a:pPr>
            <a:r>
              <a:t>Checklist for Task Completion</a:t>
            </a:r>
          </a:p>
          <a:p>
            <a:pPr marL="285750" indent="-285750">
              <a:spcBef>
                <a:spcPts val="1000"/>
              </a:spcBef>
              <a:buClr>
                <a:srgbClr val="FFFFFF"/>
              </a:buClr>
              <a:buSzPct val="100000"/>
              <a:buFont typeface="Arial"/>
              <a:buChar char="•"/>
              <a:defRPr sz="1600">
                <a:solidFill>
                  <a:srgbClr val="FFFFFF"/>
                </a:solidFill>
                <a:latin typeface="Times New Roman"/>
                <a:ea typeface="Times New Roman"/>
                <a:cs typeface="Times New Roman"/>
                <a:sym typeface="Times New Roman"/>
              </a:defRPr>
            </a:pPr>
            <a:r>
              <a:t>Code should run </a:t>
            </a:r>
            <a:r>
              <a:rPr b="1"/>
              <a:t>without errors</a:t>
            </a:r>
            <a:r>
              <a:t>.</a:t>
            </a:r>
          </a:p>
          <a:p>
            <a:pPr marL="285750" indent="-285750">
              <a:spcBef>
                <a:spcPts val="1000"/>
              </a:spcBef>
              <a:buClr>
                <a:srgbClr val="FFFFFF"/>
              </a:buClr>
              <a:buSzPct val="100000"/>
              <a:buFont typeface="Arial"/>
              <a:buChar char="•"/>
              <a:defRPr sz="1600">
                <a:solidFill>
                  <a:srgbClr val="FFFFFF"/>
                </a:solidFill>
                <a:latin typeface="Times New Roman"/>
                <a:ea typeface="Times New Roman"/>
                <a:cs typeface="Times New Roman"/>
                <a:sym typeface="Times New Roman"/>
              </a:defRPr>
            </a:pPr>
            <a:r>
              <a:t>Work must meet all </a:t>
            </a:r>
            <a:r>
              <a:rPr b="1"/>
              <a:t>acceptance criteria</a:t>
            </a:r>
            <a:r>
              <a:t>.</a:t>
            </a:r>
          </a:p>
          <a:p>
            <a:pPr marL="285750" indent="-285750">
              <a:spcBef>
                <a:spcPts val="1000"/>
              </a:spcBef>
              <a:buClr>
                <a:srgbClr val="FFFFFF"/>
              </a:buClr>
              <a:buSzPct val="100000"/>
              <a:buFont typeface="Arial"/>
              <a:buChar char="•"/>
              <a:defRPr sz="1600">
                <a:solidFill>
                  <a:srgbClr val="FFFFFF"/>
                </a:solidFill>
                <a:latin typeface="Times New Roman"/>
                <a:ea typeface="Times New Roman"/>
                <a:cs typeface="Times New Roman"/>
                <a:sym typeface="Times New Roman"/>
              </a:defRPr>
            </a:pPr>
            <a:r>
              <a:t>Each task is </a:t>
            </a:r>
            <a:r>
              <a:rPr b="1"/>
              <a:t>reviewed and tested</a:t>
            </a:r>
            <a:r>
              <a:t> by everyone</a:t>
            </a:r>
          </a:p>
          <a:p>
            <a:pPr marL="285750" indent="-285750">
              <a:spcBef>
                <a:spcPts val="1000"/>
              </a:spcBef>
              <a:buClr>
                <a:srgbClr val="FFFFFF"/>
              </a:buClr>
              <a:buSzPct val="100000"/>
              <a:buFont typeface="Arial"/>
              <a:buChar char="•"/>
              <a:defRPr sz="1600">
                <a:solidFill>
                  <a:srgbClr val="FFFFFF"/>
                </a:solidFill>
                <a:latin typeface="Times New Roman"/>
                <a:ea typeface="Times New Roman"/>
                <a:cs typeface="Times New Roman"/>
                <a:sym typeface="Times New Roman"/>
              </a:defRPr>
            </a:pPr>
            <a:r>
              <a:t>Documentation should be updated with the task.</a:t>
            </a:r>
          </a:p>
          <a:p>
            <a:pPr marL="285750" indent="-285750">
              <a:spcBef>
                <a:spcPts val="1000"/>
              </a:spcBef>
              <a:buClr>
                <a:srgbClr val="FFFFFF"/>
              </a:buClr>
              <a:buSzPct val="100000"/>
              <a:buFont typeface="Arial"/>
              <a:buChar char="•"/>
              <a:defRPr sz="1600">
                <a:solidFill>
                  <a:srgbClr val="FFFFFF"/>
                </a:solidFill>
                <a:latin typeface="Times New Roman"/>
                <a:ea typeface="Times New Roman"/>
                <a:cs typeface="Times New Roman"/>
                <a:sym typeface="Times New Roman"/>
              </a:defRPr>
            </a:pPr>
            <a:r>
              <a:t>Final review by all team members before submission</a:t>
            </a:r>
            <a:r>
              <a:rPr sz="1900"/>
              <a:t>.</a:t>
            </a:r>
          </a:p>
        </p:txBody>
      </p:sp>
    </p:spTree>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bg>
      <p:bgPr>
        <a:blipFill rotWithShape="1">
          <a:blip r:embed="rId2"/>
          <a:srcRect/>
          <a:stretch>
            <a:fillRect/>
          </a:stretch>
        </a:blipFill>
        <a:effectLst/>
      </p:bgPr>
    </p:bg>
    <p:spTree>
      <p:nvGrpSpPr>
        <p:cNvPr id="1" name=""/>
        <p:cNvGrpSpPr/>
        <p:nvPr/>
      </p:nvGrpSpPr>
      <p:grpSpPr>
        <a:xfrm>
          <a:off x="0" y="0"/>
          <a:ext cx="0" cy="0"/>
          <a:chOff x="0" y="0"/>
          <a:chExt cx="0" cy="0"/>
        </a:xfrm>
      </p:grpSpPr>
      <p:sp>
        <p:nvSpPr>
          <p:cNvPr id="222" name="Title 1"/>
          <p:cNvSpPr txBox="1">
            <a:spLocks noGrp="1"/>
          </p:cNvSpPr>
          <p:nvPr>
            <p:ph type="title"/>
          </p:nvPr>
        </p:nvSpPr>
        <p:spPr>
          <a:xfrm>
            <a:off x="514351" y="609601"/>
            <a:ext cx="4711701" cy="747253"/>
          </a:xfrm>
          <a:prstGeom prst="rect">
            <a:avLst/>
          </a:prstGeom>
        </p:spPr>
        <p:txBody>
          <a:bodyPr/>
          <a:lstStyle>
            <a:lvl1pPr defTabSz="420623">
              <a:defRPr sz="2300" b="1">
                <a:latin typeface="Times New Roman"/>
                <a:ea typeface="Times New Roman"/>
                <a:cs typeface="Times New Roman"/>
                <a:sym typeface="Times New Roman"/>
              </a:defRPr>
            </a:lvl1pPr>
          </a:lstStyle>
          <a:p>
            <a:r>
              <a:t>The Startup Founder Persona</a:t>
            </a:r>
          </a:p>
        </p:txBody>
      </p:sp>
      <p:sp>
        <p:nvSpPr>
          <p:cNvPr id="223" name="Content Placeholder 2053"/>
          <p:cNvSpPr txBox="1">
            <a:spLocks noGrp="1"/>
          </p:cNvSpPr>
          <p:nvPr>
            <p:ph type="body" idx="1"/>
          </p:nvPr>
        </p:nvSpPr>
        <p:spPr>
          <a:xfrm>
            <a:off x="514349" y="1563329"/>
            <a:ext cx="5906117" cy="4685070"/>
          </a:xfrm>
          <a:prstGeom prst="rect">
            <a:avLst/>
          </a:prstGeom>
        </p:spPr>
        <p:txBody>
          <a:bodyPr/>
          <a:lstStyle/>
          <a:p>
            <a:pPr marL="0" indent="0">
              <a:lnSpc>
                <a:spcPct val="90000"/>
              </a:lnSpc>
              <a:buSzTx/>
              <a:buNone/>
              <a:defRPr sz="1500" b="1">
                <a:latin typeface="Times New Roman"/>
                <a:ea typeface="Times New Roman"/>
                <a:cs typeface="Times New Roman"/>
                <a:sym typeface="Times New Roman"/>
              </a:defRPr>
            </a:pPr>
            <a:r>
              <a:t>Name:</a:t>
            </a:r>
            <a:r>
              <a:rPr b="0"/>
              <a:t> Alice Johnson</a:t>
            </a:r>
            <a:br>
              <a:rPr b="0"/>
            </a:br>
            <a:r>
              <a:t>Age:</a:t>
            </a:r>
            <a:r>
              <a:rPr b="0"/>
              <a:t> 28</a:t>
            </a:r>
            <a:br>
              <a:rPr b="0"/>
            </a:br>
            <a:r>
              <a:t>Gender:</a:t>
            </a:r>
            <a:r>
              <a:rPr b="0"/>
              <a:t> Female</a:t>
            </a:r>
            <a:br>
              <a:rPr b="0"/>
            </a:br>
            <a:r>
              <a:t>Occupation:</a:t>
            </a:r>
            <a:r>
              <a:rPr b="0"/>
              <a:t> Startup Founder</a:t>
            </a:r>
          </a:p>
          <a:p>
            <a:pPr marL="0" indent="0">
              <a:lnSpc>
                <a:spcPct val="90000"/>
              </a:lnSpc>
              <a:buSzTx/>
              <a:buNone/>
              <a:defRPr sz="1500">
                <a:latin typeface="Times New Roman"/>
                <a:ea typeface="Times New Roman"/>
                <a:cs typeface="Times New Roman"/>
                <a:sym typeface="Times New Roman"/>
              </a:defRPr>
            </a:pPr>
            <a:r>
              <a:t>Alice is an ambitious entrepreneur developing a sustainable fashion brand. She wants to raise money to bring her eco-friendly products to market but struggles with high fees and limited visibility on traditional crowdfunding platforms.</a:t>
            </a:r>
          </a:p>
          <a:p>
            <a:pPr marL="0" indent="0">
              <a:lnSpc>
                <a:spcPct val="90000"/>
              </a:lnSpc>
              <a:buSzTx/>
              <a:buNone/>
              <a:defRPr sz="1500" b="1">
                <a:latin typeface="Times New Roman"/>
                <a:ea typeface="Times New Roman"/>
                <a:cs typeface="Times New Roman"/>
                <a:sym typeface="Times New Roman"/>
              </a:defRPr>
            </a:pPr>
            <a:r>
              <a:t>Challenges:</a:t>
            </a:r>
          </a:p>
          <a:p>
            <a:pPr>
              <a:lnSpc>
                <a:spcPct val="90000"/>
              </a:lnSpc>
              <a:defRPr sz="1500">
                <a:latin typeface="Times New Roman"/>
                <a:ea typeface="Times New Roman"/>
                <a:cs typeface="Times New Roman"/>
                <a:sym typeface="Times New Roman"/>
              </a:defRPr>
            </a:pPr>
            <a:r>
              <a:t>Struggles to gain trust from contributors due to lack of transparency.</a:t>
            </a:r>
          </a:p>
          <a:p>
            <a:pPr>
              <a:lnSpc>
                <a:spcPct val="90000"/>
              </a:lnSpc>
              <a:defRPr sz="1500">
                <a:latin typeface="Times New Roman"/>
                <a:ea typeface="Times New Roman"/>
                <a:cs typeface="Times New Roman"/>
                <a:sym typeface="Times New Roman"/>
              </a:defRPr>
            </a:pPr>
            <a:r>
              <a:t>Centralized platforms charge high fees, cutting into her funding.</a:t>
            </a:r>
          </a:p>
          <a:p>
            <a:pPr>
              <a:lnSpc>
                <a:spcPct val="90000"/>
              </a:lnSpc>
              <a:defRPr sz="1500">
                <a:latin typeface="Times New Roman"/>
                <a:ea typeface="Times New Roman"/>
                <a:cs typeface="Times New Roman"/>
                <a:sym typeface="Times New Roman"/>
              </a:defRPr>
            </a:pPr>
            <a:r>
              <a:t>Limited control over how her campaign is presented.</a:t>
            </a:r>
          </a:p>
          <a:p>
            <a:pPr marL="0" indent="0">
              <a:lnSpc>
                <a:spcPct val="90000"/>
              </a:lnSpc>
              <a:buSzTx/>
              <a:buNone/>
              <a:defRPr sz="1500" b="1">
                <a:latin typeface="Times New Roman"/>
                <a:ea typeface="Times New Roman"/>
                <a:cs typeface="Times New Roman"/>
                <a:sym typeface="Times New Roman"/>
              </a:defRPr>
            </a:pPr>
            <a:r>
              <a:t>Goals:</a:t>
            </a:r>
          </a:p>
          <a:p>
            <a:pPr>
              <a:lnSpc>
                <a:spcPct val="90000"/>
              </a:lnSpc>
              <a:defRPr sz="1500">
                <a:latin typeface="Times New Roman"/>
                <a:ea typeface="Times New Roman"/>
                <a:cs typeface="Times New Roman"/>
                <a:sym typeface="Times New Roman"/>
              </a:defRPr>
            </a:pPr>
            <a:r>
              <a:t>Raise funds fairly and transparently.</a:t>
            </a:r>
          </a:p>
          <a:p>
            <a:pPr>
              <a:lnSpc>
                <a:spcPct val="90000"/>
              </a:lnSpc>
              <a:defRPr sz="1500">
                <a:latin typeface="Times New Roman"/>
                <a:ea typeface="Times New Roman"/>
                <a:cs typeface="Times New Roman"/>
                <a:sym typeface="Times New Roman"/>
              </a:defRPr>
            </a:pPr>
            <a:r>
              <a:t>Build credibility with backers.</a:t>
            </a:r>
          </a:p>
          <a:p>
            <a:pPr>
              <a:lnSpc>
                <a:spcPct val="90000"/>
              </a:lnSpc>
              <a:defRPr sz="1500">
                <a:latin typeface="Times New Roman"/>
                <a:ea typeface="Times New Roman"/>
                <a:cs typeface="Times New Roman"/>
                <a:sym typeface="Times New Roman"/>
              </a:defRPr>
            </a:pPr>
            <a:r>
              <a:t>Ensure contributors see exactly how their money is being used.</a:t>
            </a:r>
          </a:p>
        </p:txBody>
      </p:sp>
      <p:pic>
        <p:nvPicPr>
          <p:cNvPr id="224" name="Picture 2" descr="Picture 2"/>
          <p:cNvPicPr>
            <a:picLocks noChangeAspect="1"/>
          </p:cNvPicPr>
          <p:nvPr/>
        </p:nvPicPr>
        <p:blipFill>
          <a:blip r:embed="rId3"/>
          <a:srcRect l="29908" r="34157" b="3"/>
          <a:stretch>
            <a:fillRect/>
          </a:stretch>
        </p:blipFill>
        <p:spPr>
          <a:xfrm>
            <a:off x="6548284" y="816077"/>
            <a:ext cx="2359819" cy="3952480"/>
          </a:xfrm>
          <a:custGeom>
            <a:avLst/>
            <a:gdLst/>
            <a:ahLst/>
            <a:cxnLst>
              <a:cxn ang="0">
                <a:pos x="wd2" y="hd2"/>
              </a:cxn>
              <a:cxn ang="5400000">
                <a:pos x="wd2" y="hd2"/>
              </a:cxn>
              <a:cxn ang="10800000">
                <a:pos x="wd2" y="hd2"/>
              </a:cxn>
              <a:cxn ang="16200000">
                <a:pos x="wd2" y="hd2"/>
              </a:cxn>
            </a:cxnLst>
            <a:rect l="0" t="0" r="r" b="b"/>
            <a:pathLst>
              <a:path w="21600" h="21600" extrusionOk="0">
                <a:moveTo>
                  <a:pt x="945" y="0"/>
                </a:moveTo>
                <a:cubicBezTo>
                  <a:pt x="422" y="0"/>
                  <a:pt x="0" y="252"/>
                  <a:pt x="0" y="564"/>
                </a:cubicBezTo>
                <a:lnTo>
                  <a:pt x="0" y="21036"/>
                </a:lnTo>
                <a:cubicBezTo>
                  <a:pt x="0" y="21348"/>
                  <a:pt x="422" y="21600"/>
                  <a:pt x="945" y="21600"/>
                </a:cubicBezTo>
                <a:lnTo>
                  <a:pt x="20652" y="21600"/>
                </a:lnTo>
                <a:cubicBezTo>
                  <a:pt x="21174" y="21600"/>
                  <a:pt x="21600" y="21348"/>
                  <a:pt x="21600" y="21036"/>
                </a:cubicBezTo>
                <a:lnTo>
                  <a:pt x="21600" y="564"/>
                </a:lnTo>
                <a:cubicBezTo>
                  <a:pt x="21600" y="252"/>
                  <a:pt x="21174" y="0"/>
                  <a:pt x="20652" y="0"/>
                </a:cubicBezTo>
                <a:lnTo>
                  <a:pt x="945" y="0"/>
                </a:lnTo>
                <a:close/>
              </a:path>
            </a:pathLst>
          </a:custGeom>
          <a:ln w="50800" cap="sq">
            <a:solidFill>
              <a:srgbClr val="FFFFFF">
                <a:alpha val="50000"/>
              </a:srgbClr>
            </a:solidFill>
            <a:miter/>
          </a:ln>
          <a:effectLst>
            <a:outerShdw blurRad="254000" rotWithShape="0">
              <a:srgbClr val="000000">
                <a:alpha val="43000"/>
              </a:srgbClr>
            </a:outerShdw>
          </a:effectLst>
        </p:spPr>
      </p:pic>
    </p:spTree>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bg>
      <p:bgPr>
        <a:blipFill rotWithShape="1">
          <a:blip r:embed="rId2"/>
          <a:srcRect/>
          <a:stretch>
            <a:fillRect/>
          </a:stretch>
        </a:blipFill>
        <a:effectLst/>
      </p:bgPr>
    </p:bg>
    <p:spTree>
      <p:nvGrpSpPr>
        <p:cNvPr id="1" name=""/>
        <p:cNvGrpSpPr/>
        <p:nvPr/>
      </p:nvGrpSpPr>
      <p:grpSpPr>
        <a:xfrm>
          <a:off x="0" y="0"/>
          <a:ext cx="0" cy="0"/>
          <a:chOff x="0" y="0"/>
          <a:chExt cx="0" cy="0"/>
        </a:xfrm>
      </p:grpSpPr>
      <p:sp>
        <p:nvSpPr>
          <p:cNvPr id="226" name="Title 1"/>
          <p:cNvSpPr txBox="1">
            <a:spLocks noGrp="1"/>
          </p:cNvSpPr>
          <p:nvPr>
            <p:ph type="title"/>
          </p:nvPr>
        </p:nvSpPr>
        <p:spPr>
          <a:xfrm>
            <a:off x="619428" y="334298"/>
            <a:ext cx="5328465" cy="816075"/>
          </a:xfrm>
          <a:prstGeom prst="rect">
            <a:avLst/>
          </a:prstGeom>
        </p:spPr>
        <p:txBody>
          <a:bodyPr/>
          <a:lstStyle>
            <a:lvl1pPr>
              <a:defRPr b="1">
                <a:latin typeface="Times New Roman"/>
                <a:ea typeface="Times New Roman"/>
                <a:cs typeface="Times New Roman"/>
                <a:sym typeface="Times New Roman"/>
              </a:defRPr>
            </a:lvl1pPr>
          </a:lstStyle>
          <a:p>
            <a:r>
              <a:t>The Investor Persona</a:t>
            </a:r>
          </a:p>
        </p:txBody>
      </p:sp>
      <p:sp>
        <p:nvSpPr>
          <p:cNvPr id="227" name="Content Placeholder 3079"/>
          <p:cNvSpPr txBox="1">
            <a:spLocks noGrp="1"/>
          </p:cNvSpPr>
          <p:nvPr>
            <p:ph type="body" idx="1"/>
          </p:nvPr>
        </p:nvSpPr>
        <p:spPr>
          <a:xfrm>
            <a:off x="698710" y="1150373"/>
            <a:ext cx="5328464" cy="5181601"/>
          </a:xfrm>
          <a:prstGeom prst="rect">
            <a:avLst/>
          </a:prstGeom>
        </p:spPr>
        <p:txBody>
          <a:bodyPr/>
          <a:lstStyle/>
          <a:p>
            <a:pPr marL="0" indent="0">
              <a:buSzTx/>
              <a:buNone/>
              <a:defRPr sz="1600" b="1">
                <a:latin typeface="Times New Roman"/>
                <a:ea typeface="Times New Roman"/>
                <a:cs typeface="Times New Roman"/>
                <a:sym typeface="Times New Roman"/>
              </a:defRPr>
            </a:pPr>
            <a:r>
              <a:t>Name:</a:t>
            </a:r>
            <a:r>
              <a:rPr b="0"/>
              <a:t> Bob Smith</a:t>
            </a:r>
            <a:br>
              <a:rPr b="0"/>
            </a:br>
            <a:r>
              <a:t>Age:</a:t>
            </a:r>
            <a:r>
              <a:rPr b="0"/>
              <a:t> 35</a:t>
            </a:r>
            <a:br>
              <a:rPr b="0"/>
            </a:br>
            <a:r>
              <a:t>Gender:</a:t>
            </a:r>
            <a:r>
              <a:rPr b="0"/>
              <a:t> Male</a:t>
            </a:r>
            <a:br>
              <a:rPr b="0"/>
            </a:br>
            <a:r>
              <a:t>Occupation:</a:t>
            </a:r>
            <a:r>
              <a:rPr b="0"/>
              <a:t> Investor</a:t>
            </a:r>
          </a:p>
          <a:p>
            <a:pPr marL="0" indent="0">
              <a:lnSpc>
                <a:spcPct val="90000"/>
              </a:lnSpc>
              <a:buSzTx/>
              <a:buNone/>
              <a:defRPr sz="1600">
                <a:latin typeface="Times New Roman"/>
                <a:ea typeface="Times New Roman"/>
                <a:cs typeface="Times New Roman"/>
                <a:sym typeface="Times New Roman"/>
              </a:defRPr>
            </a:pPr>
            <a:r>
              <a:t>Bob is a passionate investor who likes to fund innovative projects. He wants to support creators but often worries about whether his money is being used properly and feels disconnected after contributing.</a:t>
            </a:r>
          </a:p>
          <a:p>
            <a:pPr marL="0" indent="0">
              <a:lnSpc>
                <a:spcPct val="90000"/>
              </a:lnSpc>
              <a:buSzTx/>
              <a:buNone/>
              <a:defRPr sz="1600" b="1">
                <a:latin typeface="Times New Roman"/>
                <a:ea typeface="Times New Roman"/>
                <a:cs typeface="Times New Roman"/>
                <a:sym typeface="Times New Roman"/>
              </a:defRPr>
            </a:pPr>
            <a:r>
              <a:t>Challenges:</a:t>
            </a:r>
          </a:p>
          <a:p>
            <a:pPr>
              <a:lnSpc>
                <a:spcPct val="90000"/>
              </a:lnSpc>
              <a:defRPr sz="1600">
                <a:latin typeface="Times New Roman"/>
                <a:ea typeface="Times New Roman"/>
                <a:cs typeface="Times New Roman"/>
                <a:sym typeface="Times New Roman"/>
              </a:defRPr>
            </a:pPr>
            <a:r>
              <a:t>Unsure if funds are spent transparently</a:t>
            </a:r>
          </a:p>
          <a:p>
            <a:pPr>
              <a:lnSpc>
                <a:spcPct val="90000"/>
              </a:lnSpc>
              <a:defRPr sz="1600">
                <a:latin typeface="Times New Roman"/>
                <a:ea typeface="Times New Roman"/>
                <a:cs typeface="Times New Roman"/>
                <a:sym typeface="Times New Roman"/>
              </a:defRPr>
            </a:pPr>
            <a:r>
              <a:t>No refunds if a project fails</a:t>
            </a:r>
          </a:p>
          <a:p>
            <a:pPr>
              <a:lnSpc>
                <a:spcPct val="90000"/>
              </a:lnSpc>
              <a:defRPr sz="1600">
                <a:latin typeface="Times New Roman"/>
                <a:ea typeface="Times New Roman"/>
                <a:cs typeface="Times New Roman"/>
                <a:sym typeface="Times New Roman"/>
              </a:defRPr>
            </a:pPr>
            <a:r>
              <a:t>Has no control once money is invested</a:t>
            </a:r>
          </a:p>
          <a:p>
            <a:pPr marL="0" indent="0">
              <a:lnSpc>
                <a:spcPct val="90000"/>
              </a:lnSpc>
              <a:buSzTx/>
              <a:buNone/>
              <a:defRPr sz="1600" b="1">
                <a:latin typeface="Times New Roman"/>
                <a:ea typeface="Times New Roman"/>
                <a:cs typeface="Times New Roman"/>
                <a:sym typeface="Times New Roman"/>
              </a:defRPr>
            </a:pPr>
            <a:r>
              <a:t>Goals:</a:t>
            </a:r>
          </a:p>
          <a:p>
            <a:pPr>
              <a:lnSpc>
                <a:spcPct val="90000"/>
              </a:lnSpc>
              <a:defRPr sz="1600">
                <a:latin typeface="Times New Roman"/>
                <a:ea typeface="Times New Roman"/>
                <a:cs typeface="Times New Roman"/>
                <a:sym typeface="Times New Roman"/>
              </a:defRPr>
            </a:pPr>
            <a:r>
              <a:t>Invest with full transparency and security</a:t>
            </a:r>
          </a:p>
          <a:p>
            <a:pPr>
              <a:lnSpc>
                <a:spcPct val="90000"/>
              </a:lnSpc>
              <a:defRPr sz="1600">
                <a:latin typeface="Times New Roman"/>
                <a:ea typeface="Times New Roman"/>
                <a:cs typeface="Times New Roman"/>
                <a:sym typeface="Times New Roman"/>
              </a:defRPr>
            </a:pPr>
            <a:r>
              <a:t>Receive refunds if funding goals aren’t met</a:t>
            </a:r>
          </a:p>
          <a:p>
            <a:pPr>
              <a:lnSpc>
                <a:spcPct val="90000"/>
              </a:lnSpc>
              <a:defRPr sz="1600">
                <a:latin typeface="Times New Roman"/>
                <a:ea typeface="Times New Roman"/>
                <a:cs typeface="Times New Roman"/>
                <a:sym typeface="Times New Roman"/>
              </a:defRPr>
            </a:pPr>
            <a:r>
              <a:t>Have a say in how project funds are used through voting</a:t>
            </a:r>
          </a:p>
        </p:txBody>
      </p:sp>
      <p:pic>
        <p:nvPicPr>
          <p:cNvPr id="228" name="Picture 5" descr="Picture 5"/>
          <p:cNvPicPr>
            <a:picLocks noChangeAspect="1"/>
          </p:cNvPicPr>
          <p:nvPr/>
        </p:nvPicPr>
        <p:blipFill>
          <a:blip r:embed="rId3"/>
          <a:srcRect b="1"/>
          <a:stretch>
            <a:fillRect/>
          </a:stretch>
        </p:blipFill>
        <p:spPr>
          <a:xfrm>
            <a:off x="6204155" y="1527113"/>
            <a:ext cx="2728119" cy="3051573"/>
          </a:xfrm>
          <a:custGeom>
            <a:avLst/>
            <a:gdLst/>
            <a:ahLst/>
            <a:cxnLst>
              <a:cxn ang="0">
                <a:pos x="wd2" y="hd2"/>
              </a:cxn>
              <a:cxn ang="5400000">
                <a:pos x="wd2" y="hd2"/>
              </a:cxn>
              <a:cxn ang="10800000">
                <a:pos x="wd2" y="hd2"/>
              </a:cxn>
              <a:cxn ang="16200000">
                <a:pos x="wd2" y="hd2"/>
              </a:cxn>
            </a:cxnLst>
            <a:rect l="0" t="0" r="r" b="b"/>
            <a:pathLst>
              <a:path w="21600" h="21600" extrusionOk="0">
                <a:moveTo>
                  <a:pt x="946" y="0"/>
                </a:moveTo>
                <a:cubicBezTo>
                  <a:pt x="423" y="0"/>
                  <a:pt x="0" y="378"/>
                  <a:pt x="0" y="846"/>
                </a:cubicBezTo>
                <a:lnTo>
                  <a:pt x="0" y="20754"/>
                </a:lnTo>
                <a:cubicBezTo>
                  <a:pt x="0" y="21222"/>
                  <a:pt x="423" y="21600"/>
                  <a:pt x="946" y="21600"/>
                </a:cubicBezTo>
                <a:lnTo>
                  <a:pt x="20654" y="21600"/>
                </a:lnTo>
                <a:cubicBezTo>
                  <a:pt x="21177" y="21600"/>
                  <a:pt x="21600" y="21222"/>
                  <a:pt x="21600" y="20754"/>
                </a:cubicBezTo>
                <a:lnTo>
                  <a:pt x="21600" y="846"/>
                </a:lnTo>
                <a:cubicBezTo>
                  <a:pt x="21600" y="378"/>
                  <a:pt x="21177" y="0"/>
                  <a:pt x="20654" y="0"/>
                </a:cubicBezTo>
                <a:lnTo>
                  <a:pt x="946" y="0"/>
                </a:lnTo>
                <a:close/>
              </a:path>
            </a:pathLst>
          </a:custGeom>
          <a:ln w="50800" cap="sq">
            <a:solidFill>
              <a:srgbClr val="FFFFFF">
                <a:alpha val="50000"/>
              </a:srgbClr>
            </a:solidFill>
            <a:miter/>
          </a:ln>
          <a:effectLst>
            <a:outerShdw blurRad="254000" rotWithShape="0">
              <a:srgbClr val="000000">
                <a:alpha val="43000"/>
              </a:srgbClr>
            </a:outerShdw>
          </a:effectLst>
        </p:spPr>
      </p:pic>
    </p:spTree>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bg>
      <p:bgPr>
        <a:blipFill rotWithShape="1">
          <a:blip r:embed="rId2"/>
          <a:srcRect/>
          <a:stretch>
            <a:fillRect/>
          </a:stretch>
        </a:blipFill>
        <a:effectLst/>
      </p:bgPr>
    </p:bg>
    <p:spTree>
      <p:nvGrpSpPr>
        <p:cNvPr id="1" name=""/>
        <p:cNvGrpSpPr/>
        <p:nvPr/>
      </p:nvGrpSpPr>
      <p:grpSpPr>
        <a:xfrm>
          <a:off x="0" y="0"/>
          <a:ext cx="0" cy="0"/>
          <a:chOff x="0" y="0"/>
          <a:chExt cx="0" cy="0"/>
        </a:xfrm>
      </p:grpSpPr>
      <p:sp>
        <p:nvSpPr>
          <p:cNvPr id="230" name="Title 1"/>
          <p:cNvSpPr txBox="1">
            <a:spLocks noGrp="1"/>
          </p:cNvSpPr>
          <p:nvPr>
            <p:ph type="title"/>
          </p:nvPr>
        </p:nvSpPr>
        <p:spPr>
          <a:xfrm>
            <a:off x="514351" y="609600"/>
            <a:ext cx="4711701" cy="875072"/>
          </a:xfrm>
          <a:prstGeom prst="rect">
            <a:avLst/>
          </a:prstGeom>
        </p:spPr>
        <p:txBody>
          <a:bodyPr/>
          <a:lstStyle>
            <a:lvl1pPr>
              <a:defRPr sz="2500" b="1">
                <a:latin typeface="Times New Roman"/>
                <a:ea typeface="Times New Roman"/>
                <a:cs typeface="Times New Roman"/>
                <a:sym typeface="Times New Roman"/>
              </a:defRPr>
            </a:lvl1pPr>
          </a:lstStyle>
          <a:p>
            <a:r>
              <a:t>The Community Member Persona</a:t>
            </a:r>
          </a:p>
        </p:txBody>
      </p:sp>
      <p:sp>
        <p:nvSpPr>
          <p:cNvPr id="231" name="Content Placeholder 2"/>
          <p:cNvSpPr txBox="1">
            <a:spLocks noGrp="1"/>
          </p:cNvSpPr>
          <p:nvPr>
            <p:ph type="body" sz="half" idx="1"/>
          </p:nvPr>
        </p:nvSpPr>
        <p:spPr>
          <a:xfrm>
            <a:off x="514351" y="1622322"/>
            <a:ext cx="4893393" cy="4626078"/>
          </a:xfrm>
          <a:prstGeom prst="rect">
            <a:avLst/>
          </a:prstGeom>
        </p:spPr>
        <p:txBody>
          <a:bodyPr/>
          <a:lstStyle/>
          <a:p>
            <a:pPr marL="0" indent="0">
              <a:buSzTx/>
              <a:buNone/>
              <a:defRPr sz="1600">
                <a:latin typeface="Times New Roman"/>
                <a:ea typeface="Times New Roman"/>
                <a:cs typeface="Times New Roman"/>
                <a:sym typeface="Times New Roman"/>
              </a:defRPr>
            </a:pPr>
            <a:r>
              <a:t>Name: Cathy Lee</a:t>
            </a:r>
            <a:br/>
            <a:r>
              <a:t>Age: 22</a:t>
            </a:r>
            <a:br/>
            <a:r>
              <a:t>Gender: Female</a:t>
            </a:r>
            <a:br/>
            <a:r>
              <a:t>Occupation: College Student / Community Member</a:t>
            </a:r>
            <a:endParaRPr sz="1200"/>
          </a:p>
          <a:p>
            <a:pPr marL="0" indent="0">
              <a:lnSpc>
                <a:spcPct val="72000"/>
              </a:lnSpc>
              <a:buSzTx/>
              <a:buNone/>
              <a:defRPr sz="1600">
                <a:latin typeface="Times New Roman"/>
                <a:ea typeface="Times New Roman"/>
                <a:cs typeface="Times New Roman"/>
                <a:sym typeface="Times New Roman"/>
              </a:defRPr>
            </a:pPr>
            <a:r>
              <a:t>Cathy is an active member of online communities and DAOs. She enjoys contributing to causes but wants her voice to count, not just her money.</a:t>
            </a:r>
            <a:endParaRPr sz="1200"/>
          </a:p>
          <a:p>
            <a:pPr marL="0" indent="0">
              <a:lnSpc>
                <a:spcPct val="72000"/>
              </a:lnSpc>
              <a:buSzTx/>
              <a:buNone/>
              <a:defRPr sz="1600" b="1">
                <a:latin typeface="Times New Roman"/>
                <a:ea typeface="Times New Roman"/>
                <a:cs typeface="Times New Roman"/>
                <a:sym typeface="Times New Roman"/>
              </a:defRPr>
            </a:pPr>
            <a:r>
              <a:t>Challenges:</a:t>
            </a:r>
            <a:endParaRPr sz="1200"/>
          </a:p>
          <a:p>
            <a:pPr>
              <a:lnSpc>
                <a:spcPct val="72000"/>
              </a:lnSpc>
              <a:defRPr sz="1600">
                <a:latin typeface="Times New Roman"/>
                <a:ea typeface="Times New Roman"/>
                <a:cs typeface="Times New Roman"/>
                <a:sym typeface="Times New Roman"/>
              </a:defRPr>
            </a:pPr>
            <a:r>
              <a:t>No say in how project funds are allocated</a:t>
            </a:r>
            <a:endParaRPr sz="1200"/>
          </a:p>
          <a:p>
            <a:pPr>
              <a:lnSpc>
                <a:spcPct val="72000"/>
              </a:lnSpc>
              <a:defRPr sz="1600">
                <a:latin typeface="Times New Roman"/>
                <a:ea typeface="Times New Roman"/>
                <a:cs typeface="Times New Roman"/>
                <a:sym typeface="Times New Roman"/>
              </a:defRPr>
            </a:pPr>
            <a:r>
              <a:t>Hesitant to contribute without accountability</a:t>
            </a:r>
            <a:endParaRPr sz="1200"/>
          </a:p>
          <a:p>
            <a:pPr>
              <a:lnSpc>
                <a:spcPct val="72000"/>
              </a:lnSpc>
              <a:defRPr sz="1600">
                <a:latin typeface="Times New Roman"/>
                <a:ea typeface="Times New Roman"/>
                <a:cs typeface="Times New Roman"/>
                <a:sym typeface="Times New Roman"/>
              </a:defRPr>
            </a:pPr>
            <a:r>
              <a:t>Finds most platforms profit-driven and restrictive</a:t>
            </a:r>
            <a:endParaRPr sz="1200"/>
          </a:p>
          <a:p>
            <a:pPr marL="0" indent="0">
              <a:lnSpc>
                <a:spcPct val="72000"/>
              </a:lnSpc>
              <a:buSzTx/>
              <a:buNone/>
              <a:defRPr sz="1600" b="1">
                <a:latin typeface="Times New Roman"/>
                <a:ea typeface="Times New Roman"/>
                <a:cs typeface="Times New Roman"/>
                <a:sym typeface="Times New Roman"/>
              </a:defRPr>
            </a:pPr>
            <a:r>
              <a:t>Goals:</a:t>
            </a:r>
            <a:endParaRPr sz="1200"/>
          </a:p>
          <a:p>
            <a:pPr>
              <a:lnSpc>
                <a:spcPct val="72000"/>
              </a:lnSpc>
              <a:defRPr sz="1600">
                <a:latin typeface="Times New Roman"/>
                <a:ea typeface="Times New Roman"/>
                <a:cs typeface="Times New Roman"/>
                <a:sym typeface="Times New Roman"/>
              </a:defRPr>
            </a:pPr>
            <a:r>
              <a:t>Participate in voting and decision-making</a:t>
            </a:r>
            <a:endParaRPr sz="1200"/>
          </a:p>
          <a:p>
            <a:pPr>
              <a:lnSpc>
                <a:spcPct val="72000"/>
              </a:lnSpc>
              <a:defRPr sz="1600">
                <a:latin typeface="Times New Roman"/>
                <a:ea typeface="Times New Roman"/>
                <a:cs typeface="Times New Roman"/>
                <a:sym typeface="Times New Roman"/>
              </a:defRPr>
            </a:pPr>
            <a:r>
              <a:t>Support transparent, community-driven projects</a:t>
            </a:r>
            <a:endParaRPr sz="1200"/>
          </a:p>
          <a:p>
            <a:pPr>
              <a:lnSpc>
                <a:spcPct val="72000"/>
              </a:lnSpc>
              <a:defRPr sz="1600">
                <a:latin typeface="Times New Roman"/>
                <a:ea typeface="Times New Roman"/>
                <a:cs typeface="Times New Roman"/>
                <a:sym typeface="Times New Roman"/>
              </a:defRPr>
            </a:pPr>
            <a:r>
              <a:t>Learn about blockchain while backing meaningful causes</a:t>
            </a:r>
            <a:endParaRPr sz="1200"/>
          </a:p>
        </p:txBody>
      </p:sp>
      <p:pic>
        <p:nvPicPr>
          <p:cNvPr id="232" name="Picture 3" descr="Picture 3"/>
          <p:cNvPicPr>
            <a:picLocks noChangeAspect="1"/>
          </p:cNvPicPr>
          <p:nvPr/>
        </p:nvPicPr>
        <p:blipFill>
          <a:blip r:embed="rId3"/>
          <a:srcRect l="53095" r="10969" b="4"/>
          <a:stretch>
            <a:fillRect/>
          </a:stretch>
        </p:blipFill>
        <p:spPr>
          <a:xfrm>
            <a:off x="5693202" y="990600"/>
            <a:ext cx="2584451" cy="3522267"/>
          </a:xfrm>
          <a:custGeom>
            <a:avLst/>
            <a:gdLst/>
            <a:ahLst/>
            <a:cxnLst>
              <a:cxn ang="0">
                <a:pos x="wd2" y="hd2"/>
              </a:cxn>
              <a:cxn ang="5400000">
                <a:pos x="wd2" y="hd2"/>
              </a:cxn>
              <a:cxn ang="10800000">
                <a:pos x="wd2" y="hd2"/>
              </a:cxn>
              <a:cxn ang="16200000">
                <a:pos x="wd2" y="hd2"/>
              </a:cxn>
            </a:cxnLst>
            <a:rect l="0" t="0" r="r" b="b"/>
            <a:pathLst>
              <a:path w="21600" h="21600" extrusionOk="0">
                <a:moveTo>
                  <a:pt x="945" y="0"/>
                </a:moveTo>
                <a:cubicBezTo>
                  <a:pt x="423" y="0"/>
                  <a:pt x="0" y="310"/>
                  <a:pt x="0" y="694"/>
                </a:cubicBezTo>
                <a:lnTo>
                  <a:pt x="0" y="20906"/>
                </a:lnTo>
                <a:cubicBezTo>
                  <a:pt x="0" y="21290"/>
                  <a:pt x="423" y="21600"/>
                  <a:pt x="945" y="21600"/>
                </a:cubicBezTo>
                <a:lnTo>
                  <a:pt x="20651" y="21600"/>
                </a:lnTo>
                <a:cubicBezTo>
                  <a:pt x="21174" y="21600"/>
                  <a:pt x="21600" y="21290"/>
                  <a:pt x="21600" y="20906"/>
                </a:cubicBezTo>
                <a:lnTo>
                  <a:pt x="21600" y="694"/>
                </a:lnTo>
                <a:cubicBezTo>
                  <a:pt x="21600" y="310"/>
                  <a:pt x="21174" y="0"/>
                  <a:pt x="20651" y="0"/>
                </a:cubicBezTo>
                <a:lnTo>
                  <a:pt x="945" y="0"/>
                </a:lnTo>
                <a:close/>
              </a:path>
            </a:pathLst>
          </a:custGeom>
          <a:ln w="50800" cap="sq">
            <a:solidFill>
              <a:srgbClr val="FFFFFF">
                <a:alpha val="50000"/>
              </a:srgbClr>
            </a:solidFill>
            <a:miter/>
          </a:ln>
          <a:effectLst>
            <a:outerShdw blurRad="254000" rotWithShape="0">
              <a:srgbClr val="000000">
                <a:alpha val="43000"/>
              </a:srgbClr>
            </a:outerShdw>
          </a:effectLst>
        </p:spPr>
      </p:pic>
    </p:spTree>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4" name="Title 1"/>
          <p:cNvSpPr txBox="1">
            <a:spLocks noGrp="1"/>
          </p:cNvSpPr>
          <p:nvPr>
            <p:ph type="title"/>
          </p:nvPr>
        </p:nvSpPr>
        <p:spPr>
          <a:xfrm>
            <a:off x="672688" y="1354857"/>
            <a:ext cx="4711701" cy="875072"/>
          </a:xfrm>
          <a:prstGeom prst="rect">
            <a:avLst/>
          </a:prstGeom>
        </p:spPr>
        <p:txBody>
          <a:bodyPr/>
          <a:lstStyle>
            <a:lvl1pPr>
              <a:defRPr sz="4000" b="1">
                <a:latin typeface="Times New Roman"/>
                <a:ea typeface="Times New Roman"/>
                <a:cs typeface="Times New Roman"/>
                <a:sym typeface="Times New Roman"/>
              </a:defRPr>
            </a:lvl1pPr>
          </a:lstStyle>
          <a:p>
            <a:r>
              <a:t>MVP</a:t>
            </a:r>
          </a:p>
        </p:txBody>
      </p:sp>
      <p:sp>
        <p:nvSpPr>
          <p:cNvPr id="235" name="Content Placeholder 2"/>
          <p:cNvSpPr txBox="1">
            <a:spLocks noGrp="1"/>
          </p:cNvSpPr>
          <p:nvPr>
            <p:ph type="body" sz="half" idx="1"/>
          </p:nvPr>
        </p:nvSpPr>
        <p:spPr>
          <a:xfrm>
            <a:off x="558960" y="1972386"/>
            <a:ext cx="4939158" cy="2913228"/>
          </a:xfrm>
          <a:prstGeom prst="rect">
            <a:avLst/>
          </a:prstGeom>
        </p:spPr>
        <p:txBody>
          <a:bodyPr/>
          <a:lstStyle/>
          <a:p>
            <a:pPr marL="0" indent="0" defTabSz="434340">
              <a:lnSpc>
                <a:spcPct val="90000"/>
              </a:lnSpc>
              <a:spcBef>
                <a:spcPts val="900"/>
              </a:spcBef>
              <a:buSzTx/>
              <a:buNone/>
              <a:defRPr sz="2185">
                <a:latin typeface="Times New Roman"/>
                <a:ea typeface="Times New Roman"/>
                <a:cs typeface="Times New Roman"/>
                <a:sym typeface="Times New Roman"/>
              </a:defRPr>
            </a:pPr>
            <a:endParaRPr/>
          </a:p>
          <a:p>
            <a:pPr marL="271462" indent="-271462" defTabSz="434340">
              <a:lnSpc>
                <a:spcPct val="90000"/>
              </a:lnSpc>
              <a:spcBef>
                <a:spcPts val="900"/>
              </a:spcBef>
              <a:defRPr sz="1710" b="1">
                <a:latin typeface="Times New Roman"/>
                <a:ea typeface="Times New Roman"/>
                <a:cs typeface="Times New Roman"/>
                <a:sym typeface="Times New Roman"/>
              </a:defRPr>
            </a:pPr>
            <a:r>
              <a:t>Campaign Creation</a:t>
            </a:r>
            <a:r>
              <a:rPr b="0"/>
              <a:t>: Allow users to launch funding campaigns with metadata (title, goal, deadline).</a:t>
            </a:r>
          </a:p>
          <a:p>
            <a:pPr marL="271462" indent="-271462" defTabSz="434340">
              <a:lnSpc>
                <a:spcPct val="90000"/>
              </a:lnSpc>
              <a:spcBef>
                <a:spcPts val="900"/>
              </a:spcBef>
              <a:defRPr sz="1710" b="1">
                <a:latin typeface="Times New Roman"/>
                <a:ea typeface="Times New Roman"/>
                <a:cs typeface="Times New Roman"/>
                <a:sym typeface="Times New Roman"/>
              </a:defRPr>
            </a:pPr>
            <a:r>
              <a:t>Contribution Logic</a:t>
            </a:r>
            <a:r>
              <a:rPr b="0"/>
              <a:t>: Accept ETH contributions and track them per user.</a:t>
            </a:r>
          </a:p>
          <a:p>
            <a:pPr marL="271462" indent="-271462" defTabSz="434340">
              <a:lnSpc>
                <a:spcPct val="90000"/>
              </a:lnSpc>
              <a:spcBef>
                <a:spcPts val="900"/>
              </a:spcBef>
              <a:defRPr sz="1710" b="1">
                <a:latin typeface="Times New Roman"/>
                <a:ea typeface="Times New Roman"/>
                <a:cs typeface="Times New Roman"/>
                <a:sym typeface="Times New Roman"/>
              </a:defRPr>
            </a:pPr>
            <a:r>
              <a:t>Refund Mechanism</a:t>
            </a:r>
            <a:r>
              <a:rPr b="0"/>
              <a:t>: Automatically refund contributors if the goal isn’t met.</a:t>
            </a:r>
          </a:p>
          <a:p>
            <a:pPr marL="271462" indent="-271462" defTabSz="434340">
              <a:lnSpc>
                <a:spcPct val="90000"/>
              </a:lnSpc>
              <a:spcBef>
                <a:spcPts val="900"/>
              </a:spcBef>
              <a:defRPr sz="1710" b="1">
                <a:latin typeface="Times New Roman"/>
                <a:ea typeface="Times New Roman"/>
                <a:cs typeface="Times New Roman"/>
                <a:sym typeface="Times New Roman"/>
              </a:defRPr>
            </a:pPr>
            <a:r>
              <a:t>Governance Voting</a:t>
            </a:r>
            <a:r>
              <a:rPr b="0"/>
              <a:t>: Let contributors vote on fund allocation or milestones.</a:t>
            </a:r>
          </a:p>
        </p:txBody>
      </p:sp>
      <p:pic>
        <p:nvPicPr>
          <p:cNvPr id="236" name="pasted-movie.png" descr="pasted-movie.png"/>
          <p:cNvPicPr>
            <a:picLocks noChangeAspect="1"/>
          </p:cNvPicPr>
          <p:nvPr/>
        </p:nvPicPr>
        <p:blipFill>
          <a:blip r:embed="rId2"/>
          <a:stretch>
            <a:fillRect/>
          </a:stretch>
        </p:blipFill>
        <p:spPr>
          <a:xfrm>
            <a:off x="5991761" y="2073955"/>
            <a:ext cx="2710090" cy="2710090"/>
          </a:xfrm>
          <a:prstGeom prst="rect">
            <a:avLst/>
          </a:prstGeom>
          <a:ln w="12700">
            <a:miter lim="400000"/>
          </a:ln>
        </p:spPr>
      </p:pic>
    </p:spTree>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bg>
      <p:bgPr>
        <a:blipFill rotWithShape="1">
          <a:blip r:embed="rId2"/>
          <a:srcRect/>
          <a:stretch>
            <a:fillRect/>
          </a:stretch>
        </a:blipFill>
        <a:effectLst/>
      </p:bgPr>
    </p:bg>
    <p:spTree>
      <p:nvGrpSpPr>
        <p:cNvPr id="1" name=""/>
        <p:cNvGrpSpPr/>
        <p:nvPr/>
      </p:nvGrpSpPr>
      <p:grpSpPr>
        <a:xfrm>
          <a:off x="0" y="0"/>
          <a:ext cx="0" cy="0"/>
          <a:chOff x="0" y="0"/>
          <a:chExt cx="0" cy="0"/>
        </a:xfrm>
      </p:grpSpPr>
      <p:sp>
        <p:nvSpPr>
          <p:cNvPr id="238" name="Title 1"/>
          <p:cNvSpPr txBox="1">
            <a:spLocks noGrp="1"/>
          </p:cNvSpPr>
          <p:nvPr>
            <p:ph type="title"/>
          </p:nvPr>
        </p:nvSpPr>
        <p:spPr>
          <a:xfrm>
            <a:off x="435182" y="453688"/>
            <a:ext cx="4711701" cy="1563330"/>
          </a:xfrm>
          <a:prstGeom prst="rect">
            <a:avLst/>
          </a:prstGeom>
        </p:spPr>
        <p:txBody>
          <a:bodyPr/>
          <a:lstStyle>
            <a:lvl1pPr>
              <a:defRPr b="1">
                <a:latin typeface="Times New Roman"/>
                <a:ea typeface="Times New Roman"/>
                <a:cs typeface="Times New Roman"/>
                <a:sym typeface="Times New Roman"/>
              </a:defRPr>
            </a:lvl1pPr>
          </a:lstStyle>
          <a:p>
            <a:r>
              <a:t>TOOLS &amp;Technologies</a:t>
            </a:r>
          </a:p>
        </p:txBody>
      </p:sp>
      <p:sp>
        <p:nvSpPr>
          <p:cNvPr id="239" name="Rectangle 2"/>
          <p:cNvSpPr txBox="1">
            <a:spLocks noGrp="1"/>
          </p:cNvSpPr>
          <p:nvPr>
            <p:ph type="body" sz="half" idx="1"/>
          </p:nvPr>
        </p:nvSpPr>
        <p:spPr>
          <a:xfrm>
            <a:off x="514351" y="1455175"/>
            <a:ext cx="4711701" cy="4424515"/>
          </a:xfrm>
          <a:prstGeom prst="rect">
            <a:avLst/>
          </a:prstGeom>
        </p:spPr>
        <p:txBody>
          <a:bodyPr/>
          <a:lstStyle/>
          <a:p>
            <a:pPr marL="0" indent="0" defTabSz="914400">
              <a:spcBef>
                <a:spcPts val="600"/>
              </a:spcBef>
              <a:buClrTx/>
              <a:buFontTx/>
              <a:defRPr b="1">
                <a:latin typeface="Times New Roman"/>
                <a:ea typeface="Times New Roman"/>
                <a:cs typeface="Times New Roman"/>
                <a:sym typeface="Times New Roman"/>
              </a:defRPr>
            </a:pPr>
            <a:r>
              <a:t> Blockchain:</a:t>
            </a:r>
            <a:r>
              <a:rPr b="0"/>
              <a:t> Ethereum + Solidity</a:t>
            </a:r>
          </a:p>
          <a:p>
            <a:pPr marL="0" indent="0" defTabSz="914400">
              <a:spcBef>
                <a:spcPts val="600"/>
              </a:spcBef>
              <a:buSzTx/>
              <a:buNone/>
              <a:defRPr>
                <a:latin typeface="Times New Roman"/>
                <a:ea typeface="Times New Roman"/>
                <a:cs typeface="Times New Roman"/>
                <a:sym typeface="Times New Roman"/>
              </a:defRPr>
            </a:pPr>
            <a:endParaRPr b="0"/>
          </a:p>
          <a:p>
            <a:pPr marL="0" indent="0" defTabSz="914400">
              <a:spcBef>
                <a:spcPts val="600"/>
              </a:spcBef>
              <a:buClrTx/>
              <a:buFontTx/>
              <a:defRPr b="1">
                <a:latin typeface="Times New Roman"/>
                <a:ea typeface="Times New Roman"/>
                <a:cs typeface="Times New Roman"/>
                <a:sym typeface="Times New Roman"/>
              </a:defRPr>
            </a:pPr>
            <a:r>
              <a:t> Development:</a:t>
            </a:r>
            <a:r>
              <a:rPr b="0"/>
              <a:t> Remix IDE, Hardhat</a:t>
            </a:r>
          </a:p>
          <a:p>
            <a:pPr marL="0" indent="0" defTabSz="914400">
              <a:spcBef>
                <a:spcPts val="600"/>
              </a:spcBef>
              <a:buClrTx/>
              <a:buFontTx/>
              <a:defRPr>
                <a:latin typeface="Times New Roman"/>
                <a:ea typeface="Times New Roman"/>
                <a:cs typeface="Times New Roman"/>
                <a:sym typeface="Times New Roman"/>
              </a:defRPr>
            </a:pPr>
            <a:endParaRPr b="0"/>
          </a:p>
          <a:p>
            <a:pPr marL="0" indent="0" defTabSz="914400">
              <a:spcBef>
                <a:spcPts val="600"/>
              </a:spcBef>
              <a:buClrTx/>
              <a:buFontTx/>
              <a:defRPr b="1">
                <a:latin typeface="Times New Roman"/>
                <a:ea typeface="Times New Roman"/>
                <a:cs typeface="Times New Roman"/>
                <a:sym typeface="Times New Roman"/>
              </a:defRPr>
            </a:pPr>
            <a:r>
              <a:t> Network:</a:t>
            </a:r>
            <a:r>
              <a:rPr b="0"/>
              <a:t> MetaMask, Sepolia Test Network,       Sepolia ETH Faucets</a:t>
            </a:r>
          </a:p>
          <a:p>
            <a:pPr marL="0" indent="0" defTabSz="914400">
              <a:spcBef>
                <a:spcPts val="600"/>
              </a:spcBef>
              <a:buClrTx/>
              <a:buFontTx/>
              <a:defRPr>
                <a:latin typeface="Times New Roman"/>
                <a:ea typeface="Times New Roman"/>
                <a:cs typeface="Times New Roman"/>
                <a:sym typeface="Times New Roman"/>
              </a:defRPr>
            </a:pPr>
            <a:endParaRPr b="0"/>
          </a:p>
          <a:p>
            <a:pPr marL="0" indent="0" defTabSz="914400">
              <a:spcBef>
                <a:spcPts val="600"/>
              </a:spcBef>
              <a:buClrTx/>
              <a:buFontTx/>
              <a:defRPr b="1">
                <a:latin typeface="Times New Roman"/>
                <a:ea typeface="Times New Roman"/>
                <a:cs typeface="Times New Roman"/>
                <a:sym typeface="Times New Roman"/>
              </a:defRPr>
            </a:pPr>
            <a:r>
              <a:t> Deployment &amp; Testing:</a:t>
            </a:r>
            <a:r>
              <a:rPr b="0"/>
              <a:t> Hardhat</a:t>
            </a:r>
          </a:p>
          <a:p>
            <a:pPr marL="0" indent="0" defTabSz="914400">
              <a:spcBef>
                <a:spcPts val="600"/>
              </a:spcBef>
              <a:buClrTx/>
              <a:buFontTx/>
              <a:defRPr>
                <a:latin typeface="Times New Roman"/>
                <a:ea typeface="Times New Roman"/>
                <a:cs typeface="Times New Roman"/>
                <a:sym typeface="Times New Roman"/>
              </a:defRPr>
            </a:pPr>
            <a:endParaRPr b="0"/>
          </a:p>
          <a:p>
            <a:pPr marL="0" indent="0" defTabSz="914400">
              <a:spcBef>
                <a:spcPts val="600"/>
              </a:spcBef>
              <a:buClrTx/>
              <a:buFontTx/>
              <a:defRPr b="1">
                <a:latin typeface="Times New Roman"/>
                <a:ea typeface="Times New Roman"/>
                <a:cs typeface="Times New Roman"/>
                <a:sym typeface="Times New Roman"/>
              </a:defRPr>
            </a:pPr>
            <a:r>
              <a:t> Collaboration Tools:</a:t>
            </a:r>
            <a:r>
              <a:rPr b="0"/>
              <a:t> GitHub, VS Code</a:t>
            </a:r>
          </a:p>
        </p:txBody>
      </p:sp>
      <p:pic>
        <p:nvPicPr>
          <p:cNvPr id="240" name="pasted-movie.png" descr="pasted-movie.png"/>
          <p:cNvPicPr>
            <a:picLocks noChangeAspect="1"/>
          </p:cNvPicPr>
          <p:nvPr/>
        </p:nvPicPr>
        <p:blipFill>
          <a:blip r:embed="rId3"/>
          <a:stretch>
            <a:fillRect/>
          </a:stretch>
        </p:blipFill>
        <p:spPr>
          <a:xfrm>
            <a:off x="5575629" y="2279897"/>
            <a:ext cx="3188611" cy="2298206"/>
          </a:xfrm>
          <a:prstGeom prst="rect">
            <a:avLst/>
          </a:prstGeom>
          <a:ln w="12700">
            <a:miter lim="400000"/>
          </a:ln>
        </p:spPr>
      </p:pic>
    </p:spTree>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 name="Title 1"/>
          <p:cNvSpPr txBox="1">
            <a:spLocks noGrp="1"/>
          </p:cNvSpPr>
          <p:nvPr>
            <p:ph type="title"/>
          </p:nvPr>
        </p:nvSpPr>
        <p:spPr>
          <a:xfrm>
            <a:off x="451773" y="63302"/>
            <a:ext cx="4463846" cy="1612492"/>
          </a:xfrm>
          <a:prstGeom prst="rect">
            <a:avLst/>
          </a:prstGeom>
        </p:spPr>
        <p:txBody>
          <a:bodyPr/>
          <a:lstStyle>
            <a:lvl1pPr>
              <a:defRPr b="1">
                <a:latin typeface="Times New Roman"/>
                <a:ea typeface="Times New Roman"/>
                <a:cs typeface="Times New Roman"/>
                <a:sym typeface="Times New Roman"/>
              </a:defRPr>
            </a:lvl1pPr>
          </a:lstStyle>
          <a:p>
            <a:r>
              <a:t>Algorithms &amp; Logic</a:t>
            </a:r>
          </a:p>
        </p:txBody>
      </p:sp>
      <p:sp>
        <p:nvSpPr>
          <p:cNvPr id="243" name="Content Placeholder 2"/>
          <p:cNvSpPr txBox="1">
            <a:spLocks noGrp="1"/>
          </p:cNvSpPr>
          <p:nvPr>
            <p:ph type="body" sz="half" idx="1"/>
          </p:nvPr>
        </p:nvSpPr>
        <p:spPr>
          <a:xfrm>
            <a:off x="462148" y="1303137"/>
            <a:ext cx="5175562" cy="2553727"/>
          </a:xfrm>
          <a:prstGeom prst="rect">
            <a:avLst/>
          </a:prstGeom>
        </p:spPr>
        <p:txBody>
          <a:bodyPr/>
          <a:lstStyle/>
          <a:p>
            <a:pPr marL="0" indent="0">
              <a:spcBef>
                <a:spcPts val="1400"/>
              </a:spcBef>
              <a:buClrTx/>
              <a:buSzTx/>
              <a:buFontTx/>
              <a:buNone/>
              <a:defRPr sz="1500" b="1">
                <a:latin typeface="Times Roman"/>
                <a:ea typeface="Times Roman"/>
                <a:cs typeface="Times Roman"/>
                <a:sym typeface="Times Roman"/>
              </a:defRPr>
            </a:pPr>
            <a:r>
              <a:t>Contribution Algorithm</a:t>
            </a:r>
          </a:p>
          <a:p>
            <a:pPr marL="0" indent="0">
              <a:spcBef>
                <a:spcPts val="1200"/>
              </a:spcBef>
              <a:buClrTx/>
              <a:buSzTx/>
              <a:buFontTx/>
              <a:buNone/>
              <a:defRPr sz="1500" b="1">
                <a:latin typeface="Times Roman"/>
                <a:ea typeface="Times Roman"/>
                <a:cs typeface="Times Roman"/>
                <a:sym typeface="Times Roman"/>
              </a:defRPr>
            </a:pPr>
            <a:r>
              <a:t>Algorithm Steps</a:t>
            </a:r>
            <a:endParaRPr b="0"/>
          </a:p>
          <a:p>
            <a:pPr marL="457200" indent="-317500">
              <a:spcBef>
                <a:spcPts val="1200"/>
              </a:spcBef>
              <a:buClrTx/>
              <a:buFont typeface="Times Roman"/>
              <a:buAutoNum type="arabicPeriod"/>
              <a:defRPr sz="1500">
                <a:latin typeface="Times Roman"/>
                <a:ea typeface="Times Roman"/>
                <a:cs typeface="Times Roman"/>
                <a:sym typeface="Times Roman"/>
              </a:defRPr>
            </a:pPr>
            <a:r>
              <a:t>Ensure the current time is before the deadline.</a:t>
            </a:r>
          </a:p>
          <a:p>
            <a:pPr marL="457200" indent="-317500">
              <a:spcBef>
                <a:spcPts val="1200"/>
              </a:spcBef>
              <a:buClrTx/>
              <a:buFont typeface="Times Roman"/>
              <a:buAutoNum type="arabicPeriod"/>
              <a:defRPr sz="1500">
                <a:latin typeface="Times Roman"/>
                <a:ea typeface="Times Roman"/>
                <a:cs typeface="Times Roman"/>
                <a:sym typeface="Times Roman"/>
              </a:defRPr>
            </a:pPr>
            <a:r>
              <a:t>Check that the contribution meets the minimum amount.</a:t>
            </a:r>
          </a:p>
          <a:p>
            <a:pPr marL="457200" indent="-317500">
              <a:spcBef>
                <a:spcPts val="1200"/>
              </a:spcBef>
              <a:buClrTx/>
              <a:buFont typeface="Times Roman"/>
              <a:buAutoNum type="arabicPeriod"/>
              <a:defRPr sz="1500">
                <a:latin typeface="Times Roman"/>
                <a:ea typeface="Times Roman"/>
                <a:cs typeface="Times Roman"/>
                <a:sym typeface="Times Roman"/>
              </a:defRPr>
            </a:pPr>
            <a:r>
              <a:t>Register new contributors.</a:t>
            </a:r>
          </a:p>
          <a:p>
            <a:pPr marL="457200" indent="-317500">
              <a:spcBef>
                <a:spcPts val="1200"/>
              </a:spcBef>
              <a:buClrTx/>
              <a:buFont typeface="Times Roman"/>
              <a:buAutoNum type="arabicPeriod"/>
              <a:defRPr sz="1500">
                <a:latin typeface="Times Roman"/>
                <a:ea typeface="Times Roman"/>
                <a:cs typeface="Times Roman"/>
                <a:sym typeface="Times Roman"/>
              </a:defRPr>
            </a:pPr>
            <a:r>
              <a:t>Update contributor balance and total raised amount.</a:t>
            </a:r>
          </a:p>
        </p:txBody>
      </p:sp>
      <p:pic>
        <p:nvPicPr>
          <p:cNvPr id="244" name="pasted-movie.png" descr="pasted-movie.png"/>
          <p:cNvPicPr>
            <a:picLocks noChangeAspect="1"/>
          </p:cNvPicPr>
          <p:nvPr/>
        </p:nvPicPr>
        <p:blipFill>
          <a:blip r:embed="rId2"/>
          <a:stretch>
            <a:fillRect/>
          </a:stretch>
        </p:blipFill>
        <p:spPr>
          <a:xfrm>
            <a:off x="6229267" y="2301504"/>
            <a:ext cx="2254992" cy="2254992"/>
          </a:xfrm>
          <a:prstGeom prst="rect">
            <a:avLst/>
          </a:prstGeom>
          <a:ln w="12700">
            <a:miter lim="400000"/>
          </a:ln>
        </p:spPr>
      </p:pic>
      <p:sp>
        <p:nvSpPr>
          <p:cNvPr id="245" name="function sendEth() public payable {…"/>
          <p:cNvSpPr txBox="1"/>
          <p:nvPr/>
        </p:nvSpPr>
        <p:spPr>
          <a:xfrm>
            <a:off x="640263" y="4087956"/>
            <a:ext cx="4265338" cy="2186941"/>
          </a:xfrm>
          <a:prstGeom prst="rect">
            <a:avLst/>
          </a:prstGeom>
          <a:solidFill>
            <a:srgbClr val="304353"/>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p>
            <a:pPr>
              <a:defRPr sz="1300">
                <a:solidFill>
                  <a:srgbClr val="FFFFFF"/>
                </a:solidFill>
                <a:latin typeface="Courier New"/>
                <a:ea typeface="Courier New"/>
                <a:cs typeface="Courier New"/>
                <a:sym typeface="Courier New"/>
              </a:defRPr>
            </a:pPr>
            <a:r>
              <a:t>function sendEth() public payable {</a:t>
            </a:r>
          </a:p>
          <a:p>
            <a:pPr>
              <a:defRPr sz="1300">
                <a:solidFill>
                  <a:srgbClr val="FFFFFF"/>
                </a:solidFill>
                <a:latin typeface="Courier New"/>
                <a:ea typeface="Courier New"/>
                <a:cs typeface="Courier New"/>
                <a:sym typeface="Courier New"/>
              </a:defRPr>
            </a:pPr>
            <a:r>
              <a:t>    require(block.timestamp &lt; deadline);</a:t>
            </a:r>
          </a:p>
          <a:p>
            <a:pPr>
              <a:defRPr sz="1300">
                <a:solidFill>
                  <a:srgbClr val="FFFFFF"/>
                </a:solidFill>
                <a:latin typeface="Courier New"/>
                <a:ea typeface="Courier New"/>
                <a:cs typeface="Courier New"/>
                <a:sym typeface="Courier New"/>
              </a:defRPr>
            </a:pPr>
            <a:r>
              <a:t>    require(msg.value &gt;= minContribution);</a:t>
            </a:r>
          </a:p>
          <a:p>
            <a:pPr>
              <a:defRPr sz="1300">
                <a:solidFill>
                  <a:srgbClr val="FFFFFF"/>
                </a:solidFill>
                <a:latin typeface="Courier New"/>
                <a:ea typeface="Courier New"/>
                <a:cs typeface="Courier New"/>
                <a:sym typeface="Courier New"/>
              </a:defRPr>
            </a:pPr>
            <a:endParaRPr/>
          </a:p>
          <a:p>
            <a:pPr>
              <a:defRPr sz="1300">
                <a:solidFill>
                  <a:srgbClr val="FFFFFF"/>
                </a:solidFill>
                <a:latin typeface="Courier New"/>
                <a:ea typeface="Courier New"/>
                <a:cs typeface="Courier New"/>
                <a:sym typeface="Courier New"/>
              </a:defRPr>
            </a:pPr>
            <a:r>
              <a:t>    if (contributors[msg.sender] == 0) {</a:t>
            </a:r>
          </a:p>
          <a:p>
            <a:pPr>
              <a:defRPr sz="1300">
                <a:solidFill>
                  <a:srgbClr val="FFFFFF"/>
                </a:solidFill>
                <a:latin typeface="Courier New"/>
                <a:ea typeface="Courier New"/>
                <a:cs typeface="Courier New"/>
                <a:sym typeface="Courier New"/>
              </a:defRPr>
            </a:pPr>
            <a:r>
              <a:t>        totcontributors++;</a:t>
            </a:r>
          </a:p>
          <a:p>
            <a:pPr>
              <a:defRPr sz="1300">
                <a:solidFill>
                  <a:srgbClr val="FFFFFF"/>
                </a:solidFill>
                <a:latin typeface="Courier New"/>
                <a:ea typeface="Courier New"/>
                <a:cs typeface="Courier New"/>
                <a:sym typeface="Courier New"/>
              </a:defRPr>
            </a:pPr>
            <a:r>
              <a:t>    }</a:t>
            </a:r>
          </a:p>
          <a:p>
            <a:pPr>
              <a:defRPr sz="1300">
                <a:solidFill>
                  <a:srgbClr val="FFFFFF"/>
                </a:solidFill>
                <a:latin typeface="Courier New"/>
                <a:ea typeface="Courier New"/>
                <a:cs typeface="Courier New"/>
                <a:sym typeface="Courier New"/>
              </a:defRPr>
            </a:pPr>
            <a:r>
              <a:t>    contributors[msg.sender] += msg.value;</a:t>
            </a:r>
          </a:p>
          <a:p>
            <a:pPr>
              <a:defRPr sz="1300">
                <a:solidFill>
                  <a:srgbClr val="FFFFFF"/>
                </a:solidFill>
                <a:latin typeface="Courier New"/>
                <a:ea typeface="Courier New"/>
                <a:cs typeface="Courier New"/>
                <a:sym typeface="Courier New"/>
              </a:defRPr>
            </a:pPr>
            <a:r>
              <a:t>    raisedAmount += msg.value;</a:t>
            </a:r>
          </a:p>
          <a:p>
            <a:pPr>
              <a:defRPr sz="1300">
                <a:solidFill>
                  <a:srgbClr val="FFFFFF"/>
                </a:solidFill>
                <a:latin typeface="Courier New"/>
                <a:ea typeface="Courier New"/>
                <a:cs typeface="Courier New"/>
                <a:sym typeface="Courier New"/>
              </a:defRPr>
            </a:pPr>
            <a:r>
              <a:t>}</a:t>
            </a:r>
          </a:p>
        </p:txBody>
      </p:sp>
    </p:spTree>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7" name="Title 1"/>
          <p:cNvSpPr txBox="1">
            <a:spLocks noGrp="1"/>
          </p:cNvSpPr>
          <p:nvPr>
            <p:ph type="title"/>
          </p:nvPr>
        </p:nvSpPr>
        <p:spPr>
          <a:xfrm>
            <a:off x="451773" y="63302"/>
            <a:ext cx="4463846" cy="1612492"/>
          </a:xfrm>
          <a:prstGeom prst="rect">
            <a:avLst/>
          </a:prstGeom>
        </p:spPr>
        <p:txBody>
          <a:bodyPr/>
          <a:lstStyle>
            <a:lvl1pPr>
              <a:defRPr b="1">
                <a:latin typeface="Times New Roman"/>
                <a:ea typeface="Times New Roman"/>
                <a:cs typeface="Times New Roman"/>
                <a:sym typeface="Times New Roman"/>
              </a:defRPr>
            </a:lvl1pPr>
          </a:lstStyle>
          <a:p>
            <a:r>
              <a:t>Algorithms &amp; Logic</a:t>
            </a:r>
          </a:p>
        </p:txBody>
      </p:sp>
      <p:sp>
        <p:nvSpPr>
          <p:cNvPr id="248" name="Content Placeholder 2"/>
          <p:cNvSpPr txBox="1">
            <a:spLocks noGrp="1"/>
          </p:cNvSpPr>
          <p:nvPr>
            <p:ph type="body" sz="half" idx="1"/>
          </p:nvPr>
        </p:nvSpPr>
        <p:spPr>
          <a:xfrm>
            <a:off x="462148" y="1303137"/>
            <a:ext cx="5175562" cy="2553727"/>
          </a:xfrm>
          <a:prstGeom prst="rect">
            <a:avLst/>
          </a:prstGeom>
        </p:spPr>
        <p:txBody>
          <a:bodyPr/>
          <a:lstStyle/>
          <a:p>
            <a:pPr marL="0" indent="0">
              <a:spcBef>
                <a:spcPts val="1400"/>
              </a:spcBef>
              <a:buClrTx/>
              <a:buSzTx/>
              <a:buFontTx/>
              <a:buNone/>
              <a:defRPr sz="1500" b="1">
                <a:latin typeface="Times Roman"/>
                <a:ea typeface="Times Roman"/>
                <a:cs typeface="Times Roman"/>
                <a:sym typeface="Times Roman"/>
              </a:defRPr>
            </a:pPr>
            <a:r>
              <a:t>Refund Algorithm</a:t>
            </a:r>
          </a:p>
          <a:p>
            <a:pPr marL="0" indent="0">
              <a:spcBef>
                <a:spcPts val="1200"/>
              </a:spcBef>
              <a:buClrTx/>
              <a:buSzTx/>
              <a:buFontTx/>
              <a:buNone/>
              <a:defRPr sz="1500" b="1">
                <a:latin typeface="Times Roman"/>
                <a:ea typeface="Times Roman"/>
                <a:cs typeface="Times Roman"/>
                <a:sym typeface="Times Roman"/>
              </a:defRPr>
            </a:pPr>
            <a:r>
              <a:t>Algorithm Steps</a:t>
            </a:r>
            <a:endParaRPr b="0"/>
          </a:p>
          <a:p>
            <a:pPr marL="457200" indent="-317500">
              <a:spcBef>
                <a:spcPts val="1200"/>
              </a:spcBef>
              <a:buClrTx/>
              <a:buFont typeface="Times Roman"/>
              <a:buAutoNum type="arabicPeriod"/>
              <a:defRPr sz="1500">
                <a:latin typeface="Times Roman"/>
                <a:ea typeface="Times Roman"/>
                <a:cs typeface="Times Roman"/>
                <a:sym typeface="Times Roman"/>
              </a:defRPr>
            </a:pPr>
            <a:r>
              <a:t>Check that the deadline has passed.</a:t>
            </a:r>
          </a:p>
          <a:p>
            <a:pPr marL="457200" indent="-317500">
              <a:spcBef>
                <a:spcPts val="1200"/>
              </a:spcBef>
              <a:buClrTx/>
              <a:buFont typeface="Times Roman"/>
              <a:buAutoNum type="arabicPeriod"/>
              <a:defRPr sz="1500">
                <a:latin typeface="Times Roman"/>
                <a:ea typeface="Times Roman"/>
                <a:cs typeface="Times Roman"/>
                <a:sym typeface="Times Roman"/>
              </a:defRPr>
            </a:pPr>
            <a:r>
              <a:t>Ensure the target was not reached.</a:t>
            </a:r>
          </a:p>
          <a:p>
            <a:pPr marL="457200" indent="-317500">
              <a:spcBef>
                <a:spcPts val="1200"/>
              </a:spcBef>
              <a:buClrTx/>
              <a:buFont typeface="Times Roman"/>
              <a:buAutoNum type="arabicPeriod"/>
              <a:defRPr sz="1500">
                <a:latin typeface="Times Roman"/>
                <a:ea typeface="Times Roman"/>
                <a:cs typeface="Times Roman"/>
                <a:sym typeface="Times Roman"/>
              </a:defRPr>
            </a:pPr>
            <a:r>
              <a:t>Verify caller is a contributor.</a:t>
            </a:r>
          </a:p>
          <a:p>
            <a:pPr marL="457200" indent="-317500">
              <a:spcBef>
                <a:spcPts val="1200"/>
              </a:spcBef>
              <a:buClrTx/>
              <a:buFont typeface="Times Roman"/>
              <a:buAutoNum type="arabicPeriod"/>
              <a:defRPr sz="1500">
                <a:latin typeface="Times Roman"/>
                <a:ea typeface="Times Roman"/>
                <a:cs typeface="Times Roman"/>
                <a:sym typeface="Times Roman"/>
              </a:defRPr>
            </a:pPr>
            <a:r>
              <a:t>Return contributed Ether.</a:t>
            </a:r>
          </a:p>
        </p:txBody>
      </p:sp>
      <p:sp>
        <p:nvSpPr>
          <p:cNvPr id="249" name="function refund() public {…"/>
          <p:cNvSpPr txBox="1"/>
          <p:nvPr/>
        </p:nvSpPr>
        <p:spPr>
          <a:xfrm>
            <a:off x="640263" y="4087956"/>
            <a:ext cx="4364414" cy="1805941"/>
          </a:xfrm>
          <a:prstGeom prst="rect">
            <a:avLst/>
          </a:prstGeom>
          <a:solidFill>
            <a:srgbClr val="304353"/>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p>
            <a:pPr>
              <a:defRPr sz="1300">
                <a:solidFill>
                  <a:srgbClr val="FFFFFF"/>
                </a:solidFill>
                <a:latin typeface="Courier New"/>
                <a:ea typeface="Courier New"/>
                <a:cs typeface="Courier New"/>
                <a:sym typeface="Courier New"/>
              </a:defRPr>
            </a:pPr>
            <a:r>
              <a:t>function refund() public {</a:t>
            </a:r>
          </a:p>
          <a:p>
            <a:pPr>
              <a:defRPr sz="1300">
                <a:solidFill>
                  <a:srgbClr val="FFFFFF"/>
                </a:solidFill>
                <a:latin typeface="Courier New"/>
                <a:ea typeface="Courier New"/>
                <a:cs typeface="Courier New"/>
                <a:sym typeface="Courier New"/>
              </a:defRPr>
            </a:pPr>
            <a:r>
              <a:t>    require(block.timestamp &gt; deadline);</a:t>
            </a:r>
          </a:p>
          <a:p>
            <a:pPr>
              <a:defRPr sz="1300">
                <a:solidFill>
                  <a:srgbClr val="FFFFFF"/>
                </a:solidFill>
                <a:latin typeface="Courier New"/>
                <a:ea typeface="Courier New"/>
                <a:cs typeface="Courier New"/>
                <a:sym typeface="Courier New"/>
              </a:defRPr>
            </a:pPr>
            <a:r>
              <a:t>    require(raisedAmount &lt; target);</a:t>
            </a:r>
          </a:p>
          <a:p>
            <a:pPr>
              <a:defRPr sz="1300">
                <a:solidFill>
                  <a:srgbClr val="FFFFFF"/>
                </a:solidFill>
                <a:latin typeface="Courier New"/>
                <a:ea typeface="Courier New"/>
                <a:cs typeface="Courier New"/>
                <a:sym typeface="Courier New"/>
              </a:defRPr>
            </a:pPr>
            <a:r>
              <a:t>    require(contributors[msg.sender] &gt; 0);</a:t>
            </a:r>
          </a:p>
          <a:p>
            <a:pPr>
              <a:defRPr sz="1300">
                <a:solidFill>
                  <a:srgbClr val="FFFFFF"/>
                </a:solidFill>
                <a:latin typeface="Courier New"/>
                <a:ea typeface="Courier New"/>
                <a:cs typeface="Courier New"/>
                <a:sym typeface="Courier New"/>
              </a:defRPr>
            </a:pPr>
            <a:endParaRPr/>
          </a:p>
          <a:p>
            <a:pPr>
              <a:defRPr sz="1300">
                <a:solidFill>
                  <a:srgbClr val="FFFFFF"/>
                </a:solidFill>
                <a:latin typeface="Courier New"/>
                <a:ea typeface="Courier New"/>
                <a:cs typeface="Courier New"/>
                <a:sym typeface="Courier New"/>
              </a:defRPr>
            </a:pPr>
            <a:r>
              <a:t>    uint amount = contributors[msg.sender];</a:t>
            </a:r>
          </a:p>
          <a:p>
            <a:pPr>
              <a:defRPr sz="1300">
                <a:solidFill>
                  <a:srgbClr val="FFFFFF"/>
                </a:solidFill>
                <a:latin typeface="Courier New"/>
                <a:ea typeface="Courier New"/>
                <a:cs typeface="Courier New"/>
                <a:sym typeface="Courier New"/>
              </a:defRPr>
            </a:pPr>
            <a:r>
              <a:t>    contributors[msg.sender] = 0;</a:t>
            </a:r>
          </a:p>
          <a:p>
            <a:pPr>
              <a:defRPr sz="1300">
                <a:solidFill>
                  <a:srgbClr val="FFFFFF"/>
                </a:solidFill>
                <a:latin typeface="Courier New"/>
                <a:ea typeface="Courier New"/>
                <a:cs typeface="Courier New"/>
                <a:sym typeface="Courier New"/>
              </a:defRPr>
            </a:pPr>
            <a:r>
              <a:t>    payable(msg.sender).transfer(amount);</a:t>
            </a:r>
          </a:p>
          <a:p>
            <a:pPr>
              <a:defRPr sz="1300">
                <a:solidFill>
                  <a:srgbClr val="FFFFFF"/>
                </a:solidFill>
                <a:latin typeface="Courier New"/>
                <a:ea typeface="Courier New"/>
                <a:cs typeface="Courier New"/>
                <a:sym typeface="Courier New"/>
              </a:defRPr>
            </a:pPr>
            <a:r>
              <a:t>}</a:t>
            </a:r>
          </a:p>
        </p:txBody>
      </p:sp>
      <p:pic>
        <p:nvPicPr>
          <p:cNvPr id="250" name="pasted-movie.png" descr="pasted-movie.png"/>
          <p:cNvPicPr>
            <a:picLocks noChangeAspect="1"/>
          </p:cNvPicPr>
          <p:nvPr/>
        </p:nvPicPr>
        <p:blipFill>
          <a:blip r:embed="rId2"/>
          <a:stretch>
            <a:fillRect/>
          </a:stretch>
        </p:blipFill>
        <p:spPr>
          <a:xfrm>
            <a:off x="6150428" y="2362854"/>
            <a:ext cx="2132292" cy="2132292"/>
          </a:xfrm>
          <a:prstGeom prst="rect">
            <a:avLst/>
          </a:prstGeom>
          <a:ln w="12700">
            <a:miter lim="400000"/>
          </a:ln>
        </p:spPr>
      </p:pic>
    </p:spTree>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2" name="Title 1"/>
          <p:cNvSpPr txBox="1">
            <a:spLocks noGrp="1"/>
          </p:cNvSpPr>
          <p:nvPr>
            <p:ph type="title"/>
          </p:nvPr>
        </p:nvSpPr>
        <p:spPr>
          <a:xfrm>
            <a:off x="451773" y="63302"/>
            <a:ext cx="4463846" cy="1612492"/>
          </a:xfrm>
          <a:prstGeom prst="rect">
            <a:avLst/>
          </a:prstGeom>
        </p:spPr>
        <p:txBody>
          <a:bodyPr/>
          <a:lstStyle>
            <a:lvl1pPr>
              <a:defRPr b="1">
                <a:latin typeface="Times New Roman"/>
                <a:ea typeface="Times New Roman"/>
                <a:cs typeface="Times New Roman"/>
                <a:sym typeface="Times New Roman"/>
              </a:defRPr>
            </a:lvl1pPr>
          </a:lstStyle>
          <a:p>
            <a:r>
              <a:t>Algorithms &amp; Logic</a:t>
            </a:r>
          </a:p>
        </p:txBody>
      </p:sp>
      <p:sp>
        <p:nvSpPr>
          <p:cNvPr id="253" name="Content Placeholder 2"/>
          <p:cNvSpPr txBox="1">
            <a:spLocks noGrp="1"/>
          </p:cNvSpPr>
          <p:nvPr>
            <p:ph type="body" sz="half" idx="1"/>
          </p:nvPr>
        </p:nvSpPr>
        <p:spPr>
          <a:xfrm>
            <a:off x="462148" y="1303137"/>
            <a:ext cx="5175562" cy="2553727"/>
          </a:xfrm>
          <a:prstGeom prst="rect">
            <a:avLst/>
          </a:prstGeom>
        </p:spPr>
        <p:txBody>
          <a:bodyPr/>
          <a:lstStyle/>
          <a:p>
            <a:pPr marL="0" indent="0">
              <a:spcBef>
                <a:spcPts val="1400"/>
              </a:spcBef>
              <a:buClrTx/>
              <a:buSzTx/>
              <a:buFontTx/>
              <a:buNone/>
              <a:defRPr sz="1500" b="1">
                <a:latin typeface="Times Roman"/>
                <a:ea typeface="Times Roman"/>
                <a:cs typeface="Times Roman"/>
                <a:sym typeface="Times Roman"/>
              </a:defRPr>
            </a:pPr>
            <a:r>
              <a:t>Request Approval &amp; Payment Algorithm</a:t>
            </a:r>
          </a:p>
          <a:p>
            <a:pPr marL="0" indent="0">
              <a:spcBef>
                <a:spcPts val="1200"/>
              </a:spcBef>
              <a:buClrTx/>
              <a:buSzTx/>
              <a:buFontTx/>
              <a:buNone/>
              <a:defRPr sz="1500" b="1">
                <a:latin typeface="Times Roman"/>
                <a:ea typeface="Times Roman"/>
                <a:cs typeface="Times Roman"/>
                <a:sym typeface="Times Roman"/>
              </a:defRPr>
            </a:pPr>
            <a:r>
              <a:t>Algorithm Steps</a:t>
            </a:r>
            <a:endParaRPr b="0"/>
          </a:p>
          <a:p>
            <a:pPr marL="457200" indent="-317500">
              <a:spcBef>
                <a:spcPts val="1200"/>
              </a:spcBef>
              <a:buClrTx/>
              <a:buFont typeface="Times Roman"/>
              <a:buAutoNum type="arabicPeriod"/>
              <a:defRPr sz="1500">
                <a:latin typeface="Times Roman"/>
                <a:ea typeface="Times Roman"/>
                <a:cs typeface="Times Roman"/>
                <a:sym typeface="Times Roman"/>
              </a:defRPr>
            </a:pPr>
            <a:r>
              <a:t>Manager creates a spending request.</a:t>
            </a:r>
          </a:p>
          <a:p>
            <a:pPr marL="457200" indent="-317500">
              <a:spcBef>
                <a:spcPts val="1200"/>
              </a:spcBef>
              <a:buClrTx/>
              <a:buFont typeface="Times Roman"/>
              <a:buAutoNum type="arabicPeriod"/>
              <a:defRPr sz="1500">
                <a:latin typeface="Times Roman"/>
                <a:ea typeface="Times Roman"/>
                <a:cs typeface="Times Roman"/>
                <a:sym typeface="Times Roman"/>
              </a:defRPr>
            </a:pPr>
            <a:r>
              <a:t>Contributors vote (one vote per contributor).</a:t>
            </a:r>
          </a:p>
          <a:p>
            <a:pPr marL="457200" indent="-317500">
              <a:spcBef>
                <a:spcPts val="1200"/>
              </a:spcBef>
              <a:buClrTx/>
              <a:buFont typeface="Times Roman"/>
              <a:buAutoNum type="arabicPeriod"/>
              <a:defRPr sz="1500">
                <a:latin typeface="Times Roman"/>
                <a:ea typeface="Times Roman"/>
                <a:cs typeface="Times Roman"/>
                <a:sym typeface="Times Roman"/>
              </a:defRPr>
            </a:pPr>
            <a:r>
              <a:t>After deadline, check majority approval.</a:t>
            </a:r>
          </a:p>
          <a:p>
            <a:pPr marL="457200" indent="-317500">
              <a:spcBef>
                <a:spcPts val="1200"/>
              </a:spcBef>
              <a:buClrTx/>
              <a:buFont typeface="Times Roman"/>
              <a:buAutoNum type="arabicPeriod"/>
              <a:defRPr sz="1500">
                <a:latin typeface="Times Roman"/>
                <a:ea typeface="Times Roman"/>
                <a:cs typeface="Times Roman"/>
                <a:sym typeface="Times Roman"/>
              </a:defRPr>
            </a:pPr>
            <a:r>
              <a:t>Transfer funds and mark request completed.</a:t>
            </a:r>
          </a:p>
        </p:txBody>
      </p:sp>
      <p:sp>
        <p:nvSpPr>
          <p:cNvPr id="254" name="function makePay(uint256 _requestNo) public {…"/>
          <p:cNvSpPr txBox="1"/>
          <p:nvPr/>
        </p:nvSpPr>
        <p:spPr>
          <a:xfrm>
            <a:off x="640263" y="4087956"/>
            <a:ext cx="4760718" cy="2186941"/>
          </a:xfrm>
          <a:prstGeom prst="rect">
            <a:avLst/>
          </a:prstGeom>
          <a:solidFill>
            <a:srgbClr val="304353"/>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p>
            <a:pPr>
              <a:defRPr sz="1300">
                <a:solidFill>
                  <a:srgbClr val="FFFFFF"/>
                </a:solidFill>
                <a:latin typeface="Courier New"/>
                <a:ea typeface="Courier New"/>
                <a:cs typeface="Courier New"/>
                <a:sym typeface="Courier New"/>
              </a:defRPr>
            </a:pPr>
            <a:r>
              <a:t>function makePay(uint256 _requestNo) public {</a:t>
            </a:r>
          </a:p>
          <a:p>
            <a:pPr>
              <a:defRPr sz="1300">
                <a:solidFill>
                  <a:srgbClr val="FFFFFF"/>
                </a:solidFill>
                <a:latin typeface="Courier New"/>
                <a:ea typeface="Courier New"/>
                <a:cs typeface="Courier New"/>
                <a:sym typeface="Courier New"/>
              </a:defRPr>
            </a:pPr>
            <a:r>
              <a:t>    Request storage r = request[_requestNo];</a:t>
            </a:r>
          </a:p>
          <a:p>
            <a:pPr>
              <a:defRPr sz="1300">
                <a:solidFill>
                  <a:srgbClr val="FFFFFF"/>
                </a:solidFill>
                <a:latin typeface="Courier New"/>
                <a:ea typeface="Courier New"/>
                <a:cs typeface="Courier New"/>
                <a:sym typeface="Courier New"/>
              </a:defRPr>
            </a:pPr>
            <a:endParaRPr/>
          </a:p>
          <a:p>
            <a:pPr>
              <a:defRPr sz="1300">
                <a:solidFill>
                  <a:srgbClr val="FFFFFF"/>
                </a:solidFill>
                <a:latin typeface="Courier New"/>
                <a:ea typeface="Courier New"/>
                <a:cs typeface="Courier New"/>
                <a:sym typeface="Courier New"/>
              </a:defRPr>
            </a:pPr>
            <a:r>
              <a:t>    require(block.timestamp &gt; deadline);</a:t>
            </a:r>
          </a:p>
          <a:p>
            <a:pPr>
              <a:defRPr sz="1300">
                <a:solidFill>
                  <a:srgbClr val="FFFFFF"/>
                </a:solidFill>
                <a:latin typeface="Courier New"/>
                <a:ea typeface="Courier New"/>
                <a:cs typeface="Courier New"/>
                <a:sym typeface="Courier New"/>
              </a:defRPr>
            </a:pPr>
            <a:r>
              <a:t>    require(raisedAmount &gt;= target);</a:t>
            </a:r>
          </a:p>
          <a:p>
            <a:pPr>
              <a:defRPr sz="1300">
                <a:solidFill>
                  <a:srgbClr val="FFFFFF"/>
                </a:solidFill>
                <a:latin typeface="Courier New"/>
                <a:ea typeface="Courier New"/>
                <a:cs typeface="Courier New"/>
                <a:sym typeface="Courier New"/>
              </a:defRPr>
            </a:pPr>
            <a:r>
              <a:t>    require(!r.completed);</a:t>
            </a:r>
          </a:p>
          <a:p>
            <a:pPr>
              <a:defRPr sz="1300">
                <a:solidFill>
                  <a:srgbClr val="FFFFFF"/>
                </a:solidFill>
                <a:latin typeface="Courier New"/>
                <a:ea typeface="Courier New"/>
                <a:cs typeface="Courier New"/>
                <a:sym typeface="Courier New"/>
              </a:defRPr>
            </a:pPr>
            <a:r>
              <a:t>    require(r.totVoters &gt; totcontributors / 2);</a:t>
            </a:r>
          </a:p>
          <a:p>
            <a:pPr>
              <a:defRPr sz="1300">
                <a:solidFill>
                  <a:srgbClr val="FFFFFF"/>
                </a:solidFill>
                <a:latin typeface="Courier New"/>
                <a:ea typeface="Courier New"/>
                <a:cs typeface="Courier New"/>
                <a:sym typeface="Courier New"/>
              </a:defRPr>
            </a:pPr>
            <a:endParaRPr/>
          </a:p>
          <a:p>
            <a:pPr>
              <a:defRPr sz="1300">
                <a:solidFill>
                  <a:srgbClr val="FFFFFF"/>
                </a:solidFill>
                <a:latin typeface="Courier New"/>
                <a:ea typeface="Courier New"/>
                <a:cs typeface="Courier New"/>
                <a:sym typeface="Courier New"/>
              </a:defRPr>
            </a:pPr>
            <a:r>
              <a:t>    r.recipient.transfer(r.value);</a:t>
            </a:r>
          </a:p>
          <a:p>
            <a:pPr>
              <a:defRPr sz="1300">
                <a:solidFill>
                  <a:srgbClr val="FFFFFF"/>
                </a:solidFill>
                <a:latin typeface="Courier New"/>
                <a:ea typeface="Courier New"/>
                <a:cs typeface="Courier New"/>
                <a:sym typeface="Courier New"/>
              </a:defRPr>
            </a:pPr>
            <a:r>
              <a:t>    r.completed = true;</a:t>
            </a:r>
          </a:p>
          <a:p>
            <a:pPr>
              <a:defRPr sz="1300">
                <a:solidFill>
                  <a:srgbClr val="FFFFFF"/>
                </a:solidFill>
                <a:latin typeface="Courier New"/>
                <a:ea typeface="Courier New"/>
                <a:cs typeface="Courier New"/>
                <a:sym typeface="Courier New"/>
              </a:defRPr>
            </a:pPr>
            <a:r>
              <a:t>}</a:t>
            </a:r>
          </a:p>
        </p:txBody>
      </p:sp>
      <p:pic>
        <p:nvPicPr>
          <p:cNvPr id="255" name="pasted-movie.png" descr="pasted-movie.png"/>
          <p:cNvPicPr>
            <a:picLocks noChangeAspect="1"/>
          </p:cNvPicPr>
          <p:nvPr/>
        </p:nvPicPr>
        <p:blipFill>
          <a:blip r:embed="rId2"/>
          <a:stretch>
            <a:fillRect/>
          </a:stretch>
        </p:blipFill>
        <p:spPr>
          <a:xfrm>
            <a:off x="6402449" y="2122384"/>
            <a:ext cx="2123459" cy="2123459"/>
          </a:xfrm>
          <a:prstGeom prst="rect">
            <a:avLst/>
          </a:prstGeom>
          <a:ln w="12700">
            <a:miter lim="400000"/>
          </a:ln>
        </p:spPr>
      </p:pic>
    </p:spTree>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7" name="Content Placeholder 2"/>
          <p:cNvSpPr txBox="1">
            <a:spLocks noGrp="1"/>
          </p:cNvSpPr>
          <p:nvPr>
            <p:ph type="body" sz="quarter" idx="4294967295"/>
          </p:nvPr>
        </p:nvSpPr>
        <p:spPr>
          <a:xfrm>
            <a:off x="2954593" y="2132152"/>
            <a:ext cx="3234814" cy="2066670"/>
          </a:xfrm>
          <a:prstGeom prst="rect">
            <a:avLst/>
          </a:prstGeom>
          <a:effectLst>
            <a:outerShdw blurRad="254000" rotWithShape="0">
              <a:srgbClr val="000000">
                <a:alpha val="43000"/>
              </a:srgbClr>
            </a:outerShdw>
          </a:effectLst>
        </p:spPr>
        <p:txBody>
          <a:bodyPr lIns="45719" tIns="45720" rIns="45719" bIns="45720" anchor="ctr">
            <a:normAutofit/>
          </a:bodyPr>
          <a:lstStyle>
            <a:lvl1pPr marL="0" indent="0">
              <a:buSzTx/>
              <a:buNone/>
              <a:defRPr sz="4800">
                <a:latin typeface="Times New Roman"/>
                <a:ea typeface="Times New Roman"/>
                <a:cs typeface="Times New Roman"/>
                <a:sym typeface="Times New Roman"/>
              </a:defRPr>
            </a:lvl1pPr>
          </a:lstStyle>
          <a:p>
            <a:pPr algn="ctr"/>
            <a:r>
              <a:t>  Diagrams</a:t>
            </a:r>
          </a:p>
        </p:txBody>
      </p:sp>
    </p:spTree>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9" name="Title 1"/>
          <p:cNvSpPr txBox="1">
            <a:spLocks noGrp="1"/>
          </p:cNvSpPr>
          <p:nvPr>
            <p:ph type="title"/>
          </p:nvPr>
        </p:nvSpPr>
        <p:spPr>
          <a:xfrm>
            <a:off x="793101" y="609601"/>
            <a:ext cx="7772401" cy="1456268"/>
          </a:xfrm>
          <a:prstGeom prst="rect">
            <a:avLst/>
          </a:prstGeom>
        </p:spPr>
        <p:txBody>
          <a:bodyPr/>
          <a:lstStyle>
            <a:lvl1pPr>
              <a:defRPr>
                <a:latin typeface="Times New Roman"/>
                <a:ea typeface="Times New Roman"/>
                <a:cs typeface="Times New Roman"/>
                <a:sym typeface="Times New Roman"/>
              </a:defRPr>
            </a:lvl1pPr>
          </a:lstStyle>
          <a:p>
            <a:r>
              <a:t>Architecture Diagram</a:t>
            </a:r>
          </a:p>
        </p:txBody>
      </p:sp>
      <p:pic>
        <p:nvPicPr>
          <p:cNvPr id="260" name="Content Placeholder 7" descr="Content Placeholder 7"/>
          <p:cNvPicPr>
            <a:picLocks noChangeAspect="1"/>
          </p:cNvPicPr>
          <p:nvPr/>
        </p:nvPicPr>
        <p:blipFill>
          <a:blip r:embed="rId2"/>
          <a:stretch>
            <a:fillRect/>
          </a:stretch>
        </p:blipFill>
        <p:spPr>
          <a:xfrm>
            <a:off x="845641" y="2141538"/>
            <a:ext cx="6995518" cy="3649663"/>
          </a:xfrm>
          <a:prstGeom prst="rect">
            <a:avLst/>
          </a:prstGeom>
          <a:ln w="12700">
            <a:miter lim="400000"/>
          </a:ln>
        </p:spPr>
      </p:pic>
    </p:spTree>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2" name="Title 1"/>
          <p:cNvSpPr txBox="1">
            <a:spLocks noGrp="1"/>
          </p:cNvSpPr>
          <p:nvPr>
            <p:ph type="title"/>
          </p:nvPr>
        </p:nvSpPr>
        <p:spPr>
          <a:prstGeom prst="rect">
            <a:avLst/>
          </a:prstGeom>
        </p:spPr>
        <p:txBody>
          <a:bodyPr/>
          <a:lstStyle>
            <a:lvl1pPr>
              <a:defRPr>
                <a:latin typeface="Times New Roman"/>
                <a:ea typeface="Times New Roman"/>
                <a:cs typeface="Times New Roman"/>
                <a:sym typeface="Times New Roman"/>
              </a:defRPr>
            </a:lvl1pPr>
          </a:lstStyle>
          <a:p>
            <a:r>
              <a:t>Context Diagram</a:t>
            </a:r>
          </a:p>
        </p:txBody>
      </p:sp>
      <p:pic>
        <p:nvPicPr>
          <p:cNvPr id="263" name="Picture 3" descr="Picture 3"/>
          <p:cNvPicPr>
            <a:picLocks noChangeAspect="1"/>
          </p:cNvPicPr>
          <p:nvPr/>
        </p:nvPicPr>
        <p:blipFill>
          <a:blip r:embed="rId2"/>
          <a:stretch>
            <a:fillRect/>
          </a:stretch>
        </p:blipFill>
        <p:spPr>
          <a:xfrm>
            <a:off x="574997" y="1828800"/>
            <a:ext cx="7100492" cy="3704605"/>
          </a:xfrm>
          <a:prstGeom prst="rect">
            <a:avLst/>
          </a:prstGeom>
          <a:ln w="12700">
            <a:miter lim="400000"/>
          </a:ln>
        </p:spPr>
      </p:pic>
    </p:spTree>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5" name="Title 1"/>
          <p:cNvSpPr txBox="1">
            <a:spLocks noGrp="1"/>
          </p:cNvSpPr>
          <p:nvPr>
            <p:ph type="title"/>
          </p:nvPr>
        </p:nvSpPr>
        <p:spPr>
          <a:xfrm>
            <a:off x="220823" y="-99526"/>
            <a:ext cx="7772401" cy="943896"/>
          </a:xfrm>
          <a:prstGeom prst="rect">
            <a:avLst/>
          </a:prstGeom>
        </p:spPr>
        <p:txBody>
          <a:bodyPr/>
          <a:lstStyle>
            <a:lvl1pPr>
              <a:defRPr>
                <a:latin typeface="Times New Roman"/>
                <a:ea typeface="Times New Roman"/>
                <a:cs typeface="Times New Roman"/>
                <a:sym typeface="Times New Roman"/>
              </a:defRPr>
            </a:lvl1pPr>
          </a:lstStyle>
          <a:p>
            <a:r>
              <a:t>state Diagram</a:t>
            </a:r>
          </a:p>
        </p:txBody>
      </p:sp>
      <p:pic>
        <p:nvPicPr>
          <p:cNvPr id="266" name="Picture 5" descr="Picture 5"/>
          <p:cNvPicPr>
            <a:picLocks noChangeAspect="1"/>
          </p:cNvPicPr>
          <p:nvPr/>
        </p:nvPicPr>
        <p:blipFill>
          <a:blip r:embed="rId2"/>
          <a:stretch>
            <a:fillRect/>
          </a:stretch>
        </p:blipFill>
        <p:spPr>
          <a:xfrm>
            <a:off x="310916" y="744843"/>
            <a:ext cx="8578047" cy="6053779"/>
          </a:xfrm>
          <a:prstGeom prst="rect">
            <a:avLst/>
          </a:prstGeom>
          <a:ln w="12700">
            <a:miter lim="400000"/>
          </a:ln>
        </p:spPr>
      </p:pic>
    </p:spTree>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8" name="Title 1"/>
          <p:cNvSpPr txBox="1">
            <a:spLocks noGrp="1"/>
          </p:cNvSpPr>
          <p:nvPr>
            <p:ph type="title"/>
          </p:nvPr>
        </p:nvSpPr>
        <p:spPr>
          <a:xfrm>
            <a:off x="732876" y="-243869"/>
            <a:ext cx="7772401" cy="1456268"/>
          </a:xfrm>
          <a:prstGeom prst="rect">
            <a:avLst/>
          </a:prstGeom>
        </p:spPr>
        <p:txBody>
          <a:bodyPr/>
          <a:lstStyle>
            <a:lvl1pPr>
              <a:defRPr>
                <a:latin typeface="Times New Roman"/>
                <a:ea typeface="Times New Roman"/>
                <a:cs typeface="Times New Roman"/>
                <a:sym typeface="Times New Roman"/>
              </a:defRPr>
            </a:lvl1pPr>
          </a:lstStyle>
          <a:p>
            <a:r>
              <a:t>ER Diagram</a:t>
            </a:r>
          </a:p>
        </p:txBody>
      </p:sp>
      <p:pic>
        <p:nvPicPr>
          <p:cNvPr id="269" name="Picture 3" descr="Picture 3"/>
          <p:cNvPicPr>
            <a:picLocks noChangeAspect="1"/>
          </p:cNvPicPr>
          <p:nvPr/>
        </p:nvPicPr>
        <p:blipFill>
          <a:blip r:embed="rId2"/>
          <a:stretch>
            <a:fillRect/>
          </a:stretch>
        </p:blipFill>
        <p:spPr>
          <a:xfrm>
            <a:off x="775936" y="867747"/>
            <a:ext cx="4766449" cy="5687313"/>
          </a:xfrm>
          <a:prstGeom prst="rect">
            <a:avLst/>
          </a:prstGeom>
          <a:ln w="12700">
            <a:miter lim="400000"/>
          </a:ln>
        </p:spPr>
      </p:pic>
    </p:spTree>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1" name="Title 1"/>
          <p:cNvSpPr txBox="1">
            <a:spLocks noGrp="1"/>
          </p:cNvSpPr>
          <p:nvPr>
            <p:ph type="title"/>
          </p:nvPr>
        </p:nvSpPr>
        <p:spPr>
          <a:xfrm>
            <a:off x="457198" y="-167950"/>
            <a:ext cx="7772401" cy="1456269"/>
          </a:xfrm>
          <a:prstGeom prst="rect">
            <a:avLst/>
          </a:prstGeom>
        </p:spPr>
        <p:txBody>
          <a:bodyPr/>
          <a:lstStyle>
            <a:lvl1pPr>
              <a:defRPr>
                <a:latin typeface="Times New Roman"/>
                <a:ea typeface="Times New Roman"/>
                <a:cs typeface="Times New Roman"/>
                <a:sym typeface="Times New Roman"/>
              </a:defRPr>
            </a:lvl1pPr>
          </a:lstStyle>
          <a:p>
            <a:r>
              <a:t>Class Diagram</a:t>
            </a:r>
          </a:p>
        </p:txBody>
      </p:sp>
      <p:pic>
        <p:nvPicPr>
          <p:cNvPr id="272" name="Picture 3" descr="Picture 3"/>
          <p:cNvPicPr>
            <a:picLocks noChangeAspect="1"/>
          </p:cNvPicPr>
          <p:nvPr/>
        </p:nvPicPr>
        <p:blipFill>
          <a:blip r:embed="rId2"/>
          <a:stretch>
            <a:fillRect/>
          </a:stretch>
        </p:blipFill>
        <p:spPr>
          <a:xfrm>
            <a:off x="553614" y="1060091"/>
            <a:ext cx="5797422" cy="5504499"/>
          </a:xfrm>
          <a:prstGeom prst="rect">
            <a:avLst/>
          </a:prstGeom>
          <a:ln w="12700">
            <a:miter lim="400000"/>
          </a:ln>
        </p:spPr>
      </p:pic>
    </p:spTree>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4" name="Title 1"/>
          <p:cNvSpPr txBox="1">
            <a:spLocks noGrp="1"/>
          </p:cNvSpPr>
          <p:nvPr>
            <p:ph type="title"/>
          </p:nvPr>
        </p:nvSpPr>
        <p:spPr>
          <a:xfrm>
            <a:off x="556725" y="-254708"/>
            <a:ext cx="7772401" cy="1456268"/>
          </a:xfrm>
          <a:prstGeom prst="rect">
            <a:avLst/>
          </a:prstGeom>
        </p:spPr>
        <p:txBody>
          <a:bodyPr/>
          <a:lstStyle>
            <a:lvl1pPr>
              <a:defRPr>
                <a:latin typeface="Times New Roman"/>
                <a:ea typeface="Times New Roman"/>
                <a:cs typeface="Times New Roman"/>
                <a:sym typeface="Times New Roman"/>
              </a:defRPr>
            </a:lvl1pPr>
          </a:lstStyle>
          <a:p>
            <a:r>
              <a:t>Sequence Diagram</a:t>
            </a:r>
          </a:p>
        </p:txBody>
      </p:sp>
      <p:pic>
        <p:nvPicPr>
          <p:cNvPr id="275" name="Picture 3" descr="Picture 3"/>
          <p:cNvPicPr>
            <a:picLocks noChangeAspect="1"/>
          </p:cNvPicPr>
          <p:nvPr/>
        </p:nvPicPr>
        <p:blipFill>
          <a:blip r:embed="rId2"/>
          <a:stretch>
            <a:fillRect/>
          </a:stretch>
        </p:blipFill>
        <p:spPr>
          <a:xfrm>
            <a:off x="556725" y="958621"/>
            <a:ext cx="5407049" cy="5813965"/>
          </a:xfrm>
          <a:prstGeom prst="rect">
            <a:avLst/>
          </a:prstGeom>
          <a:ln w="12700">
            <a:miter lim="400000"/>
          </a:ln>
        </p:spPr>
      </p:pic>
    </p:spTree>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7" name="Sprint 2 Recap (21 pts)…"/>
          <p:cNvSpPr txBox="1"/>
          <p:nvPr/>
        </p:nvSpPr>
        <p:spPr>
          <a:xfrm>
            <a:off x="990087" y="1068978"/>
            <a:ext cx="7431021" cy="492934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spcBef>
                <a:spcPts val="1400"/>
              </a:spcBef>
              <a:defRPr sz="2200" b="1">
                <a:solidFill>
                  <a:srgbClr val="FFFFFF"/>
                </a:solidFill>
                <a:latin typeface="Times Roman"/>
                <a:ea typeface="Times Roman"/>
                <a:cs typeface="Times Roman"/>
                <a:sym typeface="Times Roman"/>
              </a:defRPr>
            </a:pPr>
            <a:r>
              <a:rPr>
                <a:solidFill>
                  <a:schemeClr val="accent6">
                    <a:lumOff val="19607"/>
                  </a:schemeClr>
                </a:solidFill>
              </a:rPr>
              <a:t>Sprint 2 Recap</a:t>
            </a:r>
            <a:r>
              <a:t> </a:t>
            </a:r>
            <a:r>
              <a:rPr>
                <a:solidFill>
                  <a:schemeClr val="accent6">
                    <a:lumOff val="19607"/>
                  </a:schemeClr>
                </a:solidFill>
              </a:rPr>
              <a:t>(21 pts)</a:t>
            </a:r>
          </a:p>
          <a:p>
            <a:pPr>
              <a:spcBef>
                <a:spcPts val="1200"/>
              </a:spcBef>
              <a:defRPr sz="1600">
                <a:solidFill>
                  <a:srgbClr val="FFFFFF"/>
                </a:solidFill>
                <a:latin typeface="Times Roman"/>
                <a:ea typeface="Times Roman"/>
                <a:cs typeface="Times Roman"/>
                <a:sym typeface="Times Roman"/>
              </a:defRPr>
            </a:pPr>
            <a:r>
              <a:rPr b="1"/>
              <a:t>Goal:</a:t>
            </a:r>
            <a:r>
              <a:t> Implement fund management features in the crowdfunding system.</a:t>
            </a:r>
          </a:p>
          <a:p>
            <a:pPr>
              <a:spcBef>
                <a:spcPts val="1200"/>
              </a:spcBef>
              <a:defRPr sz="1600" b="1">
                <a:solidFill>
                  <a:schemeClr val="accent6">
                    <a:lumOff val="19607"/>
                  </a:schemeClr>
                </a:solidFill>
                <a:latin typeface="Times Roman"/>
                <a:ea typeface="Times Roman"/>
                <a:cs typeface="Times Roman"/>
                <a:sym typeface="Times Roman"/>
              </a:defRPr>
            </a:pPr>
            <a:r>
              <a:t>User Stories Completed:</a:t>
            </a:r>
            <a:endParaRPr b="0"/>
          </a:p>
          <a:p>
            <a:pPr marL="457200" indent="-317500">
              <a:spcBef>
                <a:spcPts val="1200"/>
              </a:spcBef>
              <a:buSzPct val="100000"/>
              <a:buFont typeface="Times Roman"/>
              <a:buChar char="•"/>
              <a:defRPr sz="1600">
                <a:solidFill>
                  <a:srgbClr val="FFFFFF"/>
                </a:solidFill>
                <a:latin typeface="Times Roman"/>
                <a:ea typeface="Times Roman"/>
                <a:cs typeface="Times Roman"/>
                <a:sym typeface="Times Roman"/>
              </a:defRPr>
            </a:pPr>
            <a:r>
              <a:rPr b="1"/>
              <a:t>US_04 – Create Spending Requests </a:t>
            </a:r>
            <a:r>
              <a:rPr b="1">
                <a:solidFill>
                  <a:schemeClr val="accent6">
                    <a:lumOff val="19607"/>
                  </a:schemeClr>
                </a:solidFill>
              </a:rPr>
              <a:t>(Manager)</a:t>
            </a:r>
            <a:br/>
            <a:r>
              <a:t>Manager can propose how raised funds are used by creating requests with description, recipient, and amount.</a:t>
            </a:r>
          </a:p>
          <a:p>
            <a:pPr marL="457200" indent="-317500">
              <a:spcBef>
                <a:spcPts val="1200"/>
              </a:spcBef>
              <a:buSzPct val="100000"/>
              <a:buFont typeface="Times Roman"/>
              <a:buChar char="•"/>
              <a:defRPr sz="1600">
                <a:solidFill>
                  <a:srgbClr val="FFFFFF"/>
                </a:solidFill>
                <a:latin typeface="Times Roman"/>
                <a:ea typeface="Times Roman"/>
                <a:cs typeface="Times Roman"/>
                <a:sym typeface="Times Roman"/>
              </a:defRPr>
            </a:pPr>
            <a:r>
              <a:rPr b="1"/>
              <a:t>US_05 – Vote on Spending Requests </a:t>
            </a:r>
            <a:r>
              <a:rPr b="1">
                <a:solidFill>
                  <a:schemeClr val="accent6">
                    <a:lumOff val="19607"/>
                  </a:schemeClr>
                </a:solidFill>
              </a:rPr>
              <a:t>(Contributor)</a:t>
            </a:r>
            <a:br/>
            <a:r>
              <a:t>Contributors can vote on requests (one vote per contributor) to influence fund usage.</a:t>
            </a:r>
          </a:p>
          <a:p>
            <a:pPr marL="457200" indent="-317500">
              <a:spcBef>
                <a:spcPts val="1200"/>
              </a:spcBef>
              <a:buSzPct val="100000"/>
              <a:buFont typeface="Times Roman"/>
              <a:buChar char="•"/>
              <a:defRPr sz="1600">
                <a:solidFill>
                  <a:srgbClr val="FFFFFF"/>
                </a:solidFill>
                <a:latin typeface="Times Roman"/>
                <a:ea typeface="Times Roman"/>
                <a:cs typeface="Times Roman"/>
                <a:sym typeface="Times Roman"/>
              </a:defRPr>
            </a:pPr>
            <a:r>
              <a:rPr b="1"/>
              <a:t>US_06 – Release Funds After Approval </a:t>
            </a:r>
            <a:r>
              <a:rPr b="1">
                <a:solidFill>
                  <a:schemeClr val="accent6">
                    <a:lumOff val="19607"/>
                  </a:schemeClr>
                </a:solidFill>
              </a:rPr>
              <a:t>(Manager)</a:t>
            </a:r>
            <a:br/>
            <a:r>
              <a:t>Funds can be released only if a request has majority approval, ensuring responsible fulfillment.</a:t>
            </a:r>
          </a:p>
          <a:p>
            <a:pPr>
              <a:spcBef>
                <a:spcPts val="1200"/>
              </a:spcBef>
              <a:defRPr sz="1600">
                <a:solidFill>
                  <a:srgbClr val="FFFFFF"/>
                </a:solidFill>
                <a:latin typeface="Times Roman"/>
                <a:ea typeface="Times Roman"/>
                <a:cs typeface="Times Roman"/>
                <a:sym typeface="Times Roman"/>
              </a:defRPr>
            </a:pPr>
            <a:r>
              <a:rPr b="1"/>
              <a:t>Outcome:</a:t>
            </a:r>
            <a:br/>
            <a:r>
              <a:t>Voting-based governance implemented; contributors control spending; managers can propose requests securely.</a:t>
            </a:r>
          </a:p>
        </p:txBody>
      </p:sp>
    </p:spTree>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9" name="Title 3"/>
          <p:cNvSpPr txBox="1">
            <a:spLocks noGrp="1"/>
          </p:cNvSpPr>
          <p:nvPr>
            <p:ph type="title"/>
          </p:nvPr>
        </p:nvSpPr>
        <p:spPr>
          <a:xfrm>
            <a:off x="1568245" y="2084502"/>
            <a:ext cx="6007510" cy="2104104"/>
          </a:xfrm>
          <a:prstGeom prst="rect">
            <a:avLst/>
          </a:prstGeom>
        </p:spPr>
        <p:txBody>
          <a:bodyPr/>
          <a:lstStyle>
            <a:lvl1pPr algn="ctr">
              <a:defRPr>
                <a:latin typeface="Times New Roman"/>
                <a:ea typeface="Times New Roman"/>
                <a:cs typeface="Times New Roman"/>
                <a:sym typeface="Times New Roman"/>
              </a:defRPr>
            </a:lvl1pPr>
          </a:lstStyle>
          <a:p>
            <a:r>
              <a:t>Product Backlog</a:t>
            </a:r>
          </a:p>
        </p:txBody>
      </p:sp>
    </p:spTree>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81" name="Table 5"/>
          <p:cNvGraphicFramePr/>
          <p:nvPr/>
        </p:nvGraphicFramePr>
        <p:xfrm>
          <a:off x="174173" y="441727"/>
          <a:ext cx="8783212" cy="5908143"/>
        </p:xfrm>
        <a:graphic>
          <a:graphicData uri="http://schemas.openxmlformats.org/drawingml/2006/table">
            <a:tbl>
              <a:tblPr firstRow="1" bandRow="1">
                <a:tableStyleId>{4C3C2611-4C71-4FC5-86AE-919BDF0F9419}</a:tableStyleId>
              </a:tblPr>
              <a:tblGrid>
                <a:gridCol w="622039">
                  <a:extLst>
                    <a:ext uri="{9D8B030D-6E8A-4147-A177-3AD203B41FA5}">
                      <a16:colId xmlns:a16="http://schemas.microsoft.com/office/drawing/2014/main" val="20000"/>
                    </a:ext>
                  </a:extLst>
                </a:gridCol>
                <a:gridCol w="1922105">
                  <a:extLst>
                    <a:ext uri="{9D8B030D-6E8A-4147-A177-3AD203B41FA5}">
                      <a16:colId xmlns:a16="http://schemas.microsoft.com/office/drawing/2014/main" val="20001"/>
                    </a:ext>
                  </a:extLst>
                </a:gridCol>
                <a:gridCol w="2475723">
                  <a:extLst>
                    <a:ext uri="{9D8B030D-6E8A-4147-A177-3AD203B41FA5}">
                      <a16:colId xmlns:a16="http://schemas.microsoft.com/office/drawing/2014/main" val="20002"/>
                    </a:ext>
                  </a:extLst>
                </a:gridCol>
                <a:gridCol w="1561322">
                  <a:extLst>
                    <a:ext uri="{9D8B030D-6E8A-4147-A177-3AD203B41FA5}">
                      <a16:colId xmlns:a16="http://schemas.microsoft.com/office/drawing/2014/main" val="20003"/>
                    </a:ext>
                  </a:extLst>
                </a:gridCol>
                <a:gridCol w="1306286">
                  <a:extLst>
                    <a:ext uri="{9D8B030D-6E8A-4147-A177-3AD203B41FA5}">
                      <a16:colId xmlns:a16="http://schemas.microsoft.com/office/drawing/2014/main" val="20004"/>
                    </a:ext>
                  </a:extLst>
                </a:gridCol>
                <a:gridCol w="895737">
                  <a:extLst>
                    <a:ext uri="{9D8B030D-6E8A-4147-A177-3AD203B41FA5}">
                      <a16:colId xmlns:a16="http://schemas.microsoft.com/office/drawing/2014/main" val="20005"/>
                    </a:ext>
                  </a:extLst>
                </a:gridCol>
              </a:tblGrid>
              <a:tr h="478893">
                <a:tc>
                  <a:txBody>
                    <a:bodyPr/>
                    <a:lstStyle/>
                    <a:p>
                      <a:pPr algn="ctr">
                        <a:defRPr sz="1800" b="0">
                          <a:solidFill>
                            <a:srgbClr val="000000"/>
                          </a:solidFill>
                        </a:defRPr>
                      </a:pPr>
                      <a:r>
                        <a:rPr sz="1400" b="1">
                          <a:solidFill>
                            <a:srgbClr val="FFFFFF"/>
                          </a:solidFill>
                        </a:rPr>
                        <a:t>No.    </a:t>
                      </a:r>
                    </a:p>
                  </a:txBody>
                  <a:tcPr marL="9525" marR="9525" marT="9525" marB="9525" anchor="ctr" horzOverflow="overflow"/>
                </a:tc>
                <a:tc>
                  <a:txBody>
                    <a:bodyPr/>
                    <a:lstStyle/>
                    <a:p>
                      <a:pPr algn="ctr">
                        <a:defRPr sz="1800" b="0">
                          <a:solidFill>
                            <a:srgbClr val="000000"/>
                          </a:solidFill>
                        </a:defRPr>
                      </a:pPr>
                      <a:r>
                        <a:rPr sz="1400" b="1">
                          <a:solidFill>
                            <a:srgbClr val="FFFFFF"/>
                          </a:solidFill>
                        </a:rPr>
                        <a:t> User Story                                                                 </a:t>
                      </a:r>
                    </a:p>
                  </a:txBody>
                  <a:tcPr marL="9525" marR="9525" marT="9525" marB="9525" anchor="ctr" horzOverflow="overflow"/>
                </a:tc>
                <a:tc>
                  <a:txBody>
                    <a:bodyPr/>
                    <a:lstStyle/>
                    <a:p>
                      <a:pPr algn="ctr">
                        <a:defRPr sz="1800" b="0">
                          <a:solidFill>
                            <a:srgbClr val="000000"/>
                          </a:solidFill>
                        </a:defRPr>
                      </a:pPr>
                      <a:r>
                        <a:rPr sz="1400" b="1">
                          <a:solidFill>
                            <a:srgbClr val="FFFFFF"/>
                          </a:solidFill>
                        </a:rPr>
                        <a:t> Acceptance Criteria                                                                                                         </a:t>
                      </a:r>
                    </a:p>
                  </a:txBody>
                  <a:tcPr marL="9525" marR="9525" marT="9525" marB="9525" anchor="ctr" horzOverflow="overflow"/>
                </a:tc>
                <a:tc>
                  <a:txBody>
                    <a:bodyPr/>
                    <a:lstStyle/>
                    <a:p>
                      <a:pPr algn="ctr">
                        <a:defRPr sz="1800" b="0">
                          <a:solidFill>
                            <a:srgbClr val="000000"/>
                          </a:solidFill>
                        </a:defRPr>
                      </a:pPr>
                      <a:r>
                        <a:rPr sz="1400" b="1">
                          <a:solidFill>
                            <a:srgbClr val="FFFFFF"/>
                          </a:solidFill>
                        </a:rPr>
                        <a:t>Feature Name        </a:t>
                      </a:r>
                    </a:p>
                  </a:txBody>
                  <a:tcPr marL="9525" marR="9525" marT="9525" marB="9525" anchor="ctr" horzOverflow="overflow"/>
                </a:tc>
                <a:tc>
                  <a:txBody>
                    <a:bodyPr/>
                    <a:lstStyle/>
                    <a:p>
                      <a:pPr algn="ctr">
                        <a:defRPr sz="1800" b="0">
                          <a:solidFill>
                            <a:srgbClr val="000000"/>
                          </a:solidFill>
                        </a:defRPr>
                      </a:pPr>
                      <a:r>
                        <a:rPr sz="1400" b="1">
                          <a:solidFill>
                            <a:srgbClr val="FFFFFF"/>
                          </a:solidFill>
                        </a:rPr>
                        <a:t> Component            </a:t>
                      </a:r>
                    </a:p>
                  </a:txBody>
                  <a:tcPr marL="9525" marR="9525" marT="9525" marB="9525" anchor="ctr" horzOverflow="overflow"/>
                </a:tc>
                <a:tc>
                  <a:txBody>
                    <a:bodyPr/>
                    <a:lstStyle/>
                    <a:p>
                      <a:pPr algn="ctr">
                        <a:defRPr sz="1800" b="0">
                          <a:solidFill>
                            <a:srgbClr val="000000"/>
                          </a:solidFill>
                        </a:defRPr>
                      </a:pPr>
                      <a:r>
                        <a:rPr sz="1400" b="1">
                          <a:solidFill>
                            <a:srgbClr val="FFFFFF"/>
                          </a:solidFill>
                        </a:rPr>
                        <a:t>Story Points</a:t>
                      </a:r>
                    </a:p>
                  </a:txBody>
                  <a:tcPr marL="9525" marR="9525" marT="9525" marB="9525" anchor="ctr" horzOverflow="overflow"/>
                </a:tc>
                <a:extLst>
                  <a:ext uri="{0D108BD9-81ED-4DB2-BD59-A6C34878D82A}">
                    <a16:rowId xmlns:a16="http://schemas.microsoft.com/office/drawing/2014/main" val="10000"/>
                  </a:ext>
                </a:extLst>
              </a:tr>
              <a:tr h="1049558">
                <a:tc>
                  <a:txBody>
                    <a:bodyPr/>
                    <a:lstStyle/>
                    <a:p>
                      <a:pPr algn="ctr">
                        <a:defRPr sz="1800"/>
                      </a:pPr>
                      <a:r>
                        <a:rPr sz="1400"/>
                        <a:t>US_01  </a:t>
                      </a:r>
                    </a:p>
                  </a:txBody>
                  <a:tcPr marL="9525" marR="9525" marT="9525" marB="9525" anchor="ctr" horzOverflow="overflow"/>
                </a:tc>
                <a:tc>
                  <a:txBody>
                    <a:bodyPr/>
                    <a:lstStyle/>
                    <a:p>
                      <a:pPr algn="l">
                        <a:defRPr sz="1800"/>
                      </a:pPr>
                      <a:r>
                        <a:rPr sz="1400"/>
                        <a:t> As a campaign manager, I want to create a new campaign with a target and deadline so that I can raise funds.       </a:t>
                      </a:r>
                    </a:p>
                  </a:txBody>
                  <a:tcPr marL="9525" marR="9525" marT="9525" marB="9525" anchor="b" horzOverflow="overflow"/>
                </a:tc>
                <a:tc>
                  <a:txBody>
                    <a:bodyPr/>
                    <a:lstStyle/>
                    <a:p>
                      <a:pPr algn="l">
                        <a:defRPr sz="1800"/>
                      </a:pPr>
                      <a:r>
                        <a:rPr sz="1400"/>
                        <a:t>  Given I am the manager, When I deploy the contract with a target and deadline, Then the campaign is initialized and I am set as owner. </a:t>
                      </a:r>
                    </a:p>
                  </a:txBody>
                  <a:tcPr marL="9525" marR="9525" marT="9525" marB="9525" anchor="b" horzOverflow="overflow"/>
                </a:tc>
                <a:tc>
                  <a:txBody>
                    <a:bodyPr/>
                    <a:lstStyle/>
                    <a:p>
                      <a:pPr algn="ctr">
                        <a:defRPr sz="1800"/>
                      </a:pPr>
                      <a:r>
                        <a:rPr sz="1400"/>
                        <a:t> Campaign Creation   </a:t>
                      </a:r>
                    </a:p>
                  </a:txBody>
                  <a:tcPr marL="9525" marR="9525" marT="9525" marB="9525" anchor="ctr" horzOverflow="overflow"/>
                </a:tc>
                <a:tc>
                  <a:txBody>
                    <a:bodyPr/>
                    <a:lstStyle/>
                    <a:p>
                      <a:pPr algn="l">
                        <a:defRPr sz="1800"/>
                      </a:pPr>
                      <a:r>
                        <a:rPr sz="1400"/>
                        <a:t> Smart Contract        </a:t>
                      </a:r>
                    </a:p>
                  </a:txBody>
                  <a:tcPr marL="9525" marR="9525" marT="9525" marB="9525" anchor="ctr" horzOverflow="overflow"/>
                </a:tc>
                <a:tc>
                  <a:txBody>
                    <a:bodyPr/>
                    <a:lstStyle/>
                    <a:p>
                      <a:pPr algn="ctr">
                        <a:defRPr sz="1800"/>
                      </a:pPr>
                      <a:r>
                        <a:rPr sz="1400"/>
                        <a:t>8</a:t>
                      </a:r>
                    </a:p>
                  </a:txBody>
                  <a:tcPr marL="9525" marR="9525" marT="9525" marB="9525" anchor="ctr" horzOverflow="overflow"/>
                </a:tc>
                <a:extLst>
                  <a:ext uri="{0D108BD9-81ED-4DB2-BD59-A6C34878D82A}">
                    <a16:rowId xmlns:a16="http://schemas.microsoft.com/office/drawing/2014/main" val="10001"/>
                  </a:ext>
                </a:extLst>
              </a:tr>
              <a:tr h="900571">
                <a:tc>
                  <a:txBody>
                    <a:bodyPr/>
                    <a:lstStyle/>
                    <a:p>
                      <a:pPr algn="ctr">
                        <a:defRPr sz="1800"/>
                      </a:pPr>
                      <a:r>
                        <a:rPr sz="1400"/>
                        <a:t>US_02  </a:t>
                      </a:r>
                    </a:p>
                  </a:txBody>
                  <a:tcPr marL="9525" marR="9525" marT="9525" marB="9525" anchor="ctr" horzOverflow="overflow"/>
                </a:tc>
                <a:tc>
                  <a:txBody>
                    <a:bodyPr/>
                    <a:lstStyle/>
                    <a:p>
                      <a:pPr algn="l">
                        <a:defRPr sz="1800"/>
                      </a:pPr>
                      <a:r>
                        <a:rPr sz="1400"/>
                        <a:t> As a contributor, I want to contribute funds to a campaign so that I can support causes I believe in.              </a:t>
                      </a:r>
                    </a:p>
                  </a:txBody>
                  <a:tcPr marL="9525" marR="9525" marT="9525" marB="9525" anchor="b" horzOverflow="overflow"/>
                </a:tc>
                <a:tc>
                  <a:txBody>
                    <a:bodyPr/>
                    <a:lstStyle/>
                    <a:p>
                      <a:pPr algn="l">
                        <a:defRPr sz="1800"/>
                      </a:pPr>
                      <a:r>
                        <a:rPr sz="1400"/>
                        <a:t> Given the campaign is active, When I send ETH above the minimum, Then my contribution is recorded and the total raised updates. </a:t>
                      </a:r>
                    </a:p>
                  </a:txBody>
                  <a:tcPr marL="9525" marR="9525" marT="9525" marB="9525" anchor="b" horzOverflow="overflow"/>
                </a:tc>
                <a:tc>
                  <a:txBody>
                    <a:bodyPr/>
                    <a:lstStyle/>
                    <a:p>
                      <a:pPr algn="ctr">
                        <a:defRPr sz="1800"/>
                      </a:pPr>
                      <a:r>
                        <a:rPr sz="1400"/>
                        <a:t> Campaign Contribution </a:t>
                      </a:r>
                    </a:p>
                  </a:txBody>
                  <a:tcPr marL="9525" marR="9525" marT="9525" marB="9525" anchor="ctr" horzOverflow="overflow"/>
                </a:tc>
                <a:tc>
                  <a:txBody>
                    <a:bodyPr/>
                    <a:lstStyle/>
                    <a:p>
                      <a:pPr algn="l">
                        <a:defRPr sz="1800"/>
                      </a:pPr>
                      <a:r>
                        <a:rPr sz="1400"/>
                        <a:t> Smart Contract        </a:t>
                      </a:r>
                    </a:p>
                  </a:txBody>
                  <a:tcPr marL="9525" marR="9525" marT="9525" marB="9525" anchor="ctr" horzOverflow="overflow"/>
                </a:tc>
                <a:tc>
                  <a:txBody>
                    <a:bodyPr/>
                    <a:lstStyle/>
                    <a:p>
                      <a:pPr algn="ctr">
                        <a:defRPr sz="1800"/>
                      </a:pPr>
                      <a:r>
                        <a:rPr sz="1400"/>
                        <a:t>5</a:t>
                      </a:r>
                    </a:p>
                  </a:txBody>
                  <a:tcPr marL="9525" marR="9525" marT="9525" marB="9525" anchor="ctr" horzOverflow="overflow"/>
                </a:tc>
                <a:extLst>
                  <a:ext uri="{0D108BD9-81ED-4DB2-BD59-A6C34878D82A}">
                    <a16:rowId xmlns:a16="http://schemas.microsoft.com/office/drawing/2014/main" val="10002"/>
                  </a:ext>
                </a:extLst>
              </a:tr>
              <a:tr h="900571">
                <a:tc>
                  <a:txBody>
                    <a:bodyPr/>
                    <a:lstStyle/>
                    <a:p>
                      <a:pPr algn="ctr">
                        <a:defRPr sz="1800"/>
                      </a:pPr>
                      <a:r>
                        <a:rPr sz="1400"/>
                        <a:t>US_03  </a:t>
                      </a:r>
                    </a:p>
                  </a:txBody>
                  <a:tcPr marL="9525" marR="9525" marT="9525" marB="9525" anchor="ctr" horzOverflow="overflow"/>
                </a:tc>
                <a:tc>
                  <a:txBody>
                    <a:bodyPr/>
                    <a:lstStyle/>
                    <a:p>
                      <a:pPr algn="l">
                        <a:defRPr sz="1800"/>
                      </a:pPr>
                      <a:r>
                        <a:rPr sz="1400"/>
                        <a:t> As a contributor, I want to get a refund if the campaign fails so that I don’t lose my funds.                      </a:t>
                      </a:r>
                    </a:p>
                  </a:txBody>
                  <a:tcPr marL="9525" marR="9525" marT="9525" marB="9525" anchor="b" horzOverflow="overflow"/>
                </a:tc>
                <a:tc>
                  <a:txBody>
                    <a:bodyPr/>
                    <a:lstStyle/>
                    <a:p>
                      <a:pPr algn="l">
                        <a:defRPr sz="1800"/>
                      </a:pPr>
                      <a:r>
                        <a:rPr sz="1400"/>
                        <a:t> Given the deadline has passed and the target was not met, When I request a refund, Then I receive my ETH and my record is cleared. </a:t>
                      </a:r>
                    </a:p>
                  </a:txBody>
                  <a:tcPr marL="9525" marR="9525" marT="9525" marB="9525" anchor="b" horzOverflow="overflow"/>
                </a:tc>
                <a:tc>
                  <a:txBody>
                    <a:bodyPr/>
                    <a:lstStyle/>
                    <a:p>
                      <a:pPr algn="ctr">
                        <a:defRPr sz="1800"/>
                      </a:pPr>
                      <a:r>
                        <a:rPr sz="1400"/>
                        <a:t> Refund Processing    </a:t>
                      </a:r>
                    </a:p>
                  </a:txBody>
                  <a:tcPr marL="9525" marR="9525" marT="9525" marB="9525" anchor="ctr" horzOverflow="overflow"/>
                </a:tc>
                <a:tc>
                  <a:txBody>
                    <a:bodyPr/>
                    <a:lstStyle/>
                    <a:p>
                      <a:pPr algn="l">
                        <a:defRPr sz="1800"/>
                      </a:pPr>
                      <a:r>
                        <a:rPr sz="1400"/>
                        <a:t> Smart Contract        </a:t>
                      </a:r>
                    </a:p>
                  </a:txBody>
                  <a:tcPr marL="9525" marR="9525" marT="9525" marB="9525" anchor="ctr" horzOverflow="overflow"/>
                </a:tc>
                <a:tc>
                  <a:txBody>
                    <a:bodyPr/>
                    <a:lstStyle/>
                    <a:p>
                      <a:pPr algn="ctr">
                        <a:defRPr sz="1800"/>
                      </a:pPr>
                      <a:r>
                        <a:rPr sz="1400"/>
                        <a:t>5</a:t>
                      </a:r>
                    </a:p>
                  </a:txBody>
                  <a:tcPr marL="9525" marR="9525" marT="9525" marB="9525" anchor="ctr" horzOverflow="overflow"/>
                </a:tc>
                <a:extLst>
                  <a:ext uri="{0D108BD9-81ED-4DB2-BD59-A6C34878D82A}">
                    <a16:rowId xmlns:a16="http://schemas.microsoft.com/office/drawing/2014/main" val="10003"/>
                  </a:ext>
                </a:extLst>
              </a:tr>
              <a:tr h="1049558">
                <a:tc>
                  <a:txBody>
                    <a:bodyPr/>
                    <a:lstStyle/>
                    <a:p>
                      <a:pPr algn="ctr">
                        <a:defRPr sz="1800"/>
                      </a:pPr>
                      <a:r>
                        <a:rPr sz="1400"/>
                        <a:t>US_04  </a:t>
                      </a:r>
                    </a:p>
                  </a:txBody>
                  <a:tcPr marL="9525" marR="9525" marT="9525" marB="9525" anchor="ctr" horzOverflow="overflow"/>
                </a:tc>
                <a:tc>
                  <a:txBody>
                    <a:bodyPr/>
                    <a:lstStyle/>
                    <a:p>
                      <a:pPr algn="l">
                        <a:defRPr sz="1800"/>
                      </a:pPr>
                      <a:r>
                        <a:rPr sz="1400"/>
                        <a:t> As a manager, I want to create spending requests so that I can propose how to use the raised funds.                </a:t>
                      </a:r>
                    </a:p>
                  </a:txBody>
                  <a:tcPr marL="9525" marR="9525" marT="9525" marB="9525" anchor="b" horzOverflow="overflow"/>
                </a:tc>
                <a:tc>
                  <a:txBody>
                    <a:bodyPr/>
                    <a:lstStyle/>
                    <a:p>
                      <a:pPr algn="l">
                        <a:defRPr sz="1800"/>
                      </a:pPr>
                      <a:r>
                        <a:rPr sz="1400"/>
                        <a:t> Given I am the manager, When I create a request with description, amount, and recipient, Then the request is stored with a unique ID. </a:t>
                      </a:r>
                    </a:p>
                  </a:txBody>
                  <a:tcPr marL="9525" marR="9525" marT="9525" marB="9525" anchor="b" horzOverflow="overflow"/>
                </a:tc>
                <a:tc>
                  <a:txBody>
                    <a:bodyPr/>
                    <a:lstStyle/>
                    <a:p>
                      <a:pPr algn="ctr">
                        <a:defRPr sz="1800"/>
                      </a:pPr>
                      <a:r>
                        <a:rPr sz="1400"/>
                        <a:t> Request Creation     </a:t>
                      </a:r>
                    </a:p>
                  </a:txBody>
                  <a:tcPr marL="9525" marR="9525" marT="9525" marB="9525" anchor="ctr" horzOverflow="overflow"/>
                </a:tc>
                <a:tc>
                  <a:txBody>
                    <a:bodyPr/>
                    <a:lstStyle/>
                    <a:p>
                      <a:pPr algn="l">
                        <a:defRPr sz="1800"/>
                      </a:pPr>
                      <a:r>
                        <a:rPr sz="1400"/>
                        <a:t> Governance            </a:t>
                      </a:r>
                    </a:p>
                  </a:txBody>
                  <a:tcPr marL="9525" marR="9525" marT="9525" marB="9525" anchor="ctr" horzOverflow="overflow"/>
                </a:tc>
                <a:tc>
                  <a:txBody>
                    <a:bodyPr/>
                    <a:lstStyle/>
                    <a:p>
                      <a:pPr algn="ctr">
                        <a:defRPr sz="1800"/>
                      </a:pPr>
                      <a:r>
                        <a:rPr sz="1400"/>
                        <a:t>8</a:t>
                      </a:r>
                    </a:p>
                  </a:txBody>
                  <a:tcPr marL="9525" marR="9525" marT="9525" marB="9525" anchor="ctr" horzOverflow="overflow"/>
                </a:tc>
                <a:extLst>
                  <a:ext uri="{0D108BD9-81ED-4DB2-BD59-A6C34878D82A}">
                    <a16:rowId xmlns:a16="http://schemas.microsoft.com/office/drawing/2014/main" val="10004"/>
                  </a:ext>
                </a:extLst>
              </a:tr>
              <a:tr h="900571">
                <a:tc>
                  <a:txBody>
                    <a:bodyPr/>
                    <a:lstStyle/>
                    <a:p>
                      <a:pPr algn="ctr">
                        <a:defRPr sz="1800"/>
                      </a:pPr>
                      <a:r>
                        <a:rPr sz="1400"/>
                        <a:t>US_05  </a:t>
                      </a:r>
                    </a:p>
                  </a:txBody>
                  <a:tcPr marL="9525" marR="9525" marT="9525" marB="9525" anchor="ctr" horzOverflow="overflow"/>
                </a:tc>
                <a:tc>
                  <a:txBody>
                    <a:bodyPr/>
                    <a:lstStyle/>
                    <a:p>
                      <a:pPr algn="l">
                        <a:defRPr sz="1800"/>
                      </a:pPr>
                      <a:r>
                        <a:rPr sz="1400"/>
                        <a:t> As a contributor, I want to vote on spending requests so that I can influence how funds are used.                  </a:t>
                      </a:r>
                    </a:p>
                  </a:txBody>
                  <a:tcPr marL="9525" marR="9525" marT="9525" marB="9525" anchor="b" horzOverflow="overflow"/>
                </a:tc>
                <a:tc>
                  <a:txBody>
                    <a:bodyPr/>
                    <a:lstStyle/>
                    <a:p>
                      <a:pPr algn="l">
                        <a:defRPr sz="1800"/>
                      </a:pPr>
                      <a:r>
                        <a:rPr sz="1400"/>
                        <a:t> Given I am a contributor, When I vote on a request I haven’t voted on before, Then my vote is recorded and vote count increases. </a:t>
                      </a:r>
                    </a:p>
                  </a:txBody>
                  <a:tcPr marL="9525" marR="9525" marT="9525" marB="9525" anchor="b" horzOverflow="overflow"/>
                </a:tc>
                <a:tc>
                  <a:txBody>
                    <a:bodyPr/>
                    <a:lstStyle/>
                    <a:p>
                      <a:pPr algn="ctr">
                        <a:defRPr sz="1800"/>
                      </a:pPr>
                      <a:r>
                        <a:rPr sz="1400"/>
                        <a:t> Request Voting       </a:t>
                      </a:r>
                    </a:p>
                  </a:txBody>
                  <a:tcPr marL="9525" marR="9525" marT="9525" marB="9525" anchor="ctr" horzOverflow="overflow"/>
                </a:tc>
                <a:tc>
                  <a:txBody>
                    <a:bodyPr/>
                    <a:lstStyle/>
                    <a:p>
                      <a:pPr algn="l">
                        <a:defRPr sz="1800"/>
                      </a:pPr>
                      <a:r>
                        <a:rPr sz="1400"/>
                        <a:t> Governance            </a:t>
                      </a:r>
                    </a:p>
                  </a:txBody>
                  <a:tcPr marL="9525" marR="9525" marT="9525" marB="9525" anchor="ctr" horzOverflow="overflow"/>
                </a:tc>
                <a:tc>
                  <a:txBody>
                    <a:bodyPr/>
                    <a:lstStyle/>
                    <a:p>
                      <a:pPr algn="ctr">
                        <a:defRPr sz="1800"/>
                      </a:pPr>
                      <a:r>
                        <a:rPr sz="1400"/>
                        <a:t>5</a:t>
                      </a:r>
                    </a:p>
                  </a:txBody>
                  <a:tcPr marL="9525" marR="9525" marT="9525" marB="9525" anchor="ctr" horzOverflow="overflow"/>
                </a:tc>
                <a:extLst>
                  <a:ext uri="{0D108BD9-81ED-4DB2-BD59-A6C34878D82A}">
                    <a16:rowId xmlns:a16="http://schemas.microsoft.com/office/drawing/2014/main" val="10005"/>
                  </a:ext>
                </a:extLst>
              </a:tr>
            </a:tbl>
          </a:graphicData>
        </a:graphic>
      </p:graphicFrame>
    </p:spTree>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83" name="Table 5"/>
          <p:cNvGraphicFramePr/>
          <p:nvPr/>
        </p:nvGraphicFramePr>
        <p:xfrm>
          <a:off x="304796" y="516294"/>
          <a:ext cx="8615267" cy="5620578"/>
        </p:xfrm>
        <a:graphic>
          <a:graphicData uri="http://schemas.openxmlformats.org/drawingml/2006/table">
            <a:tbl>
              <a:tblPr firstRow="1" bandRow="1">
                <a:tableStyleId>{4C3C2611-4C71-4FC5-86AE-919BDF0F9419}</a:tableStyleId>
              </a:tblPr>
              <a:tblGrid>
                <a:gridCol w="889521">
                  <a:extLst>
                    <a:ext uri="{9D8B030D-6E8A-4147-A177-3AD203B41FA5}">
                      <a16:colId xmlns:a16="http://schemas.microsoft.com/office/drawing/2014/main" val="20000"/>
                    </a:ext>
                  </a:extLst>
                </a:gridCol>
                <a:gridCol w="2388637">
                  <a:extLst>
                    <a:ext uri="{9D8B030D-6E8A-4147-A177-3AD203B41FA5}">
                      <a16:colId xmlns:a16="http://schemas.microsoft.com/office/drawing/2014/main" val="20001"/>
                    </a:ext>
                  </a:extLst>
                </a:gridCol>
                <a:gridCol w="2618792">
                  <a:extLst>
                    <a:ext uri="{9D8B030D-6E8A-4147-A177-3AD203B41FA5}">
                      <a16:colId xmlns:a16="http://schemas.microsoft.com/office/drawing/2014/main" val="20002"/>
                    </a:ext>
                  </a:extLst>
                </a:gridCol>
                <a:gridCol w="951722">
                  <a:extLst>
                    <a:ext uri="{9D8B030D-6E8A-4147-A177-3AD203B41FA5}">
                      <a16:colId xmlns:a16="http://schemas.microsoft.com/office/drawing/2014/main" val="20003"/>
                    </a:ext>
                  </a:extLst>
                </a:gridCol>
                <a:gridCol w="1212980">
                  <a:extLst>
                    <a:ext uri="{9D8B030D-6E8A-4147-A177-3AD203B41FA5}">
                      <a16:colId xmlns:a16="http://schemas.microsoft.com/office/drawing/2014/main" val="20004"/>
                    </a:ext>
                  </a:extLst>
                </a:gridCol>
                <a:gridCol w="553615">
                  <a:extLst>
                    <a:ext uri="{9D8B030D-6E8A-4147-A177-3AD203B41FA5}">
                      <a16:colId xmlns:a16="http://schemas.microsoft.com/office/drawing/2014/main" val="20005"/>
                    </a:ext>
                  </a:extLst>
                </a:gridCol>
              </a:tblGrid>
              <a:tr h="340657">
                <a:tc>
                  <a:txBody>
                    <a:bodyPr/>
                    <a:lstStyle/>
                    <a:p>
                      <a:pPr algn="ctr">
                        <a:defRPr sz="1800" b="0">
                          <a:solidFill>
                            <a:srgbClr val="000000"/>
                          </a:solidFill>
                        </a:defRPr>
                      </a:pPr>
                      <a:r>
                        <a:rPr sz="1400" b="1">
                          <a:solidFill>
                            <a:srgbClr val="FFFFFF"/>
                          </a:solidFill>
                        </a:rPr>
                        <a:t>No.    </a:t>
                      </a:r>
                    </a:p>
                  </a:txBody>
                  <a:tcPr marL="9525" marR="9525" marT="9525" marB="9525" anchor="ctr" horzOverflow="overflow"/>
                </a:tc>
                <a:tc>
                  <a:txBody>
                    <a:bodyPr/>
                    <a:lstStyle/>
                    <a:p>
                      <a:pPr algn="ctr">
                        <a:defRPr sz="1800" b="0">
                          <a:solidFill>
                            <a:srgbClr val="000000"/>
                          </a:solidFill>
                        </a:defRPr>
                      </a:pPr>
                      <a:r>
                        <a:rPr sz="1400" b="1">
                          <a:solidFill>
                            <a:srgbClr val="FFFFFF"/>
                          </a:solidFill>
                        </a:rPr>
                        <a:t> User Story                                                                 </a:t>
                      </a:r>
                    </a:p>
                  </a:txBody>
                  <a:tcPr marL="9525" marR="9525" marT="9525" marB="9525" anchor="ctr" horzOverflow="overflow"/>
                </a:tc>
                <a:tc>
                  <a:txBody>
                    <a:bodyPr/>
                    <a:lstStyle/>
                    <a:p>
                      <a:pPr algn="ctr">
                        <a:defRPr sz="1800" b="0">
                          <a:solidFill>
                            <a:srgbClr val="000000"/>
                          </a:solidFill>
                        </a:defRPr>
                      </a:pPr>
                      <a:r>
                        <a:rPr sz="1400" b="1">
                          <a:solidFill>
                            <a:srgbClr val="FFFFFF"/>
                          </a:solidFill>
                        </a:rPr>
                        <a:t> Acceptance Criteria                                                                                                         </a:t>
                      </a:r>
                    </a:p>
                  </a:txBody>
                  <a:tcPr marL="9525" marR="9525" marT="9525" marB="9525" anchor="ctr" horzOverflow="overflow"/>
                </a:tc>
                <a:tc>
                  <a:txBody>
                    <a:bodyPr/>
                    <a:lstStyle/>
                    <a:p>
                      <a:pPr algn="ctr">
                        <a:defRPr sz="1800" b="0">
                          <a:solidFill>
                            <a:srgbClr val="000000"/>
                          </a:solidFill>
                        </a:defRPr>
                      </a:pPr>
                      <a:r>
                        <a:rPr sz="1400" b="1">
                          <a:solidFill>
                            <a:srgbClr val="FFFFFF"/>
                          </a:solidFill>
                        </a:rPr>
                        <a:t> Feature Name        </a:t>
                      </a:r>
                    </a:p>
                  </a:txBody>
                  <a:tcPr marL="9525" marR="9525" marT="9525" marB="9525" anchor="ctr" horzOverflow="overflow"/>
                </a:tc>
                <a:tc>
                  <a:txBody>
                    <a:bodyPr/>
                    <a:lstStyle/>
                    <a:p>
                      <a:pPr algn="ctr">
                        <a:defRPr sz="1800" b="0">
                          <a:solidFill>
                            <a:srgbClr val="000000"/>
                          </a:solidFill>
                        </a:defRPr>
                      </a:pPr>
                      <a:r>
                        <a:rPr sz="1400" b="1">
                          <a:solidFill>
                            <a:srgbClr val="FFFFFF"/>
                          </a:solidFill>
                        </a:rPr>
                        <a:t> Component            </a:t>
                      </a:r>
                    </a:p>
                  </a:txBody>
                  <a:tcPr marL="9525" marR="9525" marT="9525" marB="9525" anchor="ctr" horzOverflow="overflow"/>
                </a:tc>
                <a:tc>
                  <a:txBody>
                    <a:bodyPr/>
                    <a:lstStyle/>
                    <a:p>
                      <a:pPr algn="ctr">
                        <a:defRPr sz="1800" b="0">
                          <a:solidFill>
                            <a:srgbClr val="000000"/>
                          </a:solidFill>
                        </a:defRPr>
                      </a:pPr>
                      <a:r>
                        <a:rPr sz="1400" b="1">
                          <a:solidFill>
                            <a:srgbClr val="FFFFFF"/>
                          </a:solidFill>
                        </a:rPr>
                        <a:t> Story Points</a:t>
                      </a:r>
                    </a:p>
                  </a:txBody>
                  <a:tcPr marL="9525" marR="9525" marT="9525" marB="9525" anchor="ctr" horzOverflow="overflow"/>
                </a:tc>
                <a:extLst>
                  <a:ext uri="{0D108BD9-81ED-4DB2-BD59-A6C34878D82A}">
                    <a16:rowId xmlns:a16="http://schemas.microsoft.com/office/drawing/2014/main" val="10000"/>
                  </a:ext>
                </a:extLst>
              </a:tr>
              <a:tr h="1237045">
                <a:tc>
                  <a:txBody>
                    <a:bodyPr/>
                    <a:lstStyle/>
                    <a:p>
                      <a:pPr algn="ctr">
                        <a:defRPr sz="1800"/>
                      </a:pPr>
                      <a:r>
                        <a:rPr sz="1400"/>
                        <a:t>US_06  </a:t>
                      </a:r>
                    </a:p>
                  </a:txBody>
                  <a:tcPr marL="9525" marR="9525" marT="9525" marB="9525" anchor="ctr" horzOverflow="overflow"/>
                </a:tc>
                <a:tc>
                  <a:txBody>
                    <a:bodyPr/>
                    <a:lstStyle/>
                    <a:p>
                      <a:pPr algn="l">
                        <a:defRPr sz="1800"/>
                      </a:pPr>
                      <a:r>
                        <a:rPr sz="1400"/>
                        <a:t> As a manager, I want to release funds after majority approval so that requests can be fulfilled responsibly.       </a:t>
                      </a:r>
                    </a:p>
                  </a:txBody>
                  <a:tcPr marL="9525" marR="9525" marT="9525" marB="9525" anchor="ctr" horzOverflow="overflow"/>
                </a:tc>
                <a:tc>
                  <a:txBody>
                    <a:bodyPr/>
                    <a:lstStyle/>
                    <a:p>
                      <a:pPr algn="l">
                        <a:defRPr sz="1800"/>
                      </a:pPr>
                      <a:r>
                        <a:rPr sz="1400"/>
                        <a:t> Given the deadline has passed and the target is met, When a request has majority support and I execute it, Then ETH is transferred and request marked completed. </a:t>
                      </a:r>
                    </a:p>
                  </a:txBody>
                  <a:tcPr marL="9525" marR="9525" marT="9525" marB="9525" anchor="ctr" horzOverflow="overflow"/>
                </a:tc>
                <a:tc>
                  <a:txBody>
                    <a:bodyPr/>
                    <a:lstStyle/>
                    <a:p>
                      <a:pPr algn="ctr">
                        <a:defRPr sz="1800"/>
                      </a:pPr>
                      <a:r>
                        <a:rPr sz="1400"/>
                        <a:t> Fund Release         </a:t>
                      </a:r>
                    </a:p>
                  </a:txBody>
                  <a:tcPr marL="9525" marR="9525" marT="9525" marB="9525" anchor="ctr" horzOverflow="overflow"/>
                </a:tc>
                <a:tc>
                  <a:txBody>
                    <a:bodyPr/>
                    <a:lstStyle/>
                    <a:p>
                      <a:pPr algn="ctr">
                        <a:defRPr sz="1800"/>
                      </a:pPr>
                      <a:r>
                        <a:rPr sz="1400"/>
                        <a:t> Governance            </a:t>
                      </a:r>
                    </a:p>
                  </a:txBody>
                  <a:tcPr marL="9525" marR="9525" marT="9525" marB="9525" anchor="ctr" horzOverflow="overflow"/>
                </a:tc>
                <a:tc>
                  <a:txBody>
                    <a:bodyPr/>
                    <a:lstStyle/>
                    <a:p>
                      <a:pPr algn="ctr">
                        <a:defRPr sz="1800"/>
                      </a:pPr>
                      <a:r>
                        <a:rPr sz="1400"/>
                        <a:t>8</a:t>
                      </a:r>
                    </a:p>
                  </a:txBody>
                  <a:tcPr marL="9525" marR="9525" marT="9525" marB="9525" anchor="ctr" horzOverflow="overflow"/>
                </a:tc>
                <a:extLst>
                  <a:ext uri="{0D108BD9-81ED-4DB2-BD59-A6C34878D82A}">
                    <a16:rowId xmlns:a16="http://schemas.microsoft.com/office/drawing/2014/main" val="10001"/>
                  </a:ext>
                </a:extLst>
              </a:tr>
              <a:tr h="1173706">
                <a:tc>
                  <a:txBody>
                    <a:bodyPr/>
                    <a:lstStyle/>
                    <a:p>
                      <a:pPr algn="ctr">
                        <a:defRPr sz="1800"/>
                      </a:pPr>
                      <a:r>
                        <a:rPr sz="1400"/>
                        <a:t>US_07  </a:t>
                      </a:r>
                    </a:p>
                  </a:txBody>
                  <a:tcPr marL="9525" marR="9525" marT="9525" marB="9525" anchor="ctr" horzOverflow="overflow"/>
                </a:tc>
                <a:tc>
                  <a:txBody>
                    <a:bodyPr/>
                    <a:lstStyle/>
                    <a:p>
                      <a:pPr algn="l">
                        <a:defRPr sz="1800"/>
                      </a:pPr>
                      <a:r>
                        <a:rPr sz="1400"/>
                        <a:t> As a user, I want to view all campaigns with details so that I can choose which to support.                        </a:t>
                      </a:r>
                    </a:p>
                  </a:txBody>
                  <a:tcPr marL="9525" marR="9525" marT="9525" marB="9525" anchor="ctr" horzOverflow="overflow"/>
                </a:tc>
                <a:tc>
                  <a:txBody>
                    <a:bodyPr/>
                    <a:lstStyle/>
                    <a:p>
                      <a:pPr algn="l">
                        <a:defRPr sz="1800"/>
                      </a:pPr>
                      <a:r>
                        <a:rPr sz="1400"/>
                        <a:t> Given campaigns exist, When I open the campaign list, Then I see each campaign’s goal, raised amount, and current status. </a:t>
                      </a:r>
                    </a:p>
                  </a:txBody>
                  <a:tcPr marL="9525" marR="9525" marT="9525" marB="9525" anchor="ctr" horzOverflow="overflow"/>
                </a:tc>
                <a:tc>
                  <a:txBody>
                    <a:bodyPr/>
                    <a:lstStyle/>
                    <a:p>
                      <a:pPr algn="ctr">
                        <a:defRPr sz="1800"/>
                      </a:pPr>
                      <a:r>
                        <a:rPr sz="1400"/>
                        <a:t> Campaign Listing     </a:t>
                      </a:r>
                    </a:p>
                  </a:txBody>
                  <a:tcPr marL="9525" marR="9525" marT="9525" marB="9525" anchor="ctr" horzOverflow="overflow"/>
                </a:tc>
                <a:tc>
                  <a:txBody>
                    <a:bodyPr/>
                    <a:lstStyle/>
                    <a:p>
                      <a:pPr algn="ctr">
                        <a:defRPr sz="1800"/>
                      </a:pPr>
                      <a:r>
                        <a:rPr sz="1400"/>
                        <a:t> Data Display          </a:t>
                      </a:r>
                    </a:p>
                  </a:txBody>
                  <a:tcPr marL="9525" marR="9525" marT="9525" marB="9525" anchor="ctr" horzOverflow="overflow"/>
                </a:tc>
                <a:tc>
                  <a:txBody>
                    <a:bodyPr/>
                    <a:lstStyle/>
                    <a:p>
                      <a:pPr algn="ctr">
                        <a:defRPr sz="1800"/>
                      </a:pPr>
                      <a:r>
                        <a:rPr sz="1400"/>
                        <a:t>5</a:t>
                      </a:r>
                    </a:p>
                  </a:txBody>
                  <a:tcPr marL="9525" marR="9525" marT="9525" marB="9525" anchor="ctr" horzOverflow="overflow"/>
                </a:tc>
                <a:extLst>
                  <a:ext uri="{0D108BD9-81ED-4DB2-BD59-A6C34878D82A}">
                    <a16:rowId xmlns:a16="http://schemas.microsoft.com/office/drawing/2014/main" val="10002"/>
                  </a:ext>
                </a:extLst>
              </a:tr>
              <a:tr h="1090522">
                <a:tc>
                  <a:txBody>
                    <a:bodyPr/>
                    <a:lstStyle/>
                    <a:p>
                      <a:pPr algn="ctr">
                        <a:defRPr sz="1800"/>
                      </a:pPr>
                      <a:r>
                        <a:rPr sz="1400"/>
                        <a:t>US_08  </a:t>
                      </a:r>
                    </a:p>
                  </a:txBody>
                  <a:tcPr marL="9525" marR="9525" marT="9525" marB="9525" anchor="ctr" horzOverflow="overflow"/>
                </a:tc>
                <a:tc>
                  <a:txBody>
                    <a:bodyPr/>
                    <a:lstStyle/>
                    <a:p>
                      <a:pPr algn="l">
                        <a:defRPr sz="1800"/>
                      </a:pPr>
                      <a:r>
                        <a:rPr sz="1400"/>
                        <a:t> As a user, I want to see campaign status so that I know whether it’s active, successful, or failed.                </a:t>
                      </a:r>
                    </a:p>
                  </a:txBody>
                  <a:tcPr marL="9525" marR="9525" marT="9525" marB="9525" anchor="ctr" horzOverflow="overflow"/>
                </a:tc>
                <a:tc>
                  <a:txBody>
                    <a:bodyPr/>
                    <a:lstStyle/>
                    <a:p>
                      <a:pPr algn="l">
                        <a:defRPr sz="1800"/>
                      </a:pPr>
                      <a:r>
                        <a:rPr sz="1400"/>
                        <a:t> Given a campaign has a deadline and target, When time passes or funds are raised, Then the status updates to Active, Successful, or Failed. </a:t>
                      </a:r>
                    </a:p>
                  </a:txBody>
                  <a:tcPr marL="9525" marR="9525" marT="9525" marB="9525" anchor="ctr" horzOverflow="overflow"/>
                </a:tc>
                <a:tc>
                  <a:txBody>
                    <a:bodyPr/>
                    <a:lstStyle/>
                    <a:p>
                      <a:pPr algn="ctr">
                        <a:defRPr sz="1800"/>
                      </a:pPr>
                      <a:r>
                        <a:rPr sz="1400"/>
                        <a:t> Campaign Status      </a:t>
                      </a:r>
                    </a:p>
                  </a:txBody>
                  <a:tcPr marL="9525" marR="9525" marT="9525" marB="9525" anchor="ctr" horzOverflow="overflow"/>
                </a:tc>
                <a:tc>
                  <a:txBody>
                    <a:bodyPr/>
                    <a:lstStyle/>
                    <a:p>
                      <a:pPr algn="ctr">
                        <a:defRPr sz="1800"/>
                      </a:pPr>
                      <a:r>
                        <a:rPr sz="1400"/>
                        <a:t> Data Display          </a:t>
                      </a:r>
                    </a:p>
                  </a:txBody>
                  <a:tcPr marL="9525" marR="9525" marT="9525" marB="9525" anchor="ctr" horzOverflow="overflow"/>
                </a:tc>
                <a:tc>
                  <a:txBody>
                    <a:bodyPr/>
                    <a:lstStyle/>
                    <a:p>
                      <a:pPr algn="ctr">
                        <a:defRPr sz="1800"/>
                      </a:pPr>
                      <a:r>
                        <a:rPr sz="1400"/>
                        <a:t>3</a:t>
                      </a:r>
                    </a:p>
                  </a:txBody>
                  <a:tcPr marL="9525" marR="9525" marT="9525" marB="9525" anchor="ctr" horzOverflow="overflow"/>
                </a:tc>
                <a:extLst>
                  <a:ext uri="{0D108BD9-81ED-4DB2-BD59-A6C34878D82A}">
                    <a16:rowId xmlns:a16="http://schemas.microsoft.com/office/drawing/2014/main" val="10003"/>
                  </a:ext>
                </a:extLst>
              </a:tr>
              <a:tr h="1673535">
                <a:tc>
                  <a:txBody>
                    <a:bodyPr/>
                    <a:lstStyle/>
                    <a:p>
                      <a:pPr algn="ctr">
                        <a:defRPr sz="1800"/>
                      </a:pPr>
                      <a:r>
                        <a:rPr sz="1400"/>
                        <a:t>US_09  </a:t>
                      </a:r>
                    </a:p>
                  </a:txBody>
                  <a:tcPr marL="9525" marR="9525" marT="9525" marB="9525" anchor="ctr" horzOverflow="overflow"/>
                </a:tc>
                <a:tc>
                  <a:txBody>
                    <a:bodyPr/>
                    <a:lstStyle/>
                    <a:p>
                      <a:pPr algn="l">
                        <a:defRPr sz="1800"/>
                      </a:pPr>
                      <a:r>
                        <a:rPr sz="1400"/>
                        <a:t> As a system, I want to validate minimum contributions so that campaigns remain fair and secure.                    </a:t>
                      </a:r>
                    </a:p>
                  </a:txBody>
                  <a:tcPr marL="9525" marR="9525" marT="9525" marB="9525" anchor="ctr" horzOverflow="overflow"/>
                </a:tc>
                <a:tc>
                  <a:txBody>
                    <a:bodyPr/>
                    <a:lstStyle/>
                    <a:p>
                      <a:pPr algn="l">
                        <a:defRPr sz="1800"/>
                      </a:pPr>
                      <a:r>
                        <a:rPr sz="1400"/>
                        <a:t> Given a contribution is below the minimum, When a user tries to send ETH, Then the transaction is rejected and an error message is shown. </a:t>
                      </a:r>
                    </a:p>
                  </a:txBody>
                  <a:tcPr marL="9525" marR="9525" marT="9525" marB="9525" anchor="ctr" horzOverflow="overflow"/>
                </a:tc>
                <a:tc>
                  <a:txBody>
                    <a:bodyPr/>
                    <a:lstStyle/>
                    <a:p>
                      <a:pPr algn="ctr">
                        <a:defRPr sz="1800"/>
                      </a:pPr>
                      <a:r>
                        <a:rPr sz="1400"/>
                        <a:t> Validation Logic     </a:t>
                      </a:r>
                    </a:p>
                  </a:txBody>
                  <a:tcPr marL="9525" marR="9525" marT="9525" marB="9525" anchor="ctr" horzOverflow="overflow"/>
                </a:tc>
                <a:tc>
                  <a:txBody>
                    <a:bodyPr/>
                    <a:lstStyle/>
                    <a:p>
                      <a:pPr algn="ctr">
                        <a:defRPr sz="1800"/>
                      </a:pPr>
                      <a:r>
                        <a:rPr sz="1400"/>
                        <a:t> Contract Validation   </a:t>
                      </a:r>
                    </a:p>
                  </a:txBody>
                  <a:tcPr marL="9525" marR="9525" marT="9525" marB="9525" anchor="ctr" horzOverflow="overflow"/>
                </a:tc>
                <a:tc>
                  <a:txBody>
                    <a:bodyPr/>
                    <a:lstStyle/>
                    <a:p>
                      <a:pPr algn="ctr">
                        <a:defRPr sz="1800"/>
                      </a:pPr>
                      <a:r>
                        <a:rPr sz="1400"/>
                        <a:t>2</a:t>
                      </a:r>
                    </a:p>
                  </a:txBody>
                  <a:tcPr marL="9525" marR="9525" marT="9525" marB="9525" anchor="ctr" horzOverflow="overflow"/>
                </a:tc>
                <a:extLst>
                  <a:ext uri="{0D108BD9-81ED-4DB2-BD59-A6C34878D82A}">
                    <a16:rowId xmlns:a16="http://schemas.microsoft.com/office/drawing/2014/main" val="10004"/>
                  </a:ext>
                </a:extLst>
              </a:tr>
            </a:tbl>
          </a:graphicData>
        </a:graphic>
      </p:graphicFrame>
    </p:spTree>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5" name="Title 1"/>
          <p:cNvSpPr txBox="1">
            <a:spLocks noGrp="1"/>
          </p:cNvSpPr>
          <p:nvPr>
            <p:ph type="title"/>
          </p:nvPr>
        </p:nvSpPr>
        <p:spPr>
          <a:xfrm>
            <a:off x="457201" y="604684"/>
            <a:ext cx="7772401" cy="796413"/>
          </a:xfrm>
          <a:prstGeom prst="rect">
            <a:avLst/>
          </a:prstGeom>
        </p:spPr>
        <p:txBody>
          <a:bodyPr/>
          <a:lstStyle>
            <a:lvl1pPr>
              <a:defRPr>
                <a:latin typeface="Times New Roman"/>
                <a:ea typeface="Times New Roman"/>
                <a:cs typeface="Times New Roman"/>
                <a:sym typeface="Times New Roman"/>
              </a:defRPr>
            </a:lvl1pPr>
          </a:lstStyle>
          <a:p>
            <a:r>
              <a:t>Product Backlog overview</a:t>
            </a:r>
          </a:p>
        </p:txBody>
      </p:sp>
      <p:graphicFrame>
        <p:nvGraphicFramePr>
          <p:cNvPr id="286" name="Table 2"/>
          <p:cNvGraphicFramePr/>
          <p:nvPr>
            <p:extLst>
              <p:ext uri="{D42A27DB-BD31-4B8C-83A1-F6EECF244321}">
                <p14:modId xmlns:p14="http://schemas.microsoft.com/office/powerpoint/2010/main" val="63164507"/>
              </p:ext>
            </p:extLst>
          </p:nvPr>
        </p:nvGraphicFramePr>
        <p:xfrm>
          <a:off x="523786" y="1813767"/>
          <a:ext cx="7850154" cy="3548221"/>
        </p:xfrm>
        <a:graphic>
          <a:graphicData uri="http://schemas.openxmlformats.org/drawingml/2006/table">
            <a:tbl>
              <a:tblPr firstRow="1" bandRow="1">
                <a:tableStyleId>{4C3C2611-4C71-4FC5-86AE-919BDF0F9419}</a:tableStyleId>
              </a:tblPr>
              <a:tblGrid>
                <a:gridCol w="2616718">
                  <a:extLst>
                    <a:ext uri="{9D8B030D-6E8A-4147-A177-3AD203B41FA5}">
                      <a16:colId xmlns:a16="http://schemas.microsoft.com/office/drawing/2014/main" val="20000"/>
                    </a:ext>
                  </a:extLst>
                </a:gridCol>
                <a:gridCol w="2616718">
                  <a:extLst>
                    <a:ext uri="{9D8B030D-6E8A-4147-A177-3AD203B41FA5}">
                      <a16:colId xmlns:a16="http://schemas.microsoft.com/office/drawing/2014/main" val="20001"/>
                    </a:ext>
                  </a:extLst>
                </a:gridCol>
                <a:gridCol w="2616718">
                  <a:extLst>
                    <a:ext uri="{9D8B030D-6E8A-4147-A177-3AD203B41FA5}">
                      <a16:colId xmlns:a16="http://schemas.microsoft.com/office/drawing/2014/main" val="20002"/>
                    </a:ext>
                  </a:extLst>
                </a:gridCol>
              </a:tblGrid>
              <a:tr h="414681">
                <a:tc>
                  <a:txBody>
                    <a:bodyPr/>
                    <a:lstStyle/>
                    <a:p>
                      <a:pPr algn="l">
                        <a:defRPr sz="1800" b="0">
                          <a:solidFill>
                            <a:srgbClr val="000000"/>
                          </a:solidFill>
                        </a:defRPr>
                      </a:pPr>
                      <a:r>
                        <a:rPr sz="1600" b="1" dirty="0">
                          <a:solidFill>
                            <a:srgbClr val="FFFFFF"/>
                          </a:solidFill>
                        </a:rPr>
                        <a:t>Sprint 1 (15 pts)</a:t>
                      </a:r>
                    </a:p>
                  </a:txBody>
                  <a:tcPr marL="45720" marR="45720" horzOverflow="overflow"/>
                </a:tc>
                <a:tc>
                  <a:txBody>
                    <a:bodyPr/>
                    <a:lstStyle/>
                    <a:p>
                      <a:pPr algn="l">
                        <a:defRPr sz="1800" b="0">
                          <a:solidFill>
                            <a:srgbClr val="000000"/>
                          </a:solidFill>
                        </a:defRPr>
                      </a:pPr>
                      <a:r>
                        <a:rPr sz="1600" b="1" dirty="0">
                          <a:solidFill>
                            <a:srgbClr val="FFFFFF"/>
                          </a:solidFill>
                        </a:rPr>
                        <a:t>Sprint 2 (21 pts)</a:t>
                      </a:r>
                    </a:p>
                  </a:txBody>
                  <a:tcPr marL="45720" marR="45720" horzOverflow="overflow"/>
                </a:tc>
                <a:tc>
                  <a:txBody>
                    <a:bodyPr/>
                    <a:lstStyle/>
                    <a:p>
                      <a:pPr algn="l">
                        <a:defRPr sz="1800" b="0">
                          <a:solidFill>
                            <a:srgbClr val="000000"/>
                          </a:solidFill>
                        </a:defRPr>
                      </a:pPr>
                      <a:r>
                        <a:rPr sz="1600" b="1" dirty="0">
                          <a:solidFill>
                            <a:srgbClr val="FFFFFF"/>
                          </a:solidFill>
                        </a:rPr>
                        <a:t>Sprint 3 (13 pts)</a:t>
                      </a:r>
                    </a:p>
                  </a:txBody>
                  <a:tcPr marL="45720" marR="45720" horzOverflow="overflow"/>
                </a:tc>
                <a:extLst>
                  <a:ext uri="{0D108BD9-81ED-4DB2-BD59-A6C34878D82A}">
                    <a16:rowId xmlns:a16="http://schemas.microsoft.com/office/drawing/2014/main" val="10000"/>
                  </a:ext>
                </a:extLst>
              </a:tr>
              <a:tr h="1203570">
                <a:tc>
                  <a:txBody>
                    <a:bodyPr/>
                    <a:lstStyle/>
                    <a:p>
                      <a:pPr algn="l">
                        <a:defRPr sz="1400"/>
                      </a:pPr>
                      <a:r>
                        <a:rPr sz="1400" dirty="0"/>
                        <a:t>US_01: As a campaign manager, I want to create a new campaign with a target and deadline so that I can raise funds.       </a:t>
                      </a:r>
                    </a:p>
                    <a:p>
                      <a:pPr algn="ctr">
                        <a:defRPr sz="1400"/>
                      </a:pPr>
                      <a:r>
                        <a:rPr dirty="0"/>
                        <a:t>  </a:t>
                      </a:r>
                    </a:p>
                  </a:txBody>
                  <a:tcPr marL="9525" marR="9525" marT="9525" marB="9525" horzOverflow="overflow"/>
                </a:tc>
                <a:tc>
                  <a:txBody>
                    <a:bodyPr/>
                    <a:lstStyle/>
                    <a:p>
                      <a:pPr algn="l">
                        <a:defRPr sz="1800"/>
                      </a:pPr>
                      <a:r>
                        <a:rPr sz="1400" dirty="0"/>
                        <a:t>US_04: As a manager, I want to create spending requests so that I can propose how to use the raised funds.                </a:t>
                      </a:r>
                    </a:p>
                  </a:txBody>
                  <a:tcPr marL="9525" marR="9525" marT="9525" marB="9525" horzOverflow="overflow"/>
                </a:tc>
                <a:tc>
                  <a:txBody>
                    <a:bodyPr/>
                    <a:lstStyle/>
                    <a:p>
                      <a:pPr algn="l">
                        <a:defRPr sz="1800"/>
                      </a:pPr>
                      <a:r>
                        <a:rPr sz="1400" dirty="0"/>
                        <a:t>US_03: As a contributor, I want to get a refund if the campaign fails so that I don’t lose my funds</a:t>
                      </a:r>
                    </a:p>
                  </a:txBody>
                  <a:tcPr marL="45720" marR="45720" horzOverflow="overflow"/>
                </a:tc>
                <a:extLst>
                  <a:ext uri="{0D108BD9-81ED-4DB2-BD59-A6C34878D82A}">
                    <a16:rowId xmlns:a16="http://schemas.microsoft.com/office/drawing/2014/main" val="10001"/>
                  </a:ext>
                </a:extLst>
              </a:tr>
              <a:tr h="964985">
                <a:tc>
                  <a:txBody>
                    <a:bodyPr/>
                    <a:lstStyle/>
                    <a:p>
                      <a:pPr algn="l">
                        <a:defRPr sz="1800"/>
                      </a:pPr>
                      <a:r>
                        <a:rPr sz="1400" dirty="0"/>
                        <a:t>US_02: As a contributor, I want to contribute funds to a campaign so that I can support causes I believe in</a:t>
                      </a:r>
                    </a:p>
                  </a:txBody>
                  <a:tcPr marL="9525" marR="9525" marT="9525" marB="9525" horzOverflow="overflow"/>
                </a:tc>
                <a:tc>
                  <a:txBody>
                    <a:bodyPr/>
                    <a:lstStyle/>
                    <a:p>
                      <a:pPr algn="l">
                        <a:defRPr sz="1800"/>
                      </a:pPr>
                      <a:r>
                        <a:rPr sz="1400" dirty="0"/>
                        <a:t>US_05: As a contributor, I want to vote on spending requests so that I can influence how funds are used.                  </a:t>
                      </a:r>
                    </a:p>
                  </a:txBody>
                  <a:tcPr marL="9525" marR="9525" marT="9525" marB="9525" horzOverflow="overflow"/>
                </a:tc>
                <a:tc>
                  <a:txBody>
                    <a:bodyPr/>
                    <a:lstStyle/>
                    <a:p>
                      <a:pPr algn="l">
                        <a:defRPr sz="1800"/>
                      </a:pPr>
                      <a:r>
                        <a:rPr sz="1400" dirty="0"/>
                        <a:t>US_07: As a user, I want to view all campaigns with details so that I can choose which to support.                        </a:t>
                      </a:r>
                    </a:p>
                  </a:txBody>
                  <a:tcPr marL="9525" marR="9525" marT="9525" marB="9525" horzOverflow="overflow"/>
                </a:tc>
                <a:extLst>
                  <a:ext uri="{0D108BD9-81ED-4DB2-BD59-A6C34878D82A}">
                    <a16:rowId xmlns:a16="http://schemas.microsoft.com/office/drawing/2014/main" val="10002"/>
                  </a:ext>
                </a:extLst>
              </a:tr>
              <a:tr h="964985">
                <a:tc>
                  <a:txBody>
                    <a:bodyPr/>
                    <a:lstStyle/>
                    <a:p>
                      <a:pPr algn="l">
                        <a:defRPr sz="1800"/>
                      </a:pPr>
                      <a:r>
                        <a:rPr sz="1400" dirty="0"/>
                        <a:t>US_09: As a system, I want to validate minimum contributions so that campaigns remain fair and secure. </a:t>
                      </a:r>
                    </a:p>
                  </a:txBody>
                  <a:tcPr marL="9525" marR="9525" marT="9525" marB="9525" horzOverflow="overflow"/>
                </a:tc>
                <a:tc>
                  <a:txBody>
                    <a:bodyPr/>
                    <a:lstStyle/>
                    <a:p>
                      <a:pPr algn="l">
                        <a:defRPr sz="1800"/>
                      </a:pPr>
                      <a:r>
                        <a:rPr sz="1400" dirty="0"/>
                        <a:t>US_06: As a manager, I want to release funds after majority approval so that requests can be fulfilled responsibly. </a:t>
                      </a:r>
                    </a:p>
                  </a:txBody>
                  <a:tcPr marL="9525" marR="9525" marT="9525" marB="9525" horzOverflow="overflow"/>
                </a:tc>
                <a:tc>
                  <a:txBody>
                    <a:bodyPr/>
                    <a:lstStyle/>
                    <a:p>
                      <a:pPr algn="l">
                        <a:defRPr sz="1800"/>
                      </a:pPr>
                      <a:r>
                        <a:rPr sz="1400" dirty="0"/>
                        <a:t>US_08: As a user, I want to see campaign status so that I know whether it’s active, successful, or failed.                </a:t>
                      </a:r>
                    </a:p>
                  </a:txBody>
                  <a:tcPr marL="9525" marR="9525" marT="9525" marB="9525" horzOverflow="overflow"/>
                </a:tc>
                <a:extLst>
                  <a:ext uri="{0D108BD9-81ED-4DB2-BD59-A6C34878D82A}">
                    <a16:rowId xmlns:a16="http://schemas.microsoft.com/office/drawing/2014/main" val="10003"/>
                  </a:ext>
                </a:extLst>
              </a:tr>
            </a:tbl>
          </a:graphicData>
        </a:graphic>
      </p:graphicFrame>
    </p:spTree>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8" name="Title 1"/>
          <p:cNvSpPr txBox="1">
            <a:spLocks noGrp="1"/>
          </p:cNvSpPr>
          <p:nvPr>
            <p:ph type="title"/>
          </p:nvPr>
        </p:nvSpPr>
        <p:spPr>
          <a:xfrm>
            <a:off x="685799" y="99982"/>
            <a:ext cx="7772401" cy="796413"/>
          </a:xfrm>
          <a:prstGeom prst="rect">
            <a:avLst/>
          </a:prstGeom>
        </p:spPr>
        <p:txBody>
          <a:bodyPr/>
          <a:lstStyle>
            <a:lvl1pPr algn="ctr">
              <a:defRPr sz="2500" b="1" cap="none">
                <a:latin typeface="Times New Roman"/>
                <a:ea typeface="Times New Roman"/>
                <a:cs typeface="Times New Roman"/>
                <a:sym typeface="Times New Roman"/>
              </a:defRPr>
            </a:lvl1pPr>
          </a:lstStyle>
          <a:p>
            <a:r>
              <a:t>SPRINT SUMMARY</a:t>
            </a:r>
          </a:p>
        </p:txBody>
      </p:sp>
      <p:sp>
        <p:nvSpPr>
          <p:cNvPr id="289" name="Sprint 1 Summary (Oct 14 – Oct 21)…"/>
          <p:cNvSpPr txBox="1"/>
          <p:nvPr/>
        </p:nvSpPr>
        <p:spPr>
          <a:xfrm>
            <a:off x="1985404" y="847006"/>
            <a:ext cx="5569036" cy="362124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spcBef>
                <a:spcPts val="1400"/>
              </a:spcBef>
              <a:defRPr b="1">
                <a:solidFill>
                  <a:schemeClr val="accent6">
                    <a:lumOff val="19607"/>
                  </a:schemeClr>
                </a:solidFill>
                <a:latin typeface="Times Roman"/>
                <a:ea typeface="Times Roman"/>
                <a:cs typeface="Times Roman"/>
                <a:sym typeface="Times Roman"/>
              </a:defRPr>
            </a:pPr>
            <a:r>
              <a:t>Sprint 1 Summary (Oct 14 – Oct 21)</a:t>
            </a:r>
          </a:p>
          <a:p>
            <a:pPr>
              <a:spcBef>
                <a:spcPts val="1200"/>
              </a:spcBef>
              <a:defRPr sz="1200">
                <a:solidFill>
                  <a:srgbClr val="FFFFFF"/>
                </a:solidFill>
                <a:latin typeface="Times Roman"/>
                <a:ea typeface="Times Roman"/>
                <a:cs typeface="Times Roman"/>
                <a:sym typeface="Times Roman"/>
              </a:defRPr>
            </a:pPr>
            <a:r>
              <a:rPr b="1"/>
              <a:t>Sprint Goal:</a:t>
            </a:r>
            <a:br/>
            <a:r>
              <a:t>Enable basic campaign creation and contribution functionality while enforcing fair contribution rules.</a:t>
            </a:r>
          </a:p>
          <a:p>
            <a:pPr>
              <a:spcBef>
                <a:spcPts val="1200"/>
              </a:spcBef>
              <a:defRPr sz="1200" b="1">
                <a:solidFill>
                  <a:srgbClr val="FFFFFF"/>
                </a:solidFill>
                <a:latin typeface="Times Roman"/>
                <a:ea typeface="Times Roman"/>
                <a:cs typeface="Times Roman"/>
                <a:sym typeface="Times Roman"/>
              </a:defRPr>
            </a:pPr>
            <a:r>
              <a:t>Completed User Stories (15 pts):</a:t>
            </a:r>
            <a:endParaRPr b="0"/>
          </a:p>
          <a:p>
            <a:pPr marL="457200" indent="-317500">
              <a:spcBef>
                <a:spcPts val="1200"/>
              </a:spcBef>
              <a:buSzPct val="100000"/>
              <a:buFont typeface="Times Roman"/>
              <a:buChar char="•"/>
              <a:defRPr sz="1200">
                <a:solidFill>
                  <a:srgbClr val="FFFFFF"/>
                </a:solidFill>
                <a:latin typeface="Times Roman"/>
                <a:ea typeface="Times Roman"/>
                <a:cs typeface="Times Roman"/>
                <a:sym typeface="Times Roman"/>
              </a:defRPr>
            </a:pPr>
            <a:r>
              <a:rPr b="1"/>
              <a:t>US_01:</a:t>
            </a:r>
            <a:r>
              <a:t> Campaign creation with target and deadline </a:t>
            </a:r>
            <a:r>
              <a:rPr>
                <a:solidFill>
                  <a:schemeClr val="accent6">
                    <a:lumOff val="19607"/>
                  </a:schemeClr>
                </a:solidFill>
              </a:rPr>
              <a:t>(Completed)</a:t>
            </a:r>
          </a:p>
          <a:p>
            <a:pPr marL="457200" indent="-317500">
              <a:spcBef>
                <a:spcPts val="1200"/>
              </a:spcBef>
              <a:buSzPct val="100000"/>
              <a:buFont typeface="Times Roman"/>
              <a:buChar char="•"/>
              <a:defRPr sz="1200">
                <a:solidFill>
                  <a:srgbClr val="FFFFFF"/>
                </a:solidFill>
                <a:latin typeface="Times Roman"/>
                <a:ea typeface="Times Roman"/>
                <a:cs typeface="Times Roman"/>
                <a:sym typeface="Times Roman"/>
              </a:defRPr>
            </a:pPr>
            <a:r>
              <a:rPr b="1"/>
              <a:t>US_02:</a:t>
            </a:r>
            <a:r>
              <a:t> Contribution to campaigns </a:t>
            </a:r>
            <a:r>
              <a:rPr>
                <a:solidFill>
                  <a:schemeClr val="accent6">
                    <a:lumOff val="19607"/>
                  </a:schemeClr>
                </a:solidFill>
              </a:rPr>
              <a:t>(Completed)</a:t>
            </a:r>
          </a:p>
          <a:p>
            <a:pPr marL="457200" indent="-317500">
              <a:spcBef>
                <a:spcPts val="1200"/>
              </a:spcBef>
              <a:buSzPct val="100000"/>
              <a:buFont typeface="Times Roman"/>
              <a:buChar char="•"/>
              <a:defRPr sz="1200">
                <a:solidFill>
                  <a:srgbClr val="FFFFFF"/>
                </a:solidFill>
                <a:latin typeface="Times Roman"/>
                <a:ea typeface="Times Roman"/>
                <a:cs typeface="Times Roman"/>
                <a:sym typeface="Times Roman"/>
              </a:defRPr>
            </a:pPr>
            <a:r>
              <a:rPr b="1"/>
              <a:t>US_09:</a:t>
            </a:r>
            <a:r>
              <a:t> Validation of minimum contributions </a:t>
            </a:r>
            <a:r>
              <a:rPr>
                <a:solidFill>
                  <a:schemeClr val="accent6">
                    <a:lumOff val="19607"/>
                  </a:schemeClr>
                </a:solidFill>
              </a:rPr>
              <a:t>(Completed)</a:t>
            </a:r>
          </a:p>
          <a:p>
            <a:pPr>
              <a:spcBef>
                <a:spcPts val="1200"/>
              </a:spcBef>
              <a:defRPr sz="1200">
                <a:solidFill>
                  <a:srgbClr val="FFFFFF"/>
                </a:solidFill>
                <a:latin typeface="Times Roman"/>
                <a:ea typeface="Times Roman"/>
                <a:cs typeface="Times Roman"/>
                <a:sym typeface="Times Roman"/>
              </a:defRPr>
            </a:pPr>
            <a:r>
              <a:rPr b="1"/>
              <a:t>Sprint Outcome:</a:t>
            </a:r>
            <a:br/>
            <a:r>
              <a:t>All planned user stories were completed. The campaign manager can now create campaigns with specific targets and deadlines. Contributors can fund campaigns while the system ensures minimum contribution rules are enforced.</a:t>
            </a:r>
          </a:p>
        </p:txBody>
      </p:sp>
      <p:pic>
        <p:nvPicPr>
          <p:cNvPr id="290" name="sprint1_burndown.png" descr="sprint1_burndown.png"/>
          <p:cNvPicPr>
            <a:picLocks noChangeAspect="1"/>
          </p:cNvPicPr>
          <p:nvPr/>
        </p:nvPicPr>
        <p:blipFill>
          <a:blip r:embed="rId2"/>
          <a:stretch>
            <a:fillRect/>
          </a:stretch>
        </p:blipFill>
        <p:spPr>
          <a:xfrm>
            <a:off x="2499249" y="4413662"/>
            <a:ext cx="4145502" cy="2072751"/>
          </a:xfrm>
          <a:prstGeom prst="rect">
            <a:avLst/>
          </a:prstGeom>
          <a:ln w="12700">
            <a:miter lim="400000"/>
          </a:ln>
        </p:spPr>
      </p:pic>
    </p:spTree>
  </p:cSld>
  <p:clrMapOvr>
    <a:masterClrMapping/>
  </p:clrMapOvr>
  <p:transition spd="me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2" name="Title 1"/>
          <p:cNvSpPr txBox="1">
            <a:spLocks noGrp="1"/>
          </p:cNvSpPr>
          <p:nvPr>
            <p:ph type="title"/>
          </p:nvPr>
        </p:nvSpPr>
        <p:spPr>
          <a:xfrm>
            <a:off x="685800" y="99982"/>
            <a:ext cx="7772400" cy="796413"/>
          </a:xfrm>
          <a:prstGeom prst="rect">
            <a:avLst/>
          </a:prstGeom>
        </p:spPr>
        <p:txBody>
          <a:bodyPr/>
          <a:lstStyle>
            <a:lvl1pPr algn="ctr">
              <a:defRPr sz="2500" b="1" cap="none">
                <a:latin typeface="Times New Roman"/>
                <a:ea typeface="Times New Roman"/>
                <a:cs typeface="Times New Roman"/>
                <a:sym typeface="Times New Roman"/>
              </a:defRPr>
            </a:lvl1pPr>
          </a:lstStyle>
          <a:p>
            <a:r>
              <a:t>SPRINT SUMMARY</a:t>
            </a:r>
          </a:p>
        </p:txBody>
      </p:sp>
      <p:sp>
        <p:nvSpPr>
          <p:cNvPr id="293" name="Sprint 2 Summary (Oct 22 – Nov 12)…"/>
          <p:cNvSpPr txBox="1"/>
          <p:nvPr/>
        </p:nvSpPr>
        <p:spPr>
          <a:xfrm>
            <a:off x="1985404" y="847006"/>
            <a:ext cx="5569036" cy="362124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spcBef>
                <a:spcPts val="1400"/>
              </a:spcBef>
              <a:defRPr b="1">
                <a:solidFill>
                  <a:schemeClr val="accent6">
                    <a:lumOff val="19607"/>
                  </a:schemeClr>
                </a:solidFill>
                <a:latin typeface="Times Roman"/>
                <a:ea typeface="Times Roman"/>
                <a:cs typeface="Times Roman"/>
                <a:sym typeface="Times Roman"/>
              </a:defRPr>
            </a:pPr>
            <a:r>
              <a:t>Sprint 2 Summary (Oct 22 – Nov 12)</a:t>
            </a:r>
          </a:p>
          <a:p>
            <a:pPr>
              <a:spcBef>
                <a:spcPts val="1200"/>
              </a:spcBef>
              <a:defRPr sz="1200">
                <a:solidFill>
                  <a:srgbClr val="FFFFFF"/>
                </a:solidFill>
                <a:latin typeface="Times Roman"/>
                <a:ea typeface="Times Roman"/>
                <a:cs typeface="Times Roman"/>
                <a:sym typeface="Times Roman"/>
              </a:defRPr>
            </a:pPr>
            <a:r>
              <a:rPr b="1"/>
              <a:t>Sprint Goal:</a:t>
            </a:r>
            <a:br/>
            <a:r>
              <a:t>Implement spending management, including requests, contributor voting, and fund release after approval.</a:t>
            </a:r>
          </a:p>
          <a:p>
            <a:pPr>
              <a:spcBef>
                <a:spcPts val="1200"/>
              </a:spcBef>
              <a:defRPr sz="1200" b="1">
                <a:solidFill>
                  <a:srgbClr val="FFFFFF"/>
                </a:solidFill>
                <a:latin typeface="Times Roman"/>
                <a:ea typeface="Times Roman"/>
                <a:cs typeface="Times Roman"/>
                <a:sym typeface="Times Roman"/>
              </a:defRPr>
            </a:pPr>
            <a:r>
              <a:t>Completed User Stories (21 pts):</a:t>
            </a:r>
            <a:endParaRPr b="0"/>
          </a:p>
          <a:p>
            <a:pPr marL="457200" indent="-317500">
              <a:spcBef>
                <a:spcPts val="1200"/>
              </a:spcBef>
              <a:buSzPct val="100000"/>
              <a:buFont typeface="Times Roman"/>
              <a:buChar char="•"/>
              <a:defRPr sz="1200">
                <a:solidFill>
                  <a:srgbClr val="FFFFFF"/>
                </a:solidFill>
                <a:latin typeface="Times Roman"/>
                <a:ea typeface="Times Roman"/>
                <a:cs typeface="Times Roman"/>
                <a:sym typeface="Times Roman"/>
              </a:defRPr>
            </a:pPr>
            <a:r>
              <a:rPr b="1"/>
              <a:t>US_04:</a:t>
            </a:r>
            <a:r>
              <a:t> Manager can create spending requests </a:t>
            </a:r>
            <a:r>
              <a:rPr>
                <a:solidFill>
                  <a:schemeClr val="accent6">
                    <a:lumOff val="19607"/>
                  </a:schemeClr>
                </a:solidFill>
              </a:rPr>
              <a:t>(Completed)</a:t>
            </a:r>
          </a:p>
          <a:p>
            <a:pPr marL="457200" indent="-317500">
              <a:spcBef>
                <a:spcPts val="1200"/>
              </a:spcBef>
              <a:buSzPct val="100000"/>
              <a:buFont typeface="Times Roman"/>
              <a:buChar char="•"/>
              <a:defRPr sz="1200">
                <a:solidFill>
                  <a:srgbClr val="FFFFFF"/>
                </a:solidFill>
                <a:latin typeface="Times Roman"/>
                <a:ea typeface="Times Roman"/>
                <a:cs typeface="Times Roman"/>
                <a:sym typeface="Times Roman"/>
              </a:defRPr>
            </a:pPr>
            <a:r>
              <a:rPr b="1"/>
              <a:t>US_05:</a:t>
            </a:r>
            <a:r>
              <a:t> Contributors can vote on spending requests </a:t>
            </a:r>
            <a:r>
              <a:rPr>
                <a:solidFill>
                  <a:schemeClr val="accent6">
                    <a:lumOff val="19607"/>
                  </a:schemeClr>
                </a:solidFill>
              </a:rPr>
              <a:t>(Completed)</a:t>
            </a:r>
          </a:p>
          <a:p>
            <a:pPr marL="457200" indent="-317500">
              <a:spcBef>
                <a:spcPts val="1200"/>
              </a:spcBef>
              <a:buSzPct val="100000"/>
              <a:buFont typeface="Times Roman"/>
              <a:buChar char="•"/>
              <a:defRPr sz="1200">
                <a:solidFill>
                  <a:srgbClr val="FFFFFF"/>
                </a:solidFill>
                <a:latin typeface="Times Roman"/>
                <a:ea typeface="Times Roman"/>
                <a:cs typeface="Times Roman"/>
                <a:sym typeface="Times Roman"/>
              </a:defRPr>
            </a:pPr>
            <a:r>
              <a:rPr b="1"/>
              <a:t>US_06:</a:t>
            </a:r>
            <a:r>
              <a:t> Manager can release funds after majority approval </a:t>
            </a:r>
            <a:r>
              <a:rPr>
                <a:solidFill>
                  <a:schemeClr val="accent6">
                    <a:lumOff val="19607"/>
                  </a:schemeClr>
                </a:solidFill>
              </a:rPr>
              <a:t>(Completed)</a:t>
            </a:r>
          </a:p>
          <a:p>
            <a:pPr>
              <a:spcBef>
                <a:spcPts val="1200"/>
              </a:spcBef>
              <a:defRPr sz="1200">
                <a:solidFill>
                  <a:srgbClr val="FFFFFF"/>
                </a:solidFill>
                <a:latin typeface="Times Roman"/>
                <a:ea typeface="Times Roman"/>
                <a:cs typeface="Times Roman"/>
                <a:sym typeface="Times Roman"/>
              </a:defRPr>
            </a:pPr>
            <a:r>
              <a:rPr b="1"/>
              <a:t>Sprint Outcome:</a:t>
            </a:r>
            <a:br/>
            <a:r>
              <a:t>Managers can now propose spending requests and contributors can participate in decision-making. Funds are only released after majority approval, ensuring responsible handling of campaign resources.</a:t>
            </a:r>
          </a:p>
        </p:txBody>
      </p:sp>
      <p:pic>
        <p:nvPicPr>
          <p:cNvPr id="294" name="sprint2_burndown.png" descr="sprint2_burndown.png"/>
          <p:cNvPicPr>
            <a:picLocks noChangeAspect="1"/>
          </p:cNvPicPr>
          <p:nvPr/>
        </p:nvPicPr>
        <p:blipFill>
          <a:blip r:embed="rId2"/>
          <a:stretch>
            <a:fillRect/>
          </a:stretch>
        </p:blipFill>
        <p:spPr>
          <a:xfrm>
            <a:off x="2228749" y="4465122"/>
            <a:ext cx="4686502" cy="1874601"/>
          </a:xfrm>
          <a:prstGeom prst="rect">
            <a:avLst/>
          </a:prstGeom>
          <a:ln w="12700">
            <a:miter lim="400000"/>
          </a:ln>
        </p:spPr>
      </p:pic>
    </p:spTree>
  </p:cSld>
  <p:clrMapOvr>
    <a:masterClrMapping/>
  </p:clrMapOvr>
  <p:transition spd="me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 name="Title 1"/>
          <p:cNvSpPr txBox="1">
            <a:spLocks noGrp="1"/>
          </p:cNvSpPr>
          <p:nvPr>
            <p:ph type="title"/>
          </p:nvPr>
        </p:nvSpPr>
        <p:spPr>
          <a:xfrm>
            <a:off x="2984089" y="1843653"/>
            <a:ext cx="3175822" cy="2310581"/>
          </a:xfrm>
          <a:prstGeom prst="rect">
            <a:avLst/>
          </a:prstGeom>
        </p:spPr>
        <p:txBody>
          <a:bodyPr/>
          <a:lstStyle>
            <a:lvl1pPr algn="ctr">
              <a:defRPr sz="3600" b="1">
                <a:solidFill>
                  <a:srgbClr val="FFC000"/>
                </a:solidFill>
                <a:latin typeface="Times New Roman"/>
                <a:ea typeface="Times New Roman"/>
                <a:cs typeface="Times New Roman"/>
                <a:sym typeface="Times New Roman"/>
              </a:defRPr>
            </a:lvl1pPr>
          </a:lstStyle>
          <a:p>
            <a:r>
              <a:t>Sprint 3</a:t>
            </a:r>
          </a:p>
        </p:txBody>
      </p:sp>
    </p:spTree>
  </p:cSld>
  <p:clrMapOvr>
    <a:masterClrMapping/>
  </p:clrMapOvr>
  <p:transition spd="me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8" name="Title 1"/>
          <p:cNvSpPr txBox="1">
            <a:spLocks noGrp="1"/>
          </p:cNvSpPr>
          <p:nvPr>
            <p:ph type="title"/>
          </p:nvPr>
        </p:nvSpPr>
        <p:spPr>
          <a:xfrm>
            <a:off x="256592" y="441386"/>
            <a:ext cx="7772401" cy="963561"/>
          </a:xfrm>
          <a:prstGeom prst="rect">
            <a:avLst/>
          </a:prstGeom>
        </p:spPr>
        <p:txBody>
          <a:bodyPr/>
          <a:lstStyle>
            <a:lvl1pPr>
              <a:defRPr>
                <a:latin typeface="Times New Roman"/>
                <a:ea typeface="Times New Roman"/>
                <a:cs typeface="Times New Roman"/>
                <a:sym typeface="Times New Roman"/>
              </a:defRPr>
            </a:lvl1pPr>
          </a:lstStyle>
          <a:p>
            <a:r>
              <a:t>Sprint 3 backlog</a:t>
            </a:r>
          </a:p>
        </p:txBody>
      </p:sp>
      <p:graphicFrame>
        <p:nvGraphicFramePr>
          <p:cNvPr id="299" name="Table 3"/>
          <p:cNvGraphicFramePr/>
          <p:nvPr/>
        </p:nvGraphicFramePr>
        <p:xfrm>
          <a:off x="311019" y="1486520"/>
          <a:ext cx="8490858" cy="5094033"/>
        </p:xfrm>
        <a:graphic>
          <a:graphicData uri="http://schemas.openxmlformats.org/drawingml/2006/table">
            <a:tbl>
              <a:tblPr firstRow="1" bandRow="1">
                <a:tableStyleId>{4C3C2611-4C71-4FC5-86AE-919BDF0F9419}</a:tableStyleId>
              </a:tblPr>
              <a:tblGrid>
                <a:gridCol w="603381">
                  <a:extLst>
                    <a:ext uri="{9D8B030D-6E8A-4147-A177-3AD203B41FA5}">
                      <a16:colId xmlns:a16="http://schemas.microsoft.com/office/drawing/2014/main" val="20000"/>
                    </a:ext>
                  </a:extLst>
                </a:gridCol>
                <a:gridCol w="2083837">
                  <a:extLst>
                    <a:ext uri="{9D8B030D-6E8A-4147-A177-3AD203B41FA5}">
                      <a16:colId xmlns:a16="http://schemas.microsoft.com/office/drawing/2014/main" val="20001"/>
                    </a:ext>
                  </a:extLst>
                </a:gridCol>
                <a:gridCol w="1922105">
                  <a:extLst>
                    <a:ext uri="{9D8B030D-6E8A-4147-A177-3AD203B41FA5}">
                      <a16:colId xmlns:a16="http://schemas.microsoft.com/office/drawing/2014/main" val="20002"/>
                    </a:ext>
                  </a:extLst>
                </a:gridCol>
                <a:gridCol w="858416">
                  <a:extLst>
                    <a:ext uri="{9D8B030D-6E8A-4147-A177-3AD203B41FA5}">
                      <a16:colId xmlns:a16="http://schemas.microsoft.com/office/drawing/2014/main" val="20003"/>
                    </a:ext>
                  </a:extLst>
                </a:gridCol>
                <a:gridCol w="1045029">
                  <a:extLst>
                    <a:ext uri="{9D8B030D-6E8A-4147-A177-3AD203B41FA5}">
                      <a16:colId xmlns:a16="http://schemas.microsoft.com/office/drawing/2014/main" val="20004"/>
                    </a:ext>
                  </a:extLst>
                </a:gridCol>
                <a:gridCol w="678024">
                  <a:extLst>
                    <a:ext uri="{9D8B030D-6E8A-4147-A177-3AD203B41FA5}">
                      <a16:colId xmlns:a16="http://schemas.microsoft.com/office/drawing/2014/main" val="20005"/>
                    </a:ext>
                  </a:extLst>
                </a:gridCol>
                <a:gridCol w="1300066">
                  <a:extLst>
                    <a:ext uri="{9D8B030D-6E8A-4147-A177-3AD203B41FA5}">
                      <a16:colId xmlns:a16="http://schemas.microsoft.com/office/drawing/2014/main" val="20006"/>
                    </a:ext>
                  </a:extLst>
                </a:gridCol>
              </a:tblGrid>
              <a:tr h="727944">
                <a:tc>
                  <a:txBody>
                    <a:bodyPr/>
                    <a:lstStyle/>
                    <a:p>
                      <a:pPr algn="ctr">
                        <a:defRPr sz="1800" b="0">
                          <a:solidFill>
                            <a:srgbClr val="000000"/>
                          </a:solidFill>
                        </a:defRPr>
                      </a:pPr>
                      <a:r>
                        <a:rPr sz="1400" b="1">
                          <a:solidFill>
                            <a:srgbClr val="FFFFFF"/>
                          </a:solidFill>
                        </a:rPr>
                        <a:t>No.    </a:t>
                      </a:r>
                    </a:p>
                  </a:txBody>
                  <a:tcPr marL="9525" marR="9525" marT="9525" marB="9525" anchor="ctr" horzOverflow="overflow"/>
                </a:tc>
                <a:tc>
                  <a:txBody>
                    <a:bodyPr/>
                    <a:lstStyle/>
                    <a:p>
                      <a:pPr algn="ctr">
                        <a:defRPr sz="1800" b="0">
                          <a:solidFill>
                            <a:srgbClr val="000000"/>
                          </a:solidFill>
                        </a:defRPr>
                      </a:pPr>
                      <a:r>
                        <a:rPr sz="1400" b="1">
                          <a:solidFill>
                            <a:srgbClr val="FFFFFF"/>
                          </a:solidFill>
                        </a:rPr>
                        <a:t> User Story                                                                 </a:t>
                      </a:r>
                    </a:p>
                  </a:txBody>
                  <a:tcPr marL="9525" marR="9525" marT="9525" marB="9525" anchor="ctr" horzOverflow="overflow"/>
                </a:tc>
                <a:tc>
                  <a:txBody>
                    <a:bodyPr/>
                    <a:lstStyle/>
                    <a:p>
                      <a:pPr algn="ctr">
                        <a:defRPr sz="1800" b="0">
                          <a:solidFill>
                            <a:srgbClr val="000000"/>
                          </a:solidFill>
                        </a:defRPr>
                      </a:pPr>
                      <a:r>
                        <a:rPr sz="1400" b="1">
                          <a:solidFill>
                            <a:srgbClr val="FFFFFF"/>
                          </a:solidFill>
                        </a:rPr>
                        <a:t> Acceptance Criteria                                                                                                         </a:t>
                      </a:r>
                    </a:p>
                  </a:txBody>
                  <a:tcPr marL="9525" marR="9525" marT="9525" marB="9525" anchor="ctr" horzOverflow="overflow"/>
                </a:tc>
                <a:tc>
                  <a:txBody>
                    <a:bodyPr/>
                    <a:lstStyle/>
                    <a:p>
                      <a:pPr algn="ctr">
                        <a:defRPr sz="1800" b="0">
                          <a:solidFill>
                            <a:srgbClr val="000000"/>
                          </a:solidFill>
                        </a:defRPr>
                      </a:pPr>
                      <a:r>
                        <a:rPr sz="1400" b="1">
                          <a:solidFill>
                            <a:srgbClr val="FFFFFF"/>
                          </a:solidFill>
                        </a:rPr>
                        <a:t> Feature Name        </a:t>
                      </a:r>
                    </a:p>
                  </a:txBody>
                  <a:tcPr marL="9525" marR="9525" marT="9525" marB="9525" anchor="ctr" horzOverflow="overflow"/>
                </a:tc>
                <a:tc>
                  <a:txBody>
                    <a:bodyPr/>
                    <a:lstStyle/>
                    <a:p>
                      <a:pPr algn="ctr">
                        <a:defRPr sz="1800" b="0">
                          <a:solidFill>
                            <a:srgbClr val="000000"/>
                          </a:solidFill>
                        </a:defRPr>
                      </a:pPr>
                      <a:r>
                        <a:rPr sz="1400" b="1">
                          <a:solidFill>
                            <a:srgbClr val="FFFFFF"/>
                          </a:solidFill>
                        </a:rPr>
                        <a:t> Component            </a:t>
                      </a:r>
                    </a:p>
                  </a:txBody>
                  <a:tcPr marL="9525" marR="9525" marT="9525" marB="9525" anchor="ctr" horzOverflow="overflow"/>
                </a:tc>
                <a:tc>
                  <a:txBody>
                    <a:bodyPr/>
                    <a:lstStyle/>
                    <a:p>
                      <a:pPr algn="ctr">
                        <a:defRPr sz="1800" b="0">
                          <a:solidFill>
                            <a:srgbClr val="000000"/>
                          </a:solidFill>
                        </a:defRPr>
                      </a:pPr>
                      <a:r>
                        <a:rPr sz="1400" b="1">
                          <a:solidFill>
                            <a:srgbClr val="FFFFFF"/>
                          </a:solidFill>
                        </a:rPr>
                        <a:t> Story Points</a:t>
                      </a:r>
                    </a:p>
                  </a:txBody>
                  <a:tcPr marL="9525" marR="9525" marT="9525" marB="9525" anchor="ctr" horzOverflow="overflow"/>
                </a:tc>
                <a:tc>
                  <a:txBody>
                    <a:bodyPr/>
                    <a:lstStyle/>
                    <a:p>
                      <a:pPr algn="ctr">
                        <a:defRPr sz="1800" b="0">
                          <a:solidFill>
                            <a:srgbClr val="000000"/>
                          </a:solidFill>
                        </a:defRPr>
                      </a:pPr>
                      <a:r>
                        <a:rPr sz="1400" b="1">
                          <a:solidFill>
                            <a:srgbClr val="FFFFFF"/>
                          </a:solidFill>
                        </a:rPr>
                        <a:t>Assigned to</a:t>
                      </a:r>
                    </a:p>
                  </a:txBody>
                  <a:tcPr marL="45720" marR="45720" anchor="ctr" horzOverflow="overflow"/>
                </a:tc>
                <a:extLst>
                  <a:ext uri="{0D108BD9-81ED-4DB2-BD59-A6C34878D82A}">
                    <a16:rowId xmlns:a16="http://schemas.microsoft.com/office/drawing/2014/main" val="10000"/>
                  </a:ext>
                </a:extLst>
              </a:tr>
              <a:tr h="1363899">
                <a:tc>
                  <a:txBody>
                    <a:bodyPr/>
                    <a:lstStyle/>
                    <a:p>
                      <a:pPr algn="ctr">
                        <a:defRPr sz="1800"/>
                      </a:pPr>
                      <a:r>
                        <a:rPr sz="1400"/>
                        <a:t>US_03  </a:t>
                      </a:r>
                    </a:p>
                  </a:txBody>
                  <a:tcPr marL="9525" marR="9525" marT="9525" marB="9525" horzOverflow="overflow"/>
                </a:tc>
                <a:tc>
                  <a:txBody>
                    <a:bodyPr/>
                    <a:lstStyle/>
                    <a:p>
                      <a:pPr algn="l">
                        <a:defRPr sz="1800"/>
                      </a:pPr>
                      <a:r>
                        <a:rPr sz="1400"/>
                        <a:t> As a contributor, I want to get a refund if the campaign fails so that I don’t lose my funds                </a:t>
                      </a:r>
                    </a:p>
                  </a:txBody>
                  <a:tcPr marL="9525" marR="9525" marT="9525" marB="9525" horzOverflow="overflow"/>
                </a:tc>
                <a:tc>
                  <a:txBody>
                    <a:bodyPr/>
                    <a:lstStyle/>
                    <a:p>
                      <a:pPr algn="l">
                        <a:defRPr sz="1800"/>
                      </a:pPr>
                      <a:r>
                        <a:rPr sz="1400"/>
                        <a:t> Given the deadline has passed and the target was not met, When I request a refund, Then I receive my ETH and my record is cleared. </a:t>
                      </a:r>
                    </a:p>
                  </a:txBody>
                  <a:tcPr marL="9525" marR="9525" marT="9525" marB="9525" horzOverflow="overflow"/>
                </a:tc>
                <a:tc>
                  <a:txBody>
                    <a:bodyPr/>
                    <a:lstStyle/>
                    <a:p>
                      <a:pPr algn="ctr">
                        <a:defRPr sz="1800"/>
                      </a:pPr>
                      <a:r>
                        <a:rPr sz="1400"/>
                        <a:t> Refund Processing    </a:t>
                      </a:r>
                    </a:p>
                  </a:txBody>
                  <a:tcPr marL="9525" marR="9525" marT="9525" marB="9525" anchor="ctr" horzOverflow="overflow"/>
                </a:tc>
                <a:tc>
                  <a:txBody>
                    <a:bodyPr/>
                    <a:lstStyle/>
                    <a:p>
                      <a:pPr algn="ctr">
                        <a:defRPr sz="1800"/>
                      </a:pPr>
                      <a:r>
                        <a:rPr sz="1400"/>
                        <a:t> Smart Contract        </a:t>
                      </a:r>
                    </a:p>
                  </a:txBody>
                  <a:tcPr marL="9525" marR="9525" marT="9525" marB="9525" anchor="ctr" horzOverflow="overflow"/>
                </a:tc>
                <a:tc>
                  <a:txBody>
                    <a:bodyPr/>
                    <a:lstStyle/>
                    <a:p>
                      <a:pPr algn="ctr">
                        <a:defRPr sz="1800"/>
                      </a:pPr>
                      <a:r>
                        <a:rPr sz="1400"/>
                        <a:t>5</a:t>
                      </a:r>
                    </a:p>
                  </a:txBody>
                  <a:tcPr marL="9525" marR="9525" marT="9525" marB="9525" anchor="ctr" horzOverflow="overflow"/>
                </a:tc>
                <a:tc>
                  <a:txBody>
                    <a:bodyPr/>
                    <a:lstStyle/>
                    <a:p>
                      <a:pPr algn="l">
                        <a:defRPr sz="1800"/>
                      </a:pPr>
                      <a:r>
                        <a:rPr sz="1400"/>
                        <a:t>Ashwanth|
Yashwanth</a:t>
                      </a:r>
                    </a:p>
                  </a:txBody>
                  <a:tcPr marL="45720" marR="45720" anchor="ctr" horzOverflow="overflow"/>
                </a:tc>
                <a:extLst>
                  <a:ext uri="{0D108BD9-81ED-4DB2-BD59-A6C34878D82A}">
                    <a16:rowId xmlns:a16="http://schemas.microsoft.com/office/drawing/2014/main" val="10001"/>
                  </a:ext>
                </a:extLst>
              </a:tr>
              <a:tr h="851963">
                <a:tc>
                  <a:txBody>
                    <a:bodyPr/>
                    <a:lstStyle/>
                    <a:p>
                      <a:pPr algn="ctr">
                        <a:defRPr sz="1800"/>
                      </a:pPr>
                      <a:r>
                        <a:rPr sz="1400"/>
                        <a:t>US_07  </a:t>
                      </a:r>
                    </a:p>
                  </a:txBody>
                  <a:tcPr marL="9525" marR="9525" marT="9525" marB="9525" horzOverflow="overflow"/>
                </a:tc>
                <a:tc>
                  <a:txBody>
                    <a:bodyPr/>
                    <a:lstStyle/>
                    <a:p>
                      <a:pPr algn="l">
                        <a:defRPr sz="1800"/>
                      </a:pPr>
                      <a:r>
                        <a:rPr sz="1400"/>
                        <a:t> As a user, I want to view all campaigns with details so that I can choose which to support.                 </a:t>
                      </a:r>
                    </a:p>
                  </a:txBody>
                  <a:tcPr marL="9525" marR="9525" marT="9525" marB="9525" horzOverflow="overflow"/>
                </a:tc>
                <a:tc>
                  <a:txBody>
                    <a:bodyPr/>
                    <a:lstStyle/>
                    <a:p>
                      <a:pPr algn="l">
                        <a:defRPr sz="1800"/>
                      </a:pPr>
                      <a:r>
                        <a:rPr sz="1400"/>
                        <a:t> Given campaigns exist, When I open the campaign list, Then I see each campaign’s goal, raised amount, and current status. </a:t>
                      </a:r>
                    </a:p>
                  </a:txBody>
                  <a:tcPr marL="9525" marR="9525" marT="9525" marB="9525" horzOverflow="overflow"/>
                </a:tc>
                <a:tc>
                  <a:txBody>
                    <a:bodyPr/>
                    <a:lstStyle/>
                    <a:p>
                      <a:pPr algn="ctr">
                        <a:defRPr sz="1800"/>
                      </a:pPr>
                      <a:r>
                        <a:rPr sz="1400"/>
                        <a:t> Campaign Listing     </a:t>
                      </a:r>
                    </a:p>
                  </a:txBody>
                  <a:tcPr marL="9525" marR="9525" marT="9525" marB="9525" anchor="ctr" horzOverflow="overflow"/>
                </a:tc>
                <a:tc>
                  <a:txBody>
                    <a:bodyPr/>
                    <a:lstStyle/>
                    <a:p>
                      <a:pPr algn="ctr">
                        <a:defRPr sz="1800"/>
                      </a:pPr>
                      <a:r>
                        <a:rPr sz="1400"/>
                        <a:t> Data Display          </a:t>
                      </a:r>
                    </a:p>
                  </a:txBody>
                  <a:tcPr marL="9525" marR="9525" marT="9525" marB="9525" anchor="ctr" horzOverflow="overflow"/>
                </a:tc>
                <a:tc>
                  <a:txBody>
                    <a:bodyPr/>
                    <a:lstStyle/>
                    <a:p>
                      <a:pPr algn="ctr">
                        <a:defRPr sz="1800"/>
                      </a:pPr>
                      <a:r>
                        <a:rPr sz="1400"/>
                        <a:t>5</a:t>
                      </a:r>
                    </a:p>
                  </a:txBody>
                  <a:tcPr marL="9525" marR="9525" marT="9525" marB="9525" anchor="ctr" horzOverflow="overflow"/>
                </a:tc>
                <a:tc>
                  <a:txBody>
                    <a:bodyPr/>
                    <a:lstStyle/>
                    <a:p>
                      <a:pPr algn="l">
                        <a:defRPr sz="1800"/>
                      </a:pPr>
                      <a:r>
                        <a:rPr sz="1400"/>
                        <a:t>Nyi Nyi | Raj</a:t>
                      </a:r>
                    </a:p>
                  </a:txBody>
                  <a:tcPr marL="45720" marR="45720" anchor="ctr" horzOverflow="overflow"/>
                </a:tc>
                <a:extLst>
                  <a:ext uri="{0D108BD9-81ED-4DB2-BD59-A6C34878D82A}">
                    <a16:rowId xmlns:a16="http://schemas.microsoft.com/office/drawing/2014/main" val="10002"/>
                  </a:ext>
                </a:extLst>
              </a:tr>
              <a:tr h="1702980">
                <a:tc>
                  <a:txBody>
                    <a:bodyPr/>
                    <a:lstStyle/>
                    <a:p>
                      <a:pPr algn="ctr">
                        <a:defRPr sz="1800"/>
                      </a:pPr>
                      <a:r>
                        <a:rPr sz="1400"/>
                        <a:t>US_08  </a:t>
                      </a:r>
                    </a:p>
                  </a:txBody>
                  <a:tcPr marL="9525" marR="9525" marT="9525" marB="9525" horzOverflow="overflow"/>
                </a:tc>
                <a:tc>
                  <a:txBody>
                    <a:bodyPr/>
                    <a:lstStyle/>
                    <a:p>
                      <a:pPr algn="l">
                        <a:defRPr sz="1800"/>
                      </a:pPr>
                      <a:r>
                        <a:rPr sz="1400"/>
                        <a:t> As a user, I want to see campaign status so that I know whether it’s active, successful, or failed.       </a:t>
                      </a:r>
                    </a:p>
                  </a:txBody>
                  <a:tcPr marL="9525" marR="9525" marT="9525" marB="9525" horzOverflow="overflow"/>
                </a:tc>
                <a:tc>
                  <a:txBody>
                    <a:bodyPr/>
                    <a:lstStyle/>
                    <a:p>
                      <a:pPr algn="l">
                        <a:defRPr sz="1800"/>
                      </a:pPr>
                      <a:r>
                        <a:rPr sz="1400"/>
                        <a:t> Given a campaign has a deadline and target, When time passes or funds are raised, Then the status updates to Active, Successful, or Failed. </a:t>
                      </a:r>
                    </a:p>
                  </a:txBody>
                  <a:tcPr marL="9525" marR="9525" marT="9525" marB="9525" horzOverflow="overflow"/>
                </a:tc>
                <a:tc>
                  <a:txBody>
                    <a:bodyPr/>
                    <a:lstStyle/>
                    <a:p>
                      <a:pPr algn="ctr">
                        <a:defRPr sz="1800"/>
                      </a:pPr>
                      <a:r>
                        <a:rPr sz="1400"/>
                        <a:t> Campaign Status      </a:t>
                      </a:r>
                    </a:p>
                  </a:txBody>
                  <a:tcPr marL="9525" marR="9525" marT="9525" marB="9525" anchor="ctr" horzOverflow="overflow"/>
                </a:tc>
                <a:tc>
                  <a:txBody>
                    <a:bodyPr/>
                    <a:lstStyle/>
                    <a:p>
                      <a:pPr algn="ctr">
                        <a:defRPr sz="1800"/>
                      </a:pPr>
                      <a:r>
                        <a:rPr sz="1400"/>
                        <a:t> Data Display          </a:t>
                      </a:r>
                    </a:p>
                  </a:txBody>
                  <a:tcPr marL="9525" marR="9525" marT="9525" marB="9525" anchor="ctr" horzOverflow="overflow"/>
                </a:tc>
                <a:tc>
                  <a:txBody>
                    <a:bodyPr/>
                    <a:lstStyle/>
                    <a:p>
                      <a:pPr algn="ctr">
                        <a:defRPr sz="1800"/>
                      </a:pPr>
                      <a:r>
                        <a:rPr sz="1400"/>
                        <a:t>3</a:t>
                      </a:r>
                    </a:p>
                  </a:txBody>
                  <a:tcPr marL="9525" marR="9525" marT="9525" marB="9525" anchor="ctr" horzOverflow="overflow"/>
                </a:tc>
                <a:tc>
                  <a:txBody>
                    <a:bodyPr/>
                    <a:lstStyle/>
                    <a:p>
                      <a:pPr algn="l">
                        <a:defRPr sz="1800"/>
                      </a:pPr>
                      <a:r>
                        <a:rPr sz="1400"/>
                        <a:t>Ashwitha | Naveen</a:t>
                      </a:r>
                    </a:p>
                  </a:txBody>
                  <a:tcPr marL="45720" marR="45720" anchor="ctr" horzOverflow="overflow"/>
                </a:tc>
                <a:extLst>
                  <a:ext uri="{0D108BD9-81ED-4DB2-BD59-A6C34878D82A}">
                    <a16:rowId xmlns:a16="http://schemas.microsoft.com/office/drawing/2014/main" val="10003"/>
                  </a:ext>
                </a:extLst>
              </a:tr>
            </a:tbl>
          </a:graphicData>
        </a:graphic>
      </p:graphicFrame>
    </p:spTree>
  </p:cSld>
  <p:clrMapOvr>
    <a:masterClrMapping/>
  </p:clrMapOvr>
  <p:transition spd="me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1" name="Title 1"/>
          <p:cNvSpPr txBox="1">
            <a:spLocks noGrp="1"/>
          </p:cNvSpPr>
          <p:nvPr>
            <p:ph type="title"/>
          </p:nvPr>
        </p:nvSpPr>
        <p:spPr>
          <a:xfrm>
            <a:off x="215308" y="108488"/>
            <a:ext cx="7772401" cy="757084"/>
          </a:xfrm>
          <a:prstGeom prst="rect">
            <a:avLst/>
          </a:prstGeom>
        </p:spPr>
        <p:txBody>
          <a:bodyPr/>
          <a:lstStyle>
            <a:lvl1pPr>
              <a:defRPr sz="2400">
                <a:latin typeface="Times New Roman"/>
                <a:ea typeface="Times New Roman"/>
                <a:cs typeface="Times New Roman"/>
                <a:sym typeface="Times New Roman"/>
              </a:defRPr>
            </a:lvl1pPr>
          </a:lstStyle>
          <a:p>
            <a:r>
              <a:t>Sprint 3 Backlog testcases</a:t>
            </a:r>
          </a:p>
        </p:txBody>
      </p:sp>
      <p:graphicFrame>
        <p:nvGraphicFramePr>
          <p:cNvPr id="302" name="Table 1"/>
          <p:cNvGraphicFramePr/>
          <p:nvPr/>
        </p:nvGraphicFramePr>
        <p:xfrm>
          <a:off x="300346" y="871599"/>
          <a:ext cx="8562180" cy="5740226"/>
        </p:xfrm>
        <a:graphic>
          <a:graphicData uri="http://schemas.openxmlformats.org/drawingml/2006/table">
            <a:tbl>
              <a:tblPr bandRow="1">
                <a:tableStyleId>{4C3C2611-4C71-4FC5-86AE-919BDF0F9419}</a:tableStyleId>
              </a:tblPr>
              <a:tblGrid>
                <a:gridCol w="778290">
                  <a:extLst>
                    <a:ext uri="{9D8B030D-6E8A-4147-A177-3AD203B41FA5}">
                      <a16:colId xmlns:a16="http://schemas.microsoft.com/office/drawing/2014/main" val="20000"/>
                    </a:ext>
                  </a:extLst>
                </a:gridCol>
                <a:gridCol w="549725">
                  <a:extLst>
                    <a:ext uri="{9D8B030D-6E8A-4147-A177-3AD203B41FA5}">
                      <a16:colId xmlns:a16="http://schemas.microsoft.com/office/drawing/2014/main" val="20001"/>
                    </a:ext>
                  </a:extLst>
                </a:gridCol>
                <a:gridCol w="1235407">
                  <a:extLst>
                    <a:ext uri="{9D8B030D-6E8A-4147-A177-3AD203B41FA5}">
                      <a16:colId xmlns:a16="http://schemas.microsoft.com/office/drawing/2014/main" val="20002"/>
                    </a:ext>
                  </a:extLst>
                </a:gridCol>
                <a:gridCol w="1811856">
                  <a:extLst>
                    <a:ext uri="{9D8B030D-6E8A-4147-A177-3AD203B41FA5}">
                      <a16:colId xmlns:a16="http://schemas.microsoft.com/office/drawing/2014/main" val="20003"/>
                    </a:ext>
                  </a:extLst>
                </a:gridCol>
                <a:gridCol w="1547204">
                  <a:extLst>
                    <a:ext uri="{9D8B030D-6E8A-4147-A177-3AD203B41FA5}">
                      <a16:colId xmlns:a16="http://schemas.microsoft.com/office/drawing/2014/main" val="20004"/>
                    </a:ext>
                  </a:extLst>
                </a:gridCol>
                <a:gridCol w="1211246">
                  <a:extLst>
                    <a:ext uri="{9D8B030D-6E8A-4147-A177-3AD203B41FA5}">
                      <a16:colId xmlns:a16="http://schemas.microsoft.com/office/drawing/2014/main" val="20005"/>
                    </a:ext>
                  </a:extLst>
                </a:gridCol>
                <a:gridCol w="522508">
                  <a:extLst>
                    <a:ext uri="{9D8B030D-6E8A-4147-A177-3AD203B41FA5}">
                      <a16:colId xmlns:a16="http://schemas.microsoft.com/office/drawing/2014/main" val="20006"/>
                    </a:ext>
                  </a:extLst>
                </a:gridCol>
                <a:gridCol w="905944">
                  <a:extLst>
                    <a:ext uri="{9D8B030D-6E8A-4147-A177-3AD203B41FA5}">
                      <a16:colId xmlns:a16="http://schemas.microsoft.com/office/drawing/2014/main" val="20007"/>
                    </a:ext>
                  </a:extLst>
                </a:gridCol>
              </a:tblGrid>
              <a:tr h="571500">
                <a:tc>
                  <a:txBody>
                    <a:bodyPr/>
                    <a:lstStyle/>
                    <a:p>
                      <a:pPr algn="ctr">
                        <a:defRPr sz="1800"/>
                      </a:pPr>
                      <a:r>
                        <a:rPr sz="1200" b="1">
                          <a:latin typeface="Times Roman"/>
                          <a:ea typeface="Times Roman"/>
                          <a:cs typeface="Times Roman"/>
                          <a:sym typeface="Times Roman"/>
                        </a:rPr>
                        <a:t>Feature to Test</a:t>
                      </a:r>
                    </a:p>
                  </a:txBody>
                  <a:tcPr marL="12700" marR="12700" marT="12700" marB="12700" anchor="ctr" horzOverflow="overflow"/>
                </a:tc>
                <a:tc>
                  <a:txBody>
                    <a:bodyPr/>
                    <a:lstStyle/>
                    <a:p>
                      <a:pPr algn="ctr">
                        <a:defRPr sz="1800"/>
                      </a:pPr>
                      <a:r>
                        <a:rPr sz="1200" b="1">
                          <a:latin typeface="Times Roman"/>
                          <a:ea typeface="Times Roman"/>
                          <a:cs typeface="Times Roman"/>
                          <a:sym typeface="Times Roman"/>
                        </a:rPr>
                        <a:t>User Story</a:t>
                      </a:r>
                    </a:p>
                  </a:txBody>
                  <a:tcPr marL="12700" marR="12700" marT="12700" marB="12700" anchor="ctr" horzOverflow="overflow"/>
                </a:tc>
                <a:tc>
                  <a:txBody>
                    <a:bodyPr/>
                    <a:lstStyle/>
                    <a:p>
                      <a:pPr algn="ctr">
                        <a:defRPr sz="1800"/>
                      </a:pPr>
                      <a:r>
                        <a:rPr sz="1200" b="1">
                          <a:latin typeface="Times Roman"/>
                          <a:ea typeface="Times Roman"/>
                          <a:cs typeface="Times Roman"/>
                          <a:sym typeface="Times Roman"/>
                        </a:rPr>
                        <a:t>Test Description</a:t>
                      </a:r>
                    </a:p>
                  </a:txBody>
                  <a:tcPr marL="12700" marR="12700" marT="12700" marB="12700" anchor="ctr" horzOverflow="overflow"/>
                </a:tc>
                <a:tc>
                  <a:txBody>
                    <a:bodyPr/>
                    <a:lstStyle/>
                    <a:p>
                      <a:pPr algn="ctr">
                        <a:defRPr sz="1800"/>
                      </a:pPr>
                      <a:r>
                        <a:rPr sz="1200" b="1">
                          <a:latin typeface="Times Roman"/>
                          <a:ea typeface="Times Roman"/>
                          <a:cs typeface="Times Roman"/>
                          <a:sym typeface="Times Roman"/>
                        </a:rPr>
                        <a:t>Test Data</a:t>
                      </a:r>
                    </a:p>
                  </a:txBody>
                  <a:tcPr marL="12700" marR="12700" marT="12700" marB="12700" anchor="ctr" horzOverflow="overflow"/>
                </a:tc>
                <a:tc>
                  <a:txBody>
                    <a:bodyPr/>
                    <a:lstStyle/>
                    <a:p>
                      <a:pPr algn="ctr">
                        <a:defRPr sz="1800"/>
                      </a:pPr>
                      <a:r>
                        <a:rPr sz="1200" b="1">
                          <a:latin typeface="Times Roman"/>
                          <a:ea typeface="Times Roman"/>
                          <a:cs typeface="Times Roman"/>
                          <a:sym typeface="Times Roman"/>
                        </a:rPr>
                        <a:t>Expected Result</a:t>
                      </a:r>
                    </a:p>
                  </a:txBody>
                  <a:tcPr marL="12700" marR="12700" marT="12700" marB="12700" anchor="ctr" horzOverflow="overflow"/>
                </a:tc>
                <a:tc>
                  <a:txBody>
                    <a:bodyPr/>
                    <a:lstStyle/>
                    <a:p>
                      <a:pPr algn="ctr">
                        <a:defRPr sz="1800"/>
                      </a:pPr>
                      <a:r>
                        <a:rPr sz="1200" b="1">
                          <a:latin typeface="Times Roman"/>
                          <a:ea typeface="Times Roman"/>
                          <a:cs typeface="Times Roman"/>
                          <a:sym typeface="Times Roman"/>
                        </a:rPr>
                        <a:t>Actual Result</a:t>
                      </a:r>
                    </a:p>
                  </a:txBody>
                  <a:tcPr marL="12700" marR="12700" marT="12700" marB="12700" anchor="ctr" horzOverflow="overflow"/>
                </a:tc>
                <a:tc>
                  <a:txBody>
                    <a:bodyPr/>
                    <a:lstStyle/>
                    <a:p>
                      <a:pPr algn="ctr">
                        <a:defRPr sz="1800"/>
                      </a:pPr>
                      <a:r>
                        <a:rPr sz="1200" b="1">
                          <a:latin typeface="Times Roman"/>
                          <a:ea typeface="Times Roman"/>
                          <a:cs typeface="Times Roman"/>
                          <a:sym typeface="Times Roman"/>
                        </a:rPr>
                        <a:t>Pass/Fail</a:t>
                      </a:r>
                    </a:p>
                  </a:txBody>
                  <a:tcPr marL="12700" marR="12700" marT="12700" marB="12700" anchor="ctr" horzOverflow="overflow"/>
                </a:tc>
                <a:tc>
                  <a:txBody>
                    <a:bodyPr/>
                    <a:lstStyle/>
                    <a:p>
                      <a:pPr algn="ctr">
                        <a:defRPr sz="1800"/>
                      </a:pPr>
                      <a:r>
                        <a:rPr sz="1200" b="1">
                          <a:latin typeface="Times Roman"/>
                          <a:ea typeface="Times Roman"/>
                          <a:cs typeface="Times Roman"/>
                          <a:sym typeface="Times Roman"/>
                        </a:rPr>
                        <a:t>Assigned To</a:t>
                      </a:r>
                    </a:p>
                  </a:txBody>
                  <a:tcPr marL="12700" marR="12700" marT="12700" marB="12700" anchor="ctr" horzOverflow="overflow"/>
                </a:tc>
                <a:extLst>
                  <a:ext uri="{0D108BD9-81ED-4DB2-BD59-A6C34878D82A}">
                    <a16:rowId xmlns:a16="http://schemas.microsoft.com/office/drawing/2014/main" val="10000"/>
                  </a:ext>
                </a:extLst>
              </a:tr>
              <a:tr h="767022">
                <a:tc>
                  <a:txBody>
                    <a:bodyPr/>
                    <a:lstStyle/>
                    <a:p>
                      <a:pPr algn="l">
                        <a:defRPr sz="1800"/>
                      </a:pPr>
                      <a:r>
                        <a:rPr sz="1200">
                          <a:latin typeface="Times Roman"/>
                          <a:ea typeface="Times Roman"/>
                          <a:cs typeface="Times Roman"/>
                          <a:sym typeface="Times Roman"/>
                        </a:rPr>
                        <a:t>Refund Processing</a:t>
                      </a:r>
                    </a:p>
                  </a:txBody>
                  <a:tcPr marL="12700" marR="12700" marT="12700" marB="12700" anchor="ctr" horzOverflow="overflow"/>
                </a:tc>
                <a:tc>
                  <a:txBody>
                    <a:bodyPr/>
                    <a:lstStyle/>
                    <a:p>
                      <a:pPr algn="l">
                        <a:defRPr sz="1800"/>
                      </a:pPr>
                      <a:r>
                        <a:rPr sz="1200">
                          <a:latin typeface="Times Roman"/>
                          <a:ea typeface="Times Roman"/>
                          <a:cs typeface="Times Roman"/>
                          <a:sym typeface="Times Roman"/>
                        </a:rPr>
                        <a:t>US_03</a:t>
                      </a:r>
                    </a:p>
                  </a:txBody>
                  <a:tcPr marL="12700" marR="12700" marT="12700" marB="12700" anchor="ctr" horzOverflow="overflow"/>
                </a:tc>
                <a:tc>
                  <a:txBody>
                    <a:bodyPr/>
                    <a:lstStyle/>
                    <a:p>
                      <a:pPr algn="l">
                        <a:defRPr sz="1800"/>
                      </a:pPr>
                      <a:r>
                        <a:rPr sz="1200">
                          <a:latin typeface="Times Roman"/>
                          <a:ea typeface="Times Roman"/>
                          <a:cs typeface="Times Roman"/>
                          <a:sym typeface="Times Roman"/>
                        </a:rPr>
                        <a:t>Request refund when campaign failed</a:t>
                      </a:r>
                    </a:p>
                  </a:txBody>
                  <a:tcPr marL="12700" marR="12700" marT="12700" marB="12700" anchor="ctr" horzOverflow="overflow"/>
                </a:tc>
                <a:tc>
                  <a:txBody>
                    <a:bodyPr/>
                    <a:lstStyle/>
                    <a:p>
                      <a:pPr algn="l">
                        <a:defRPr sz="1200">
                          <a:latin typeface="Times Roman"/>
                          <a:ea typeface="Times Roman"/>
                          <a:cs typeface="Times Roman"/>
                          <a:sym typeface="Times Roman"/>
                        </a:defRPr>
                      </a:pPr>
                      <a:r>
                        <a:t>Contributor: </a:t>
                      </a:r>
                      <a:r>
                        <a:rPr sz="1300">
                          <a:latin typeface="Courier"/>
                          <a:ea typeface="Courier"/>
                          <a:cs typeface="Courier"/>
                          <a:sym typeface="Courier"/>
                        </a:rPr>
                        <a:t>0xABC123</a:t>
                      </a:r>
                      <a:r>
                        <a:t>, Raised: 5 ETH, Target: 10 ETH, Deadline passed</a:t>
                      </a:r>
                    </a:p>
                  </a:txBody>
                  <a:tcPr marL="12700" marR="12700" marT="12700" marB="12700" anchor="ctr" horzOverflow="overflow"/>
                </a:tc>
                <a:tc>
                  <a:txBody>
                    <a:bodyPr/>
                    <a:lstStyle/>
                    <a:p>
                      <a:pPr algn="l">
                        <a:defRPr sz="1800"/>
                      </a:pPr>
                      <a:r>
                        <a:rPr sz="1200">
                          <a:latin typeface="Times Roman"/>
                          <a:ea typeface="Times Roman"/>
                          <a:cs typeface="Times Roman"/>
                          <a:sym typeface="Times Roman"/>
                        </a:rPr>
                        <a:t>ETH returned; record cleared</a:t>
                      </a:r>
                    </a:p>
                  </a:txBody>
                  <a:tcPr marL="12700" marR="12700" marT="12700" marB="12700" anchor="ctr" horzOverflow="overflow"/>
                </a:tc>
                <a:tc>
                  <a:txBody>
                    <a:bodyPr/>
                    <a:lstStyle/>
                    <a:p>
                      <a:pPr algn="l">
                        <a:defRPr sz="1800"/>
                      </a:pPr>
                      <a:r>
                        <a:rPr sz="1200">
                          <a:latin typeface="Times Roman"/>
                          <a:ea typeface="Times Roman"/>
                          <a:cs typeface="Times Roman"/>
                          <a:sym typeface="Times Roman"/>
                        </a:rPr>
                        <a:t>ETH successfully returned; record cleared</a:t>
                      </a:r>
                    </a:p>
                  </a:txBody>
                  <a:tcPr marL="12700" marR="12700" marT="12700" marB="12700" anchor="ctr" horzOverflow="overflow"/>
                </a:tc>
                <a:tc>
                  <a:txBody>
                    <a:bodyPr/>
                    <a:lstStyle/>
                    <a:p>
                      <a:pPr algn="l">
                        <a:defRPr sz="1800"/>
                      </a:pPr>
                      <a:r>
                        <a:rPr sz="1200">
                          <a:latin typeface="Times Roman"/>
                          <a:ea typeface="Times Roman"/>
                          <a:cs typeface="Times Roman"/>
                          <a:sym typeface="Times Roman"/>
                        </a:rPr>
                        <a:t>Pass</a:t>
                      </a:r>
                    </a:p>
                  </a:txBody>
                  <a:tcPr marL="12700" marR="12700" marT="12700" marB="12700" anchor="ctr" horzOverflow="overflow"/>
                </a:tc>
                <a:tc>
                  <a:txBody>
                    <a:bodyPr/>
                    <a:lstStyle/>
                    <a:p>
                      <a:pPr algn="l">
                        <a:defRPr sz="1800"/>
                      </a:pPr>
                      <a:r>
                        <a:rPr sz="1200">
                          <a:latin typeface="Times Roman"/>
                          <a:ea typeface="Times Roman"/>
                          <a:cs typeface="Times Roman"/>
                          <a:sym typeface="Times Roman"/>
                        </a:rPr>
                        <a:t>Ashwanth / Yashwanth</a:t>
                      </a:r>
                    </a:p>
                  </a:txBody>
                  <a:tcPr marL="12700" marR="12700" marT="12700" marB="12700" anchor="ctr" horzOverflow="overflow"/>
                </a:tc>
                <a:extLst>
                  <a:ext uri="{0D108BD9-81ED-4DB2-BD59-A6C34878D82A}">
                    <a16:rowId xmlns:a16="http://schemas.microsoft.com/office/drawing/2014/main" val="10001"/>
                  </a:ext>
                </a:extLst>
              </a:tr>
              <a:tr h="767022">
                <a:tc>
                  <a:txBody>
                    <a:bodyPr/>
                    <a:lstStyle/>
                    <a:p>
                      <a:pPr algn="l">
                        <a:defRPr sz="1800"/>
                      </a:pPr>
                      <a:r>
                        <a:rPr sz="1200">
                          <a:latin typeface="Times Roman"/>
                          <a:ea typeface="Times Roman"/>
                          <a:cs typeface="Times Roman"/>
                          <a:sym typeface="Times Roman"/>
                        </a:rPr>
                        <a:t>Refund Processing</a:t>
                      </a:r>
                    </a:p>
                  </a:txBody>
                  <a:tcPr marL="12700" marR="12700" marT="12700" marB="12700" anchor="ctr" horzOverflow="overflow"/>
                </a:tc>
                <a:tc>
                  <a:txBody>
                    <a:bodyPr/>
                    <a:lstStyle/>
                    <a:p>
                      <a:pPr algn="l">
                        <a:defRPr sz="1800"/>
                      </a:pPr>
                      <a:r>
                        <a:rPr sz="1200">
                          <a:latin typeface="Times Roman"/>
                          <a:ea typeface="Times Roman"/>
                          <a:cs typeface="Times Roman"/>
                          <a:sym typeface="Times Roman"/>
                        </a:rPr>
                        <a:t>US_03</a:t>
                      </a:r>
                    </a:p>
                  </a:txBody>
                  <a:tcPr marL="12700" marR="12700" marT="12700" marB="12700" anchor="ctr" horzOverflow="overflow"/>
                </a:tc>
                <a:tc>
                  <a:txBody>
                    <a:bodyPr/>
                    <a:lstStyle/>
                    <a:p>
                      <a:pPr algn="l">
                        <a:defRPr sz="1800"/>
                      </a:pPr>
                      <a:r>
                        <a:rPr sz="1200">
                          <a:latin typeface="Times Roman"/>
                          <a:ea typeface="Times Roman"/>
                          <a:cs typeface="Times Roman"/>
                          <a:sym typeface="Times Roman"/>
                        </a:rPr>
                        <a:t>Request refund when campaign active</a:t>
                      </a:r>
                    </a:p>
                  </a:txBody>
                  <a:tcPr marL="12700" marR="12700" marT="12700" marB="12700" anchor="ctr" horzOverflow="overflow"/>
                </a:tc>
                <a:tc>
                  <a:txBody>
                    <a:bodyPr/>
                    <a:lstStyle/>
                    <a:p>
                      <a:pPr algn="l">
                        <a:defRPr sz="1200">
                          <a:latin typeface="Times Roman"/>
                          <a:ea typeface="Times Roman"/>
                          <a:cs typeface="Times Roman"/>
                          <a:sym typeface="Times Roman"/>
                        </a:defRPr>
                      </a:pPr>
                      <a:r>
                        <a:t>Contributor: </a:t>
                      </a:r>
                      <a:r>
                        <a:rPr sz="1300">
                          <a:latin typeface="Courier"/>
                          <a:ea typeface="Courier"/>
                          <a:cs typeface="Courier"/>
                          <a:sym typeface="Courier"/>
                        </a:rPr>
                        <a:t>0xABC123</a:t>
                      </a:r>
                      <a:r>
                        <a:t>, Raised: 5 ETH, Target: 10 ETH, Deadline not passed</a:t>
                      </a:r>
                    </a:p>
                  </a:txBody>
                  <a:tcPr marL="12700" marR="12700" marT="12700" marB="12700" anchor="ctr" horzOverflow="overflow"/>
                </a:tc>
                <a:tc>
                  <a:txBody>
                    <a:bodyPr/>
                    <a:lstStyle/>
                    <a:p>
                      <a:pPr algn="l">
                        <a:defRPr sz="1800"/>
                      </a:pPr>
                      <a:r>
                        <a:rPr sz="1200">
                          <a:latin typeface="Times Roman"/>
                          <a:ea typeface="Times Roman"/>
                          <a:cs typeface="Times Roman"/>
                          <a:sym typeface="Times Roman"/>
                        </a:rPr>
                        <a:t>Error: “You are not able take refund”</a:t>
                      </a:r>
                    </a:p>
                  </a:txBody>
                  <a:tcPr marL="12700" marR="12700" marT="12700" marB="12700" anchor="ctr" horzOverflow="overflow"/>
                </a:tc>
                <a:tc>
                  <a:txBody>
                    <a:bodyPr/>
                    <a:lstStyle/>
                    <a:p>
                      <a:pPr algn="l">
                        <a:defRPr sz="1800"/>
                      </a:pPr>
                      <a:r>
                        <a:rPr sz="1200">
                          <a:latin typeface="Times Roman"/>
                          <a:ea typeface="Times Roman"/>
                          <a:cs typeface="Times Roman"/>
                          <a:sym typeface="Times Roman"/>
                        </a:rPr>
                        <a:t>Error correctly shown</a:t>
                      </a:r>
                    </a:p>
                  </a:txBody>
                  <a:tcPr marL="12700" marR="12700" marT="12700" marB="12700" anchor="ctr" horzOverflow="overflow"/>
                </a:tc>
                <a:tc>
                  <a:txBody>
                    <a:bodyPr/>
                    <a:lstStyle/>
                    <a:p>
                      <a:pPr algn="l">
                        <a:defRPr sz="1800"/>
                      </a:pPr>
                      <a:r>
                        <a:rPr sz="1200">
                          <a:latin typeface="Times Roman"/>
                          <a:ea typeface="Times Roman"/>
                          <a:cs typeface="Times Roman"/>
                          <a:sym typeface="Times Roman"/>
                        </a:rPr>
                        <a:t>Pass</a:t>
                      </a:r>
                    </a:p>
                  </a:txBody>
                  <a:tcPr marL="12700" marR="12700" marT="12700" marB="12700" anchor="ctr" horzOverflow="overflow"/>
                </a:tc>
                <a:tc>
                  <a:txBody>
                    <a:bodyPr/>
                    <a:lstStyle/>
                    <a:p>
                      <a:pPr algn="l">
                        <a:defRPr sz="1800"/>
                      </a:pPr>
                      <a:r>
                        <a:rPr sz="1200">
                          <a:latin typeface="Times Roman"/>
                          <a:ea typeface="Times Roman"/>
                          <a:cs typeface="Times Roman"/>
                          <a:sym typeface="Times Roman"/>
                        </a:rPr>
                        <a:t>Ashwanth / Yashwanth</a:t>
                      </a:r>
                    </a:p>
                  </a:txBody>
                  <a:tcPr marL="12700" marR="12700" marT="12700" marB="12700" anchor="ctr" horzOverflow="overflow"/>
                </a:tc>
                <a:extLst>
                  <a:ext uri="{0D108BD9-81ED-4DB2-BD59-A6C34878D82A}">
                    <a16:rowId xmlns:a16="http://schemas.microsoft.com/office/drawing/2014/main" val="10002"/>
                  </a:ext>
                </a:extLst>
              </a:tr>
              <a:tr h="767022">
                <a:tc>
                  <a:txBody>
                    <a:bodyPr/>
                    <a:lstStyle/>
                    <a:p>
                      <a:pPr algn="l">
                        <a:defRPr sz="1800"/>
                      </a:pPr>
                      <a:r>
                        <a:rPr sz="1200">
                          <a:latin typeface="Times Roman"/>
                          <a:ea typeface="Times Roman"/>
                          <a:cs typeface="Times Roman"/>
                          <a:sym typeface="Times Roman"/>
                        </a:rPr>
                        <a:t>Refund Processing</a:t>
                      </a:r>
                    </a:p>
                  </a:txBody>
                  <a:tcPr marL="12700" marR="12700" marT="12700" marB="12700" anchor="ctr" horzOverflow="overflow"/>
                </a:tc>
                <a:tc>
                  <a:txBody>
                    <a:bodyPr/>
                    <a:lstStyle/>
                    <a:p>
                      <a:pPr algn="l">
                        <a:defRPr sz="1800"/>
                      </a:pPr>
                      <a:r>
                        <a:rPr sz="1200">
                          <a:latin typeface="Times Roman"/>
                          <a:ea typeface="Times Roman"/>
                          <a:cs typeface="Times Roman"/>
                          <a:sym typeface="Times Roman"/>
                        </a:rPr>
                        <a:t>US_03</a:t>
                      </a:r>
                    </a:p>
                  </a:txBody>
                  <a:tcPr marL="12700" marR="12700" marT="12700" marB="12700" anchor="ctr" horzOverflow="overflow"/>
                </a:tc>
                <a:tc>
                  <a:txBody>
                    <a:bodyPr/>
                    <a:lstStyle/>
                    <a:p>
                      <a:pPr algn="l">
                        <a:defRPr sz="1800"/>
                      </a:pPr>
                      <a:r>
                        <a:rPr sz="1200">
                          <a:latin typeface="Times Roman"/>
                          <a:ea typeface="Times Roman"/>
                          <a:cs typeface="Times Roman"/>
                          <a:sym typeface="Times Roman"/>
                        </a:rPr>
                        <a:t>Request refund without contribution</a:t>
                      </a:r>
                    </a:p>
                  </a:txBody>
                  <a:tcPr marL="12700" marR="12700" marT="12700" marB="12700" anchor="ctr" horzOverflow="overflow"/>
                </a:tc>
                <a:tc>
                  <a:txBody>
                    <a:bodyPr/>
                    <a:lstStyle/>
                    <a:p>
                      <a:pPr algn="l">
                        <a:defRPr sz="1200">
                          <a:latin typeface="Times Roman"/>
                          <a:ea typeface="Times Roman"/>
                          <a:cs typeface="Times Roman"/>
                          <a:sym typeface="Times Roman"/>
                        </a:defRPr>
                      </a:pPr>
                      <a:r>
                        <a:t>Contributor: </a:t>
                      </a:r>
                      <a:r>
                        <a:rPr sz="1300">
                          <a:latin typeface="Courier"/>
                          <a:ea typeface="Courier"/>
                          <a:cs typeface="Courier"/>
                          <a:sym typeface="Courier"/>
                        </a:rPr>
                        <a:t>0xDEF456</a:t>
                      </a:r>
                      <a:r>
                        <a:t>, No contributions</a:t>
                      </a:r>
                    </a:p>
                  </a:txBody>
                  <a:tcPr marL="12700" marR="12700" marT="12700" marB="12700" anchor="ctr" horzOverflow="overflow"/>
                </a:tc>
                <a:tc>
                  <a:txBody>
                    <a:bodyPr/>
                    <a:lstStyle/>
                    <a:p>
                      <a:pPr algn="l">
                        <a:defRPr sz="1800"/>
                      </a:pPr>
                      <a:r>
                        <a:rPr sz="1200">
                          <a:latin typeface="Times Roman"/>
                          <a:ea typeface="Times Roman"/>
                          <a:cs typeface="Times Roman"/>
                          <a:sym typeface="Times Roman"/>
                        </a:rPr>
                        <a:t>Error: “You are not contributor..”</a:t>
                      </a:r>
                    </a:p>
                  </a:txBody>
                  <a:tcPr marL="12700" marR="12700" marT="12700" marB="12700" anchor="ctr" horzOverflow="overflow"/>
                </a:tc>
                <a:tc>
                  <a:txBody>
                    <a:bodyPr/>
                    <a:lstStyle/>
                    <a:p>
                      <a:pPr algn="l">
                        <a:defRPr sz="1800"/>
                      </a:pPr>
                      <a:r>
                        <a:rPr sz="1200">
                          <a:latin typeface="Times Roman"/>
                          <a:ea typeface="Times Roman"/>
                          <a:cs typeface="Times Roman"/>
                          <a:sym typeface="Times Roman"/>
                        </a:rPr>
                        <a:t>Error correctly shown</a:t>
                      </a:r>
                    </a:p>
                  </a:txBody>
                  <a:tcPr marL="12700" marR="12700" marT="12700" marB="12700" anchor="ctr" horzOverflow="overflow"/>
                </a:tc>
                <a:tc>
                  <a:txBody>
                    <a:bodyPr/>
                    <a:lstStyle/>
                    <a:p>
                      <a:pPr algn="l">
                        <a:defRPr sz="1800"/>
                      </a:pPr>
                      <a:r>
                        <a:rPr sz="1200">
                          <a:latin typeface="Times Roman"/>
                          <a:ea typeface="Times Roman"/>
                          <a:cs typeface="Times Roman"/>
                          <a:sym typeface="Times Roman"/>
                        </a:rPr>
                        <a:t>Pass</a:t>
                      </a:r>
                    </a:p>
                  </a:txBody>
                  <a:tcPr marL="12700" marR="12700" marT="12700" marB="12700" anchor="ctr" horzOverflow="overflow"/>
                </a:tc>
                <a:tc>
                  <a:txBody>
                    <a:bodyPr/>
                    <a:lstStyle/>
                    <a:p>
                      <a:pPr algn="l">
                        <a:defRPr sz="1800"/>
                      </a:pPr>
                      <a:r>
                        <a:rPr sz="1200">
                          <a:latin typeface="Times Roman"/>
                          <a:ea typeface="Times Roman"/>
                          <a:cs typeface="Times Roman"/>
                          <a:sym typeface="Times Roman"/>
                        </a:rPr>
                        <a:t>Ashwanth / Yashwanth</a:t>
                      </a:r>
                    </a:p>
                  </a:txBody>
                  <a:tcPr marL="12700" marR="12700" marT="12700" marB="12700" anchor="ctr" horzOverflow="overflow"/>
                </a:tc>
                <a:extLst>
                  <a:ext uri="{0D108BD9-81ED-4DB2-BD59-A6C34878D82A}">
                    <a16:rowId xmlns:a16="http://schemas.microsoft.com/office/drawing/2014/main" val="10003"/>
                  </a:ext>
                </a:extLst>
              </a:tr>
              <a:tr h="571500">
                <a:tc>
                  <a:txBody>
                    <a:bodyPr/>
                    <a:lstStyle/>
                    <a:p>
                      <a:pPr algn="l">
                        <a:defRPr sz="1800"/>
                      </a:pPr>
                      <a:r>
                        <a:rPr sz="1200">
                          <a:latin typeface="Times Roman"/>
                          <a:ea typeface="Times Roman"/>
                          <a:cs typeface="Times Roman"/>
                          <a:sym typeface="Times Roman"/>
                        </a:rPr>
                        <a:t>Campaign Listing</a:t>
                      </a:r>
                    </a:p>
                  </a:txBody>
                  <a:tcPr marL="12700" marR="12700" marT="12700" marB="12700" anchor="ctr" horzOverflow="overflow"/>
                </a:tc>
                <a:tc>
                  <a:txBody>
                    <a:bodyPr/>
                    <a:lstStyle/>
                    <a:p>
                      <a:pPr algn="l">
                        <a:defRPr sz="1800"/>
                      </a:pPr>
                      <a:r>
                        <a:rPr sz="1200">
                          <a:latin typeface="Times Roman"/>
                          <a:ea typeface="Times Roman"/>
                          <a:cs typeface="Times Roman"/>
                          <a:sym typeface="Times Roman"/>
                        </a:rPr>
                        <a:t>US_07</a:t>
                      </a:r>
                    </a:p>
                  </a:txBody>
                  <a:tcPr marL="12700" marR="12700" marT="12700" marB="12700" anchor="ctr" horzOverflow="overflow"/>
                </a:tc>
                <a:tc>
                  <a:txBody>
                    <a:bodyPr/>
                    <a:lstStyle/>
                    <a:p>
                      <a:pPr algn="l">
                        <a:defRPr sz="1800"/>
                      </a:pPr>
                      <a:r>
                        <a:rPr sz="1200">
                          <a:latin typeface="Times Roman"/>
                          <a:ea typeface="Times Roman"/>
                          <a:cs typeface="Times Roman"/>
                          <a:sym typeface="Times Roman"/>
                        </a:rPr>
                        <a:t>View all campaigns</a:t>
                      </a:r>
                    </a:p>
                  </a:txBody>
                  <a:tcPr marL="12700" marR="12700" marT="12700" marB="12700" anchor="ctr" horzOverflow="overflow"/>
                </a:tc>
                <a:tc>
                  <a:txBody>
                    <a:bodyPr/>
                    <a:lstStyle/>
                    <a:p>
                      <a:pPr algn="l">
                        <a:defRPr sz="1800"/>
                      </a:pPr>
                      <a:r>
                        <a:rPr sz="1200">
                          <a:latin typeface="Times Roman"/>
                          <a:ea typeface="Times Roman"/>
                          <a:cs typeface="Times Roman"/>
                          <a:sym typeface="Times Roman"/>
                        </a:rPr>
                        <a:t>N/A – at least one campaign exists</a:t>
                      </a:r>
                    </a:p>
                  </a:txBody>
                  <a:tcPr marL="12700" marR="12700" marT="12700" marB="12700" anchor="ctr" horzOverflow="overflow"/>
                </a:tc>
                <a:tc>
                  <a:txBody>
                    <a:bodyPr/>
                    <a:lstStyle/>
                    <a:p>
                      <a:pPr algn="l">
                        <a:defRPr sz="1800"/>
                      </a:pPr>
                      <a:r>
                        <a:rPr sz="1200">
                          <a:latin typeface="Times Roman"/>
                          <a:ea typeface="Times Roman"/>
                          <a:cs typeface="Times Roman"/>
                          <a:sym typeface="Times Roman"/>
                        </a:rPr>
                        <a:t>List shows campaigns with goal, raised amount, status</a:t>
                      </a:r>
                    </a:p>
                  </a:txBody>
                  <a:tcPr marL="12700" marR="12700" marT="12700" marB="12700" anchor="ctr" horzOverflow="overflow"/>
                </a:tc>
                <a:tc>
                  <a:txBody>
                    <a:bodyPr/>
                    <a:lstStyle/>
                    <a:p>
                      <a:pPr algn="l">
                        <a:defRPr sz="1800"/>
                      </a:pPr>
                      <a:r>
                        <a:rPr sz="1200">
                          <a:latin typeface="Times Roman"/>
                          <a:ea typeface="Times Roman"/>
                          <a:cs typeface="Times Roman"/>
                          <a:sym typeface="Times Roman"/>
                        </a:rPr>
                        <a:t>Campaign list displays correctly</a:t>
                      </a:r>
                    </a:p>
                  </a:txBody>
                  <a:tcPr marL="12700" marR="12700" marT="12700" marB="12700" anchor="ctr" horzOverflow="overflow"/>
                </a:tc>
                <a:tc>
                  <a:txBody>
                    <a:bodyPr/>
                    <a:lstStyle/>
                    <a:p>
                      <a:pPr algn="l">
                        <a:defRPr sz="1800"/>
                      </a:pPr>
                      <a:r>
                        <a:rPr sz="1200">
                          <a:latin typeface="Times Roman"/>
                          <a:ea typeface="Times Roman"/>
                          <a:cs typeface="Times Roman"/>
                          <a:sym typeface="Times Roman"/>
                        </a:rPr>
                        <a:t>Pass</a:t>
                      </a:r>
                    </a:p>
                  </a:txBody>
                  <a:tcPr marL="12700" marR="12700" marT="12700" marB="12700" anchor="ctr" horzOverflow="overflow"/>
                </a:tc>
                <a:tc>
                  <a:txBody>
                    <a:bodyPr/>
                    <a:lstStyle/>
                    <a:p>
                      <a:pPr algn="l">
                        <a:defRPr sz="1800"/>
                      </a:pPr>
                      <a:r>
                        <a:rPr sz="1200">
                          <a:latin typeface="Times Roman"/>
                          <a:ea typeface="Times Roman"/>
                          <a:cs typeface="Times Roman"/>
                          <a:sym typeface="Times Roman"/>
                        </a:rPr>
                        <a:t>Nyi Nyi / Raj</a:t>
                      </a:r>
                    </a:p>
                  </a:txBody>
                  <a:tcPr marL="12700" marR="12700" marT="12700" marB="12700" anchor="ctr" horzOverflow="overflow"/>
                </a:tc>
                <a:extLst>
                  <a:ext uri="{0D108BD9-81ED-4DB2-BD59-A6C34878D82A}">
                    <a16:rowId xmlns:a16="http://schemas.microsoft.com/office/drawing/2014/main" val="10004"/>
                  </a:ext>
                </a:extLst>
              </a:tr>
              <a:tr h="571500">
                <a:tc>
                  <a:txBody>
                    <a:bodyPr/>
                    <a:lstStyle/>
                    <a:p>
                      <a:pPr algn="l">
                        <a:defRPr sz="1800"/>
                      </a:pPr>
                      <a:r>
                        <a:rPr sz="1200">
                          <a:latin typeface="Times Roman"/>
                          <a:ea typeface="Times Roman"/>
                          <a:cs typeface="Times Roman"/>
                          <a:sym typeface="Times Roman"/>
                        </a:rPr>
                        <a:t>Campaign Listing</a:t>
                      </a:r>
                    </a:p>
                  </a:txBody>
                  <a:tcPr marL="12700" marR="12700" marT="12700" marB="12700" anchor="ctr" horzOverflow="overflow"/>
                </a:tc>
                <a:tc>
                  <a:txBody>
                    <a:bodyPr/>
                    <a:lstStyle/>
                    <a:p>
                      <a:pPr algn="l">
                        <a:defRPr sz="1800"/>
                      </a:pPr>
                      <a:r>
                        <a:rPr sz="1200">
                          <a:latin typeface="Times Roman"/>
                          <a:ea typeface="Times Roman"/>
                          <a:cs typeface="Times Roman"/>
                          <a:sym typeface="Times Roman"/>
                        </a:rPr>
                        <a:t>US_07</a:t>
                      </a:r>
                    </a:p>
                  </a:txBody>
                  <a:tcPr marL="12700" marR="12700" marT="12700" marB="12700" anchor="ctr" horzOverflow="overflow"/>
                </a:tc>
                <a:tc>
                  <a:txBody>
                    <a:bodyPr/>
                    <a:lstStyle/>
                    <a:p>
                      <a:pPr algn="l">
                        <a:defRPr sz="1800"/>
                      </a:pPr>
                      <a:r>
                        <a:rPr sz="1200">
                          <a:latin typeface="Times Roman"/>
                          <a:ea typeface="Times Roman"/>
                          <a:cs typeface="Times Roman"/>
                          <a:sym typeface="Times Roman"/>
                        </a:rPr>
                        <a:t>Campaign list empty</a:t>
                      </a:r>
                    </a:p>
                  </a:txBody>
                  <a:tcPr marL="12700" marR="12700" marT="12700" marB="12700" anchor="ctr" horzOverflow="overflow"/>
                </a:tc>
                <a:tc>
                  <a:txBody>
                    <a:bodyPr/>
                    <a:lstStyle/>
                    <a:p>
                      <a:pPr algn="l">
                        <a:defRPr sz="1800"/>
                      </a:pPr>
                      <a:r>
                        <a:rPr sz="1200">
                          <a:latin typeface="Times Roman"/>
                          <a:ea typeface="Times Roman"/>
                          <a:cs typeface="Times Roman"/>
                          <a:sym typeface="Times Roman"/>
                        </a:rPr>
                        <a:t>N/A – no campaigns exist</a:t>
                      </a:r>
                    </a:p>
                  </a:txBody>
                  <a:tcPr marL="12700" marR="12700" marT="12700" marB="12700" anchor="ctr" horzOverflow="overflow"/>
                </a:tc>
                <a:tc>
                  <a:txBody>
                    <a:bodyPr/>
                    <a:lstStyle/>
                    <a:p>
                      <a:pPr algn="l">
                        <a:defRPr sz="1800"/>
                      </a:pPr>
                      <a:r>
                        <a:rPr sz="1200">
                          <a:latin typeface="Times Roman"/>
                          <a:ea typeface="Times Roman"/>
                          <a:cs typeface="Times Roman"/>
                          <a:sym typeface="Times Roman"/>
                        </a:rPr>
                        <a:t>Message: “No campaigns available”</a:t>
                      </a:r>
                    </a:p>
                  </a:txBody>
                  <a:tcPr marL="12700" marR="12700" marT="12700" marB="12700" anchor="ctr" horzOverflow="overflow"/>
                </a:tc>
                <a:tc>
                  <a:txBody>
                    <a:bodyPr/>
                    <a:lstStyle/>
                    <a:p>
                      <a:pPr algn="l">
                        <a:defRPr sz="1800"/>
                      </a:pPr>
                      <a:r>
                        <a:rPr sz="1200">
                          <a:latin typeface="Times Roman"/>
                          <a:ea typeface="Times Roman"/>
                          <a:cs typeface="Times Roman"/>
                          <a:sym typeface="Times Roman"/>
                        </a:rPr>
                        <a:t>Page displays message correctly</a:t>
                      </a:r>
                    </a:p>
                  </a:txBody>
                  <a:tcPr marL="12700" marR="12700" marT="12700" marB="12700" anchor="ctr" horzOverflow="overflow"/>
                </a:tc>
                <a:tc>
                  <a:txBody>
                    <a:bodyPr/>
                    <a:lstStyle/>
                    <a:p>
                      <a:pPr algn="l">
                        <a:defRPr sz="1800"/>
                      </a:pPr>
                      <a:r>
                        <a:rPr sz="1200">
                          <a:latin typeface="Times Roman"/>
                          <a:ea typeface="Times Roman"/>
                          <a:cs typeface="Times Roman"/>
                          <a:sym typeface="Times Roman"/>
                        </a:rPr>
                        <a:t>Pass</a:t>
                      </a:r>
                    </a:p>
                  </a:txBody>
                  <a:tcPr marL="12700" marR="12700" marT="12700" marB="12700" anchor="ctr" horzOverflow="overflow"/>
                </a:tc>
                <a:tc>
                  <a:txBody>
                    <a:bodyPr/>
                    <a:lstStyle/>
                    <a:p>
                      <a:pPr algn="l">
                        <a:defRPr sz="1800"/>
                      </a:pPr>
                      <a:r>
                        <a:rPr sz="1200">
                          <a:latin typeface="Times Roman"/>
                          <a:ea typeface="Times Roman"/>
                          <a:cs typeface="Times Roman"/>
                          <a:sym typeface="Times Roman"/>
                        </a:rPr>
                        <a:t>Nyi Nyi / Raj</a:t>
                      </a:r>
                    </a:p>
                  </a:txBody>
                  <a:tcPr marL="12700" marR="12700" marT="12700" marB="12700" anchor="ctr" horzOverflow="overflow"/>
                </a:tc>
                <a:extLst>
                  <a:ext uri="{0D108BD9-81ED-4DB2-BD59-A6C34878D82A}">
                    <a16:rowId xmlns:a16="http://schemas.microsoft.com/office/drawing/2014/main" val="10005"/>
                  </a:ext>
                </a:extLst>
              </a:tr>
              <a:tr h="571500">
                <a:tc>
                  <a:txBody>
                    <a:bodyPr/>
                    <a:lstStyle/>
                    <a:p>
                      <a:pPr algn="l">
                        <a:defRPr sz="1800"/>
                      </a:pPr>
                      <a:r>
                        <a:rPr sz="1200">
                          <a:latin typeface="Times Roman"/>
                          <a:ea typeface="Times Roman"/>
                          <a:cs typeface="Times Roman"/>
                          <a:sym typeface="Times Roman"/>
                        </a:rPr>
                        <a:t>Campaign Status</a:t>
                      </a:r>
                    </a:p>
                  </a:txBody>
                  <a:tcPr marL="12700" marR="12700" marT="12700" marB="12700" anchor="ctr" horzOverflow="overflow"/>
                </a:tc>
                <a:tc>
                  <a:txBody>
                    <a:bodyPr/>
                    <a:lstStyle/>
                    <a:p>
                      <a:pPr algn="l">
                        <a:defRPr sz="1800"/>
                      </a:pPr>
                      <a:r>
                        <a:rPr sz="1200">
                          <a:latin typeface="Times Roman"/>
                          <a:ea typeface="Times Roman"/>
                          <a:cs typeface="Times Roman"/>
                          <a:sym typeface="Times Roman"/>
                        </a:rPr>
                        <a:t>US_08</a:t>
                      </a:r>
                    </a:p>
                  </a:txBody>
                  <a:tcPr marL="12700" marR="12700" marT="12700" marB="12700" anchor="ctr" horzOverflow="overflow"/>
                </a:tc>
                <a:tc>
                  <a:txBody>
                    <a:bodyPr/>
                    <a:lstStyle/>
                    <a:p>
                      <a:pPr algn="l">
                        <a:defRPr sz="1800"/>
                      </a:pPr>
                      <a:r>
                        <a:rPr sz="1200">
                          <a:latin typeface="Times Roman"/>
                          <a:ea typeface="Times Roman"/>
                          <a:cs typeface="Times Roman"/>
                          <a:sym typeface="Times Roman"/>
                        </a:rPr>
                        <a:t>Status updates to Active</a:t>
                      </a:r>
                    </a:p>
                  </a:txBody>
                  <a:tcPr marL="12700" marR="12700" marT="12700" marB="12700" anchor="ctr" horzOverflow="overflow"/>
                </a:tc>
                <a:tc>
                  <a:txBody>
                    <a:bodyPr/>
                    <a:lstStyle/>
                    <a:p>
                      <a:pPr algn="l">
                        <a:defRPr sz="1800"/>
                      </a:pPr>
                      <a:r>
                        <a:rPr sz="1200">
                          <a:latin typeface="Times Roman"/>
                          <a:ea typeface="Times Roman"/>
                          <a:cs typeface="Times Roman"/>
                          <a:sym typeface="Times Roman"/>
                        </a:rPr>
                        <a:t>Campaign: “Plant Trees”, Raised: 2 ETH, Target: 10 ETH, Deadline not reached</a:t>
                      </a:r>
                    </a:p>
                  </a:txBody>
                  <a:tcPr marL="12700" marR="12700" marT="12700" marB="12700" anchor="ctr" horzOverflow="overflow"/>
                </a:tc>
                <a:tc>
                  <a:txBody>
                    <a:bodyPr/>
                    <a:lstStyle/>
                    <a:p>
                      <a:pPr algn="l">
                        <a:defRPr sz="1800"/>
                      </a:pPr>
                      <a:r>
                        <a:rPr sz="1200">
                          <a:latin typeface="Times Roman"/>
                          <a:ea typeface="Times Roman"/>
                          <a:cs typeface="Times Roman"/>
                          <a:sym typeface="Times Roman"/>
                        </a:rPr>
                        <a:t>Status shows “Active”</a:t>
                      </a:r>
                    </a:p>
                  </a:txBody>
                  <a:tcPr marL="12700" marR="12700" marT="12700" marB="12700" anchor="ctr" horzOverflow="overflow"/>
                </a:tc>
                <a:tc>
                  <a:txBody>
                    <a:bodyPr/>
                    <a:lstStyle/>
                    <a:p>
                      <a:pPr algn="l">
                        <a:defRPr sz="1800"/>
                      </a:pPr>
                      <a:r>
                        <a:rPr sz="1200">
                          <a:latin typeface="Times Roman"/>
                          <a:ea typeface="Times Roman"/>
                          <a:cs typeface="Times Roman"/>
                          <a:sym typeface="Times Roman"/>
                        </a:rPr>
                        <a:t>Status correctly shows “Active”</a:t>
                      </a:r>
                    </a:p>
                  </a:txBody>
                  <a:tcPr marL="12700" marR="12700" marT="12700" marB="12700" anchor="ctr" horzOverflow="overflow"/>
                </a:tc>
                <a:tc>
                  <a:txBody>
                    <a:bodyPr/>
                    <a:lstStyle/>
                    <a:p>
                      <a:pPr algn="l">
                        <a:defRPr sz="1800"/>
                      </a:pPr>
                      <a:r>
                        <a:rPr sz="1200">
                          <a:latin typeface="Times Roman"/>
                          <a:ea typeface="Times Roman"/>
                          <a:cs typeface="Times Roman"/>
                          <a:sym typeface="Times Roman"/>
                        </a:rPr>
                        <a:t>Pass</a:t>
                      </a:r>
                    </a:p>
                  </a:txBody>
                  <a:tcPr marL="12700" marR="12700" marT="12700" marB="12700" anchor="ctr" horzOverflow="overflow"/>
                </a:tc>
                <a:tc>
                  <a:txBody>
                    <a:bodyPr/>
                    <a:lstStyle/>
                    <a:p>
                      <a:pPr algn="l">
                        <a:defRPr sz="1800"/>
                      </a:pPr>
                      <a:r>
                        <a:rPr sz="1200">
                          <a:latin typeface="Times Roman"/>
                          <a:ea typeface="Times Roman"/>
                          <a:cs typeface="Times Roman"/>
                          <a:sym typeface="Times Roman"/>
                        </a:rPr>
                        <a:t>Ashwitha / Naveen</a:t>
                      </a:r>
                    </a:p>
                  </a:txBody>
                  <a:tcPr marL="12700" marR="12700" marT="12700" marB="12700" anchor="ctr" horzOverflow="overflow"/>
                </a:tc>
                <a:extLst>
                  <a:ext uri="{0D108BD9-81ED-4DB2-BD59-A6C34878D82A}">
                    <a16:rowId xmlns:a16="http://schemas.microsoft.com/office/drawing/2014/main" val="10006"/>
                  </a:ext>
                </a:extLst>
              </a:tr>
              <a:tr h="571500">
                <a:tc>
                  <a:txBody>
                    <a:bodyPr/>
                    <a:lstStyle/>
                    <a:p>
                      <a:pPr algn="l">
                        <a:defRPr sz="1800"/>
                      </a:pPr>
                      <a:r>
                        <a:rPr sz="1200">
                          <a:latin typeface="Times Roman"/>
                          <a:ea typeface="Times Roman"/>
                          <a:cs typeface="Times Roman"/>
                          <a:sym typeface="Times Roman"/>
                        </a:rPr>
                        <a:t>Campaign Status</a:t>
                      </a:r>
                    </a:p>
                  </a:txBody>
                  <a:tcPr marL="12700" marR="12700" marT="12700" marB="12700" anchor="ctr" horzOverflow="overflow"/>
                </a:tc>
                <a:tc>
                  <a:txBody>
                    <a:bodyPr/>
                    <a:lstStyle/>
                    <a:p>
                      <a:pPr algn="l">
                        <a:defRPr sz="1800"/>
                      </a:pPr>
                      <a:r>
                        <a:rPr sz="1200">
                          <a:latin typeface="Times Roman"/>
                          <a:ea typeface="Times Roman"/>
                          <a:cs typeface="Times Roman"/>
                          <a:sym typeface="Times Roman"/>
                        </a:rPr>
                        <a:t>US_08</a:t>
                      </a:r>
                    </a:p>
                  </a:txBody>
                  <a:tcPr marL="12700" marR="12700" marT="12700" marB="12700" anchor="ctr" horzOverflow="overflow"/>
                </a:tc>
                <a:tc>
                  <a:txBody>
                    <a:bodyPr/>
                    <a:lstStyle/>
                    <a:p>
                      <a:pPr algn="l">
                        <a:defRPr sz="1800"/>
                      </a:pPr>
                      <a:r>
                        <a:rPr sz="1200">
                          <a:latin typeface="Times Roman"/>
                          <a:ea typeface="Times Roman"/>
                          <a:cs typeface="Times Roman"/>
                          <a:sym typeface="Times Roman"/>
                        </a:rPr>
                        <a:t>Status updates to Successful</a:t>
                      </a:r>
                    </a:p>
                  </a:txBody>
                  <a:tcPr marL="12700" marR="12700" marT="12700" marB="12700" anchor="ctr" horzOverflow="overflow"/>
                </a:tc>
                <a:tc>
                  <a:txBody>
                    <a:bodyPr/>
                    <a:lstStyle/>
                    <a:p>
                      <a:pPr algn="l">
                        <a:defRPr sz="1800"/>
                      </a:pPr>
                      <a:r>
                        <a:rPr sz="1200">
                          <a:latin typeface="Times Roman"/>
                          <a:ea typeface="Times Roman"/>
                          <a:cs typeface="Times Roman"/>
                          <a:sym typeface="Times Roman"/>
                        </a:rPr>
                        <a:t>Campaign: “Plant Trees”, Raised: 10 ETH, Target: 10 ETH, Deadline not reached</a:t>
                      </a:r>
                    </a:p>
                  </a:txBody>
                  <a:tcPr marL="12700" marR="12700" marT="12700" marB="12700" anchor="ctr" horzOverflow="overflow"/>
                </a:tc>
                <a:tc>
                  <a:txBody>
                    <a:bodyPr/>
                    <a:lstStyle/>
                    <a:p>
                      <a:pPr algn="l">
                        <a:defRPr sz="1800"/>
                      </a:pPr>
                      <a:r>
                        <a:rPr sz="1200">
                          <a:latin typeface="Times Roman"/>
                          <a:ea typeface="Times Roman"/>
                          <a:cs typeface="Times Roman"/>
                          <a:sym typeface="Times Roman"/>
                        </a:rPr>
                        <a:t>Status shows “Successful”</a:t>
                      </a:r>
                    </a:p>
                  </a:txBody>
                  <a:tcPr marL="12700" marR="12700" marT="12700" marB="12700" anchor="ctr" horzOverflow="overflow"/>
                </a:tc>
                <a:tc>
                  <a:txBody>
                    <a:bodyPr/>
                    <a:lstStyle/>
                    <a:p>
                      <a:pPr algn="l">
                        <a:defRPr sz="1800"/>
                      </a:pPr>
                      <a:r>
                        <a:rPr sz="1200">
                          <a:latin typeface="Times Roman"/>
                          <a:ea typeface="Times Roman"/>
                          <a:cs typeface="Times Roman"/>
                          <a:sym typeface="Times Roman"/>
                        </a:rPr>
                        <a:t>Status correctly shows “Successful”</a:t>
                      </a:r>
                    </a:p>
                  </a:txBody>
                  <a:tcPr marL="12700" marR="12700" marT="12700" marB="12700" anchor="ctr" horzOverflow="overflow"/>
                </a:tc>
                <a:tc>
                  <a:txBody>
                    <a:bodyPr/>
                    <a:lstStyle/>
                    <a:p>
                      <a:pPr algn="l">
                        <a:defRPr sz="1800"/>
                      </a:pPr>
                      <a:r>
                        <a:rPr sz="1200">
                          <a:latin typeface="Times Roman"/>
                          <a:ea typeface="Times Roman"/>
                          <a:cs typeface="Times Roman"/>
                          <a:sym typeface="Times Roman"/>
                        </a:rPr>
                        <a:t>Pass</a:t>
                      </a:r>
                    </a:p>
                  </a:txBody>
                  <a:tcPr marL="12700" marR="12700" marT="12700" marB="12700" anchor="ctr" horzOverflow="overflow"/>
                </a:tc>
                <a:tc>
                  <a:txBody>
                    <a:bodyPr/>
                    <a:lstStyle/>
                    <a:p>
                      <a:pPr algn="l">
                        <a:defRPr sz="1800"/>
                      </a:pPr>
                      <a:r>
                        <a:rPr sz="1200">
                          <a:latin typeface="Times Roman"/>
                          <a:ea typeface="Times Roman"/>
                          <a:cs typeface="Times Roman"/>
                          <a:sym typeface="Times Roman"/>
                        </a:rPr>
                        <a:t>Ashwitha / Naveen</a:t>
                      </a:r>
                    </a:p>
                  </a:txBody>
                  <a:tcPr marL="12700" marR="12700" marT="12700" marB="12700" anchor="ctr" horzOverflow="overflow"/>
                </a:tc>
                <a:extLst>
                  <a:ext uri="{0D108BD9-81ED-4DB2-BD59-A6C34878D82A}">
                    <a16:rowId xmlns:a16="http://schemas.microsoft.com/office/drawing/2014/main" val="10007"/>
                  </a:ext>
                </a:extLst>
              </a:tr>
              <a:tr h="571500">
                <a:tc>
                  <a:txBody>
                    <a:bodyPr/>
                    <a:lstStyle/>
                    <a:p>
                      <a:pPr algn="l">
                        <a:defRPr sz="1800"/>
                      </a:pPr>
                      <a:r>
                        <a:rPr sz="1200">
                          <a:latin typeface="Times Roman"/>
                          <a:ea typeface="Times Roman"/>
                          <a:cs typeface="Times Roman"/>
                          <a:sym typeface="Times Roman"/>
                        </a:rPr>
                        <a:t>Campaign Status</a:t>
                      </a:r>
                    </a:p>
                  </a:txBody>
                  <a:tcPr marL="12700" marR="12700" marT="12700" marB="12700" anchor="ctr" horzOverflow="overflow"/>
                </a:tc>
                <a:tc>
                  <a:txBody>
                    <a:bodyPr/>
                    <a:lstStyle/>
                    <a:p>
                      <a:pPr algn="l">
                        <a:defRPr sz="1800"/>
                      </a:pPr>
                      <a:r>
                        <a:rPr sz="1200">
                          <a:latin typeface="Times Roman"/>
                          <a:ea typeface="Times Roman"/>
                          <a:cs typeface="Times Roman"/>
                          <a:sym typeface="Times Roman"/>
                        </a:rPr>
                        <a:t>US_08</a:t>
                      </a:r>
                    </a:p>
                  </a:txBody>
                  <a:tcPr marL="12700" marR="12700" marT="12700" marB="12700" anchor="ctr" horzOverflow="overflow"/>
                </a:tc>
                <a:tc>
                  <a:txBody>
                    <a:bodyPr/>
                    <a:lstStyle/>
                    <a:p>
                      <a:pPr algn="l">
                        <a:defRPr sz="1800"/>
                      </a:pPr>
                      <a:r>
                        <a:rPr sz="1200">
                          <a:latin typeface="Times Roman"/>
                          <a:ea typeface="Times Roman"/>
                          <a:cs typeface="Times Roman"/>
                          <a:sym typeface="Times Roman"/>
                        </a:rPr>
                        <a:t>Status updates to Failed</a:t>
                      </a:r>
                    </a:p>
                  </a:txBody>
                  <a:tcPr marL="12700" marR="12700" marT="12700" marB="12700" anchor="ctr" horzOverflow="overflow"/>
                </a:tc>
                <a:tc>
                  <a:txBody>
                    <a:bodyPr/>
                    <a:lstStyle/>
                    <a:p>
                      <a:pPr algn="l">
                        <a:defRPr sz="1800"/>
                      </a:pPr>
                      <a:r>
                        <a:rPr sz="1200">
                          <a:latin typeface="Times Roman"/>
                          <a:ea typeface="Times Roman"/>
                          <a:cs typeface="Times Roman"/>
                          <a:sym typeface="Times Roman"/>
                        </a:rPr>
                        <a:t>Campaign: “Plant Trees”, Raised: 5 ETH, Target: 10 ETH, Deadline passed</a:t>
                      </a:r>
                    </a:p>
                  </a:txBody>
                  <a:tcPr marL="12700" marR="12700" marT="12700" marB="12700" anchor="ctr" horzOverflow="overflow"/>
                </a:tc>
                <a:tc>
                  <a:txBody>
                    <a:bodyPr/>
                    <a:lstStyle/>
                    <a:p>
                      <a:pPr algn="l">
                        <a:defRPr sz="1800"/>
                      </a:pPr>
                      <a:r>
                        <a:rPr sz="1200">
                          <a:latin typeface="Times Roman"/>
                          <a:ea typeface="Times Roman"/>
                          <a:cs typeface="Times Roman"/>
                          <a:sym typeface="Times Roman"/>
                        </a:rPr>
                        <a:t>Status shows “Failed”</a:t>
                      </a:r>
                    </a:p>
                  </a:txBody>
                  <a:tcPr marL="12700" marR="12700" marT="12700" marB="12700" anchor="ctr" horzOverflow="overflow"/>
                </a:tc>
                <a:tc>
                  <a:txBody>
                    <a:bodyPr/>
                    <a:lstStyle/>
                    <a:p>
                      <a:pPr algn="l">
                        <a:defRPr sz="1800"/>
                      </a:pPr>
                      <a:r>
                        <a:rPr sz="1200">
                          <a:latin typeface="Times Roman"/>
                          <a:ea typeface="Times Roman"/>
                          <a:cs typeface="Times Roman"/>
                          <a:sym typeface="Times Roman"/>
                        </a:rPr>
                        <a:t>Status correctly shows “Failed”</a:t>
                      </a:r>
                    </a:p>
                  </a:txBody>
                  <a:tcPr marL="12700" marR="12700" marT="12700" marB="12700" anchor="ctr" horzOverflow="overflow"/>
                </a:tc>
                <a:tc>
                  <a:txBody>
                    <a:bodyPr/>
                    <a:lstStyle/>
                    <a:p>
                      <a:pPr algn="l">
                        <a:defRPr sz="1800"/>
                      </a:pPr>
                      <a:r>
                        <a:rPr sz="1200">
                          <a:latin typeface="Times Roman"/>
                          <a:ea typeface="Times Roman"/>
                          <a:cs typeface="Times Roman"/>
                          <a:sym typeface="Times Roman"/>
                        </a:rPr>
                        <a:t>Pass</a:t>
                      </a:r>
                    </a:p>
                  </a:txBody>
                  <a:tcPr marL="12700" marR="12700" marT="12700" marB="12700" anchor="ctr" horzOverflow="overflow"/>
                </a:tc>
                <a:tc>
                  <a:txBody>
                    <a:bodyPr/>
                    <a:lstStyle/>
                    <a:p>
                      <a:pPr algn="l">
                        <a:defRPr sz="1800"/>
                      </a:pPr>
                      <a:r>
                        <a:rPr sz="1200">
                          <a:latin typeface="Times Roman"/>
                          <a:ea typeface="Times Roman"/>
                          <a:cs typeface="Times Roman"/>
                          <a:sym typeface="Times Roman"/>
                        </a:rPr>
                        <a:t>Ashwitha / Naveen</a:t>
                      </a:r>
                    </a:p>
                  </a:txBody>
                  <a:tcPr marL="12700" marR="12700" marT="12700" marB="12700" anchor="ctr" horzOverflow="overflow"/>
                </a:tc>
                <a:extLst>
                  <a:ext uri="{0D108BD9-81ED-4DB2-BD59-A6C34878D82A}">
                    <a16:rowId xmlns:a16="http://schemas.microsoft.com/office/drawing/2014/main" val="10008"/>
                  </a:ext>
                </a:extLst>
              </a:tr>
            </a:tbl>
          </a:graphicData>
        </a:graphic>
      </p:graphicFrame>
    </p:spTree>
  </p:cSld>
  <p:clrMapOvr>
    <a:masterClrMapping/>
  </p:clrMapOvr>
  <p:transition spd="med"/>
</p:sld>
</file>

<file path=ppt/slides/slide34.xml><?xml version="1.0" encoding="utf-8"?>
<p:sld xmlns:a="http://schemas.openxmlformats.org/drawingml/2006/main" xmlns:r="http://schemas.openxmlformats.org/officeDocument/2006/relationships" xmlns:p="http://schemas.openxmlformats.org/presentationml/2006/main">
  <p:cSld>
    <p:bg>
      <p:bgPr>
        <a:blipFill rotWithShape="1">
          <a:blip r:embed="rId2"/>
          <a:srcRect/>
          <a:stretch>
            <a:fillRect/>
          </a:stretch>
        </a:blipFill>
        <a:effectLst/>
      </p:bgPr>
    </p:bg>
    <p:spTree>
      <p:nvGrpSpPr>
        <p:cNvPr id="1" name=""/>
        <p:cNvGrpSpPr/>
        <p:nvPr/>
      </p:nvGrpSpPr>
      <p:grpSpPr>
        <a:xfrm>
          <a:off x="0" y="0"/>
          <a:ext cx="0" cy="0"/>
          <a:chOff x="0" y="0"/>
          <a:chExt cx="0" cy="0"/>
        </a:xfrm>
      </p:grpSpPr>
      <p:pic>
        <p:nvPicPr>
          <p:cNvPr id="304" name="Picture 14" descr="Picture 14"/>
          <p:cNvPicPr>
            <a:picLocks noChangeAspect="1"/>
          </p:cNvPicPr>
          <p:nvPr/>
        </p:nvPicPr>
        <p:blipFill>
          <a:blip r:embed="rId3"/>
          <a:stretch>
            <a:fillRect/>
          </a:stretch>
        </p:blipFill>
        <p:spPr>
          <a:xfrm>
            <a:off x="0" y="0"/>
            <a:ext cx="9141618" cy="6856215"/>
          </a:xfrm>
          <a:prstGeom prst="rect">
            <a:avLst/>
          </a:prstGeom>
          <a:ln w="12700">
            <a:miter lim="400000"/>
          </a:ln>
        </p:spPr>
      </p:pic>
      <p:sp>
        <p:nvSpPr>
          <p:cNvPr id="305" name="Title 1"/>
          <p:cNvSpPr txBox="1">
            <a:spLocks noGrp="1"/>
          </p:cNvSpPr>
          <p:nvPr>
            <p:ph type="title"/>
          </p:nvPr>
        </p:nvSpPr>
        <p:spPr>
          <a:xfrm>
            <a:off x="972454" y="985460"/>
            <a:ext cx="5839546" cy="570272"/>
          </a:xfrm>
          <a:prstGeom prst="rect">
            <a:avLst/>
          </a:prstGeom>
        </p:spPr>
        <p:txBody>
          <a:bodyPr anchor="b"/>
          <a:lstStyle>
            <a:lvl1pPr algn="r" defTabSz="365760">
              <a:defRPr sz="3440">
                <a:latin typeface="Times New Roman"/>
                <a:ea typeface="Times New Roman"/>
                <a:cs typeface="Times New Roman"/>
                <a:sym typeface="Times New Roman"/>
              </a:defRPr>
            </a:lvl1pPr>
          </a:lstStyle>
          <a:p>
            <a:r>
              <a:t>Stories completed</a:t>
            </a:r>
          </a:p>
        </p:txBody>
      </p:sp>
      <p:graphicFrame>
        <p:nvGraphicFramePr>
          <p:cNvPr id="306" name="Table 1"/>
          <p:cNvGraphicFramePr/>
          <p:nvPr/>
        </p:nvGraphicFramePr>
        <p:xfrm>
          <a:off x="390989" y="2284598"/>
          <a:ext cx="8362019" cy="3202940"/>
        </p:xfrm>
        <a:graphic>
          <a:graphicData uri="http://schemas.openxmlformats.org/drawingml/2006/table">
            <a:tbl>
              <a:tblPr bandRow="1">
                <a:tableStyleId>{4C3C2611-4C71-4FC5-86AE-919BDF0F9419}</a:tableStyleId>
              </a:tblPr>
              <a:tblGrid>
                <a:gridCol w="1067130">
                  <a:extLst>
                    <a:ext uri="{9D8B030D-6E8A-4147-A177-3AD203B41FA5}">
                      <a16:colId xmlns:a16="http://schemas.microsoft.com/office/drawing/2014/main" val="20000"/>
                    </a:ext>
                  </a:extLst>
                </a:gridCol>
                <a:gridCol w="1630267">
                  <a:extLst>
                    <a:ext uri="{9D8B030D-6E8A-4147-A177-3AD203B41FA5}">
                      <a16:colId xmlns:a16="http://schemas.microsoft.com/office/drawing/2014/main" val="20001"/>
                    </a:ext>
                  </a:extLst>
                </a:gridCol>
                <a:gridCol w="1421451">
                  <a:extLst>
                    <a:ext uri="{9D8B030D-6E8A-4147-A177-3AD203B41FA5}">
                      <a16:colId xmlns:a16="http://schemas.microsoft.com/office/drawing/2014/main" val="20002"/>
                    </a:ext>
                  </a:extLst>
                </a:gridCol>
                <a:gridCol w="2765154">
                  <a:extLst>
                    <a:ext uri="{9D8B030D-6E8A-4147-A177-3AD203B41FA5}">
                      <a16:colId xmlns:a16="http://schemas.microsoft.com/office/drawing/2014/main" val="20003"/>
                    </a:ext>
                  </a:extLst>
                </a:gridCol>
                <a:gridCol w="578279">
                  <a:extLst>
                    <a:ext uri="{9D8B030D-6E8A-4147-A177-3AD203B41FA5}">
                      <a16:colId xmlns:a16="http://schemas.microsoft.com/office/drawing/2014/main" val="20004"/>
                    </a:ext>
                  </a:extLst>
                </a:gridCol>
                <a:gridCol w="899738">
                  <a:extLst>
                    <a:ext uri="{9D8B030D-6E8A-4147-A177-3AD203B41FA5}">
                      <a16:colId xmlns:a16="http://schemas.microsoft.com/office/drawing/2014/main" val="20005"/>
                    </a:ext>
                  </a:extLst>
                </a:gridCol>
              </a:tblGrid>
              <a:tr h="749300">
                <a:tc>
                  <a:txBody>
                    <a:bodyPr/>
                    <a:lstStyle/>
                    <a:p>
                      <a:pPr algn="ctr">
                        <a:defRPr sz="1800"/>
                      </a:pPr>
                      <a:r>
                        <a:rPr sz="1200" b="1">
                          <a:latin typeface="Times Roman"/>
                          <a:ea typeface="Times Roman"/>
                          <a:cs typeface="Times Roman"/>
                          <a:sym typeface="Times Roman"/>
                        </a:rPr>
                        <a:t>Backlog No</a:t>
                      </a:r>
                    </a:p>
                  </a:txBody>
                  <a:tcPr marL="12700" marR="12700" marT="12700" marB="12700" anchor="ctr" horzOverflow="overflow"/>
                </a:tc>
                <a:tc>
                  <a:txBody>
                    <a:bodyPr/>
                    <a:lstStyle/>
                    <a:p>
                      <a:pPr algn="ctr">
                        <a:defRPr sz="1800"/>
                      </a:pPr>
                      <a:r>
                        <a:rPr sz="1200" b="1">
                          <a:latin typeface="Times Roman"/>
                          <a:ea typeface="Times Roman"/>
                          <a:cs typeface="Times Roman"/>
                          <a:sym typeface="Times Roman"/>
                        </a:rPr>
                        <a:t>User Story</a:t>
                      </a:r>
                    </a:p>
                  </a:txBody>
                  <a:tcPr marL="12700" marR="12700" marT="12700" marB="12700" anchor="ctr" horzOverflow="overflow"/>
                </a:tc>
                <a:tc>
                  <a:txBody>
                    <a:bodyPr/>
                    <a:lstStyle/>
                    <a:p>
                      <a:pPr algn="ctr">
                        <a:defRPr sz="1800"/>
                      </a:pPr>
                      <a:r>
                        <a:rPr sz="1200" b="1">
                          <a:latin typeface="Times Roman"/>
                          <a:ea typeface="Times Roman"/>
                          <a:cs typeface="Times Roman"/>
                          <a:sym typeface="Times Roman"/>
                        </a:rPr>
                        <a:t>Completed Date (Start → Finish)</a:t>
                      </a:r>
                    </a:p>
                  </a:txBody>
                  <a:tcPr marL="12700" marR="12700" marT="12700" marB="12700" anchor="ctr" horzOverflow="overflow"/>
                </a:tc>
                <a:tc>
                  <a:txBody>
                    <a:bodyPr/>
                    <a:lstStyle/>
                    <a:p>
                      <a:pPr algn="ctr">
                        <a:defRPr sz="1800"/>
                      </a:pPr>
                      <a:r>
                        <a:rPr sz="1200" b="1">
                          <a:latin typeface="Times Roman"/>
                          <a:ea typeface="Times Roman"/>
                          <a:cs typeface="Times Roman"/>
                          <a:sym typeface="Times Roman"/>
                        </a:rPr>
                        <a:t>Sub-Tasks</a:t>
                      </a:r>
                    </a:p>
                  </a:txBody>
                  <a:tcPr marL="12700" marR="12700" marT="12700" marB="12700" anchor="ctr" horzOverflow="overflow"/>
                </a:tc>
                <a:tc>
                  <a:txBody>
                    <a:bodyPr/>
                    <a:lstStyle/>
                    <a:p>
                      <a:pPr algn="ctr">
                        <a:defRPr sz="1800"/>
                      </a:pPr>
                      <a:r>
                        <a:rPr sz="1200" b="1">
                          <a:latin typeface="Times Roman"/>
                          <a:ea typeface="Times Roman"/>
                          <a:cs typeface="Times Roman"/>
                          <a:sym typeface="Times Roman"/>
                        </a:rPr>
                        <a:t>Story Points</a:t>
                      </a:r>
                    </a:p>
                  </a:txBody>
                  <a:tcPr marL="12700" marR="12700" marT="12700" marB="12700" anchor="ctr" horzOverflow="overflow"/>
                </a:tc>
                <a:tc>
                  <a:txBody>
                    <a:bodyPr/>
                    <a:lstStyle/>
                    <a:p>
                      <a:pPr algn="ctr">
                        <a:defRPr sz="1800"/>
                      </a:pPr>
                      <a:r>
                        <a:rPr sz="1200" b="1">
                          <a:latin typeface="Times Roman"/>
                          <a:ea typeface="Times Roman"/>
                          <a:cs typeface="Times Roman"/>
                          <a:sym typeface="Times Roman"/>
                        </a:rPr>
                        <a:t>Completed Points</a:t>
                      </a:r>
                    </a:p>
                  </a:txBody>
                  <a:tcPr marL="12700" marR="12700" marT="12700" marB="12700" anchor="ctr" horzOverflow="overflow"/>
                </a:tc>
                <a:extLst>
                  <a:ext uri="{0D108BD9-81ED-4DB2-BD59-A6C34878D82A}">
                    <a16:rowId xmlns:a16="http://schemas.microsoft.com/office/drawing/2014/main" val="10000"/>
                  </a:ext>
                </a:extLst>
              </a:tr>
              <a:tr h="581359">
                <a:tc>
                  <a:txBody>
                    <a:bodyPr/>
                    <a:lstStyle/>
                    <a:p>
                      <a:pPr algn="ctr">
                        <a:defRPr sz="1800"/>
                      </a:pPr>
                      <a:r>
                        <a:rPr sz="1200" b="1">
                          <a:latin typeface="Times Roman"/>
                          <a:ea typeface="Times Roman"/>
                          <a:cs typeface="Times Roman"/>
                          <a:sym typeface="Times Roman"/>
                        </a:rPr>
                        <a:t>US_03</a:t>
                      </a:r>
                    </a:p>
                  </a:txBody>
                  <a:tcPr marL="12700" marR="12700" marT="12700" marB="12700" anchor="ctr" horzOverflow="overflow"/>
                </a:tc>
                <a:tc>
                  <a:txBody>
                    <a:bodyPr/>
                    <a:lstStyle/>
                    <a:p>
                      <a:pPr algn="l">
                        <a:defRPr sz="1800"/>
                      </a:pPr>
                      <a:r>
                        <a:rPr sz="1200">
                          <a:latin typeface="Times Roman"/>
                          <a:ea typeface="Times Roman"/>
                          <a:cs typeface="Times Roman"/>
                          <a:sym typeface="Times Roman"/>
                        </a:rPr>
                        <a:t>As a contributor, I want to get a refund if the campaign fails so that I don’t lose my funds</a:t>
                      </a:r>
                    </a:p>
                  </a:txBody>
                  <a:tcPr marL="12700" marR="12700" marT="12700" marB="12700" anchor="ctr" horzOverflow="overflow"/>
                </a:tc>
                <a:tc>
                  <a:txBody>
                    <a:bodyPr/>
                    <a:lstStyle/>
                    <a:p>
                      <a:pPr algn="ctr">
                        <a:defRPr sz="1800"/>
                      </a:pPr>
                      <a:r>
                        <a:rPr sz="1200" b="1">
                          <a:latin typeface="Times Roman"/>
                          <a:ea typeface="Times Roman"/>
                          <a:cs typeface="Times Roman"/>
                          <a:sym typeface="Times Roman"/>
                        </a:rPr>
                        <a:t>Nov 15 → Nov 20</a:t>
                      </a:r>
                    </a:p>
                  </a:txBody>
                  <a:tcPr marL="12700" marR="12700" marT="12700" marB="12700" anchor="ctr" horzOverflow="overflow"/>
                </a:tc>
                <a:tc>
                  <a:txBody>
                    <a:bodyPr/>
                    <a:lstStyle/>
                    <a:p>
                      <a:pPr marL="120315" indent="-120315" algn="l">
                        <a:buSzPct val="100000"/>
                        <a:buChar char="•"/>
                        <a:defRPr sz="1200">
                          <a:latin typeface="Times Roman"/>
                          <a:ea typeface="Times Roman"/>
                          <a:cs typeface="Times Roman"/>
                          <a:sym typeface="Times Roman"/>
                        </a:defRPr>
                      </a:pPr>
                      <a:r>
                        <a:t>Implement refund logic in smart contract</a:t>
                      </a:r>
                    </a:p>
                    <a:p>
                      <a:pPr marL="120315" indent="-120315" algn="l">
                        <a:buSzPct val="100000"/>
                        <a:buChar char="•"/>
                        <a:defRPr sz="1200">
                          <a:latin typeface="Times Roman"/>
                          <a:ea typeface="Times Roman"/>
                          <a:cs typeface="Times Roman"/>
                          <a:sym typeface="Times Roman"/>
                        </a:defRPr>
                      </a:pPr>
                      <a:r>
                        <a:t>Validate deadline &amp; target conditions</a:t>
                      </a:r>
                    </a:p>
                    <a:p>
                      <a:pPr marL="120315" indent="-120315" algn="l">
                        <a:buSzPct val="100000"/>
                        <a:buChar char="•"/>
                        <a:defRPr sz="1200">
                          <a:latin typeface="Times Roman"/>
                          <a:ea typeface="Times Roman"/>
                          <a:cs typeface="Times Roman"/>
                          <a:sym typeface="Times Roman"/>
                        </a:defRPr>
                      </a:pPr>
                      <a:r>
                        <a:t>Clear contributor record after refund</a:t>
                      </a:r>
                    </a:p>
                    <a:p>
                      <a:pPr marL="120315" indent="-120315" algn="l">
                        <a:buSzPct val="100000"/>
                        <a:buChar char="•"/>
                        <a:defRPr sz="1200">
                          <a:latin typeface="Times Roman"/>
                          <a:ea typeface="Times Roman"/>
                          <a:cs typeface="Times Roman"/>
                          <a:sym typeface="Times Roman"/>
                        </a:defRPr>
                      </a:pPr>
                      <a:r>
                        <a:t>Test refund success &amp; failure cases</a:t>
                      </a:r>
                    </a:p>
                  </a:txBody>
                  <a:tcPr marL="12700" marR="12700" marT="12700" marB="12700" anchor="ctr" horzOverflow="overflow"/>
                </a:tc>
                <a:tc>
                  <a:txBody>
                    <a:bodyPr/>
                    <a:lstStyle/>
                    <a:p>
                      <a:pPr algn="ctr">
                        <a:defRPr sz="1800"/>
                      </a:pPr>
                      <a:r>
                        <a:rPr sz="1200">
                          <a:latin typeface="Times Roman"/>
                          <a:ea typeface="Times Roman"/>
                          <a:cs typeface="Times Roman"/>
                          <a:sym typeface="Times Roman"/>
                        </a:rPr>
                        <a:t>5</a:t>
                      </a:r>
                    </a:p>
                  </a:txBody>
                  <a:tcPr marL="12700" marR="12700" marT="12700" marB="12700" anchor="ctr" horzOverflow="overflow"/>
                </a:tc>
                <a:tc>
                  <a:txBody>
                    <a:bodyPr/>
                    <a:lstStyle/>
                    <a:p>
                      <a:pPr algn="ctr">
                        <a:defRPr sz="1800"/>
                      </a:pPr>
                      <a:r>
                        <a:rPr sz="1200">
                          <a:latin typeface="Times Roman"/>
                          <a:ea typeface="Times Roman"/>
                          <a:cs typeface="Times Roman"/>
                          <a:sym typeface="Times Roman"/>
                        </a:rPr>
                        <a:t>5</a:t>
                      </a:r>
                    </a:p>
                  </a:txBody>
                  <a:tcPr marL="12700" marR="12700" marT="12700" marB="12700" anchor="ctr" horzOverflow="overflow"/>
                </a:tc>
                <a:extLst>
                  <a:ext uri="{0D108BD9-81ED-4DB2-BD59-A6C34878D82A}">
                    <a16:rowId xmlns:a16="http://schemas.microsoft.com/office/drawing/2014/main" val="10001"/>
                  </a:ext>
                </a:extLst>
              </a:tr>
              <a:tr h="581359">
                <a:tc>
                  <a:txBody>
                    <a:bodyPr/>
                    <a:lstStyle/>
                    <a:p>
                      <a:pPr algn="ctr">
                        <a:defRPr sz="1800"/>
                      </a:pPr>
                      <a:r>
                        <a:rPr sz="1200" b="1">
                          <a:latin typeface="Times Roman"/>
                          <a:ea typeface="Times Roman"/>
                          <a:cs typeface="Times Roman"/>
                          <a:sym typeface="Times Roman"/>
                        </a:rPr>
                        <a:t>US_07</a:t>
                      </a:r>
                    </a:p>
                  </a:txBody>
                  <a:tcPr marL="12700" marR="12700" marT="12700" marB="12700" anchor="ctr" horzOverflow="overflow"/>
                </a:tc>
                <a:tc>
                  <a:txBody>
                    <a:bodyPr/>
                    <a:lstStyle/>
                    <a:p>
                      <a:pPr algn="l">
                        <a:defRPr sz="1800"/>
                      </a:pPr>
                      <a:r>
                        <a:rPr sz="1200">
                          <a:latin typeface="Times Roman"/>
                          <a:ea typeface="Times Roman"/>
                          <a:cs typeface="Times Roman"/>
                          <a:sym typeface="Times Roman"/>
                        </a:rPr>
                        <a:t>As a user, I want to view all campaigns with details so that I can choose which to support</a:t>
                      </a:r>
                    </a:p>
                  </a:txBody>
                  <a:tcPr marL="12700" marR="12700" marT="12700" marB="12700" anchor="ctr" horzOverflow="overflow"/>
                </a:tc>
                <a:tc>
                  <a:txBody>
                    <a:bodyPr/>
                    <a:lstStyle/>
                    <a:p>
                      <a:pPr algn="ctr">
                        <a:defRPr sz="1800"/>
                      </a:pPr>
                      <a:r>
                        <a:rPr sz="1200" b="1">
                          <a:latin typeface="Times Roman"/>
                          <a:ea typeface="Times Roman"/>
                          <a:cs typeface="Times Roman"/>
                          <a:sym typeface="Times Roman"/>
                        </a:rPr>
                        <a:t>Nov 21 → Nov 24</a:t>
                      </a:r>
                    </a:p>
                  </a:txBody>
                  <a:tcPr marL="12700" marR="12700" marT="12700" marB="12700" anchor="ctr" horzOverflow="overflow"/>
                </a:tc>
                <a:tc>
                  <a:txBody>
                    <a:bodyPr/>
                    <a:lstStyle/>
                    <a:p>
                      <a:pPr marL="120315" indent="-120315" algn="l">
                        <a:buSzPct val="100000"/>
                        <a:buChar char="•"/>
                        <a:defRPr sz="1200">
                          <a:latin typeface="Times Roman"/>
                          <a:ea typeface="Times Roman"/>
                          <a:cs typeface="Times Roman"/>
                          <a:sym typeface="Times Roman"/>
                        </a:defRPr>
                      </a:pPr>
                      <a:r>
                        <a:t>Fetch campaign data from contract Display goal &amp; raised amount</a:t>
                      </a:r>
                    </a:p>
                    <a:p>
                      <a:pPr marL="120315" indent="-120315" algn="l">
                        <a:buSzPct val="100000"/>
                        <a:buChar char="•"/>
                        <a:defRPr sz="1200">
                          <a:latin typeface="Times Roman"/>
                          <a:ea typeface="Times Roman"/>
                          <a:cs typeface="Times Roman"/>
                          <a:sym typeface="Times Roman"/>
                        </a:defRPr>
                      </a:pPr>
                      <a:r>
                        <a:t>Display campaign status</a:t>
                      </a:r>
                    </a:p>
                    <a:p>
                      <a:pPr marL="120315" indent="-120315" algn="l">
                        <a:buSzPct val="100000"/>
                        <a:buChar char="•"/>
                        <a:defRPr sz="1200">
                          <a:latin typeface="Times Roman"/>
                          <a:ea typeface="Times Roman"/>
                          <a:cs typeface="Times Roman"/>
                          <a:sym typeface="Times Roman"/>
                        </a:defRPr>
                      </a:pPr>
                      <a:r>
                        <a:t>Handle empty campaign list</a:t>
                      </a:r>
                    </a:p>
                  </a:txBody>
                  <a:tcPr marL="12700" marR="12700" marT="12700" marB="12700" anchor="ctr" horzOverflow="overflow"/>
                </a:tc>
                <a:tc>
                  <a:txBody>
                    <a:bodyPr/>
                    <a:lstStyle/>
                    <a:p>
                      <a:pPr algn="ctr">
                        <a:defRPr sz="1800"/>
                      </a:pPr>
                      <a:r>
                        <a:rPr sz="1200">
                          <a:latin typeface="Times Roman"/>
                          <a:ea typeface="Times Roman"/>
                          <a:cs typeface="Times Roman"/>
                          <a:sym typeface="Times Roman"/>
                        </a:rPr>
                        <a:t>5</a:t>
                      </a:r>
                    </a:p>
                  </a:txBody>
                  <a:tcPr marL="12700" marR="12700" marT="12700" marB="12700" anchor="ctr" horzOverflow="overflow"/>
                </a:tc>
                <a:tc>
                  <a:txBody>
                    <a:bodyPr/>
                    <a:lstStyle/>
                    <a:p>
                      <a:pPr algn="ctr">
                        <a:defRPr sz="1800"/>
                      </a:pPr>
                      <a:r>
                        <a:rPr sz="1200">
                          <a:latin typeface="Times Roman"/>
                          <a:ea typeface="Times Roman"/>
                          <a:cs typeface="Times Roman"/>
                          <a:sym typeface="Times Roman"/>
                        </a:rPr>
                        <a:t>5</a:t>
                      </a:r>
                    </a:p>
                  </a:txBody>
                  <a:tcPr marL="12700" marR="12700" marT="12700" marB="12700" anchor="ctr" horzOverflow="overflow"/>
                </a:tc>
                <a:extLst>
                  <a:ext uri="{0D108BD9-81ED-4DB2-BD59-A6C34878D82A}">
                    <a16:rowId xmlns:a16="http://schemas.microsoft.com/office/drawing/2014/main" val="10002"/>
                  </a:ext>
                </a:extLst>
              </a:tr>
              <a:tr h="581359">
                <a:tc>
                  <a:txBody>
                    <a:bodyPr/>
                    <a:lstStyle/>
                    <a:p>
                      <a:pPr algn="ctr">
                        <a:defRPr sz="1800"/>
                      </a:pPr>
                      <a:r>
                        <a:rPr sz="1200" b="1">
                          <a:latin typeface="Times Roman"/>
                          <a:ea typeface="Times Roman"/>
                          <a:cs typeface="Times Roman"/>
                          <a:sym typeface="Times Roman"/>
                        </a:rPr>
                        <a:t>US_08</a:t>
                      </a:r>
                    </a:p>
                  </a:txBody>
                  <a:tcPr marL="12700" marR="12700" marT="12700" marB="12700" anchor="ctr" horzOverflow="overflow"/>
                </a:tc>
                <a:tc>
                  <a:txBody>
                    <a:bodyPr/>
                    <a:lstStyle/>
                    <a:p>
                      <a:pPr algn="l">
                        <a:defRPr sz="1800"/>
                      </a:pPr>
                      <a:r>
                        <a:rPr sz="1200">
                          <a:latin typeface="Times Roman"/>
                          <a:ea typeface="Times Roman"/>
                          <a:cs typeface="Times Roman"/>
                          <a:sym typeface="Times Roman"/>
                        </a:rPr>
                        <a:t>As a user, I want to see campaign status so that I know whether it’s active, successful, or failed</a:t>
                      </a:r>
                    </a:p>
                  </a:txBody>
                  <a:tcPr marL="12700" marR="12700" marT="12700" marB="12700" anchor="ctr" horzOverflow="overflow"/>
                </a:tc>
                <a:tc>
                  <a:txBody>
                    <a:bodyPr/>
                    <a:lstStyle/>
                    <a:p>
                      <a:pPr algn="ctr">
                        <a:defRPr sz="1800"/>
                      </a:pPr>
                      <a:r>
                        <a:rPr sz="1200" b="1">
                          <a:latin typeface="Times Roman"/>
                          <a:ea typeface="Times Roman"/>
                          <a:cs typeface="Times Roman"/>
                          <a:sym typeface="Times Roman"/>
                        </a:rPr>
                        <a:t>Dec 2 → Dec 4</a:t>
                      </a:r>
                    </a:p>
                  </a:txBody>
                  <a:tcPr marL="12700" marR="12700" marT="12700" marB="12700" anchor="ctr" horzOverflow="overflow"/>
                </a:tc>
                <a:tc>
                  <a:txBody>
                    <a:bodyPr/>
                    <a:lstStyle/>
                    <a:p>
                      <a:pPr marL="120315" indent="-120315" algn="l">
                        <a:buSzPct val="100000"/>
                        <a:buChar char="•"/>
                        <a:defRPr sz="1200">
                          <a:latin typeface="Times Roman"/>
                          <a:ea typeface="Times Roman"/>
                          <a:cs typeface="Times Roman"/>
                          <a:sym typeface="Times Roman"/>
                        </a:defRPr>
                      </a:pPr>
                      <a:r>
                        <a:t>Define status rules (Active/Successful/Failed)</a:t>
                      </a:r>
                    </a:p>
                    <a:p>
                      <a:pPr marL="120315" indent="-120315" algn="l">
                        <a:buSzPct val="100000"/>
                        <a:buChar char="•"/>
                        <a:defRPr sz="1200">
                          <a:latin typeface="Times Roman"/>
                          <a:ea typeface="Times Roman"/>
                          <a:cs typeface="Times Roman"/>
                          <a:sym typeface="Times Roman"/>
                        </a:defRPr>
                      </a:pPr>
                      <a:r>
                        <a:t>Compare deadline and target values</a:t>
                      </a:r>
                    </a:p>
                    <a:p>
                      <a:pPr marL="120315" indent="-120315" algn="l">
                        <a:buSzPct val="100000"/>
                        <a:buChar char="•"/>
                        <a:defRPr sz="1200">
                          <a:latin typeface="Times Roman"/>
                          <a:ea typeface="Times Roman"/>
                          <a:cs typeface="Times Roman"/>
                          <a:sym typeface="Times Roman"/>
                        </a:defRPr>
                      </a:pPr>
                      <a:r>
                        <a:t>Update status dynamically</a:t>
                      </a:r>
                    </a:p>
                    <a:p>
                      <a:pPr marL="120315" indent="-120315" algn="l">
                        <a:buSzPct val="100000"/>
                        <a:buChar char="•"/>
                        <a:defRPr sz="1200">
                          <a:latin typeface="Times Roman"/>
                          <a:ea typeface="Times Roman"/>
                          <a:cs typeface="Times Roman"/>
                          <a:sym typeface="Times Roman"/>
                        </a:defRPr>
                      </a:pPr>
                      <a:r>
                        <a:t>Verify status with test data</a:t>
                      </a:r>
                    </a:p>
                  </a:txBody>
                  <a:tcPr marL="12700" marR="12700" marT="12700" marB="12700" anchor="ctr" horzOverflow="overflow"/>
                </a:tc>
                <a:tc>
                  <a:txBody>
                    <a:bodyPr/>
                    <a:lstStyle/>
                    <a:p>
                      <a:pPr algn="ctr">
                        <a:defRPr sz="1800"/>
                      </a:pPr>
                      <a:r>
                        <a:rPr sz="1200">
                          <a:latin typeface="Times Roman"/>
                          <a:ea typeface="Times Roman"/>
                          <a:cs typeface="Times Roman"/>
                          <a:sym typeface="Times Roman"/>
                        </a:rPr>
                        <a:t>3</a:t>
                      </a:r>
                    </a:p>
                  </a:txBody>
                  <a:tcPr marL="12700" marR="12700" marT="12700" marB="12700" anchor="ctr" horzOverflow="overflow"/>
                </a:tc>
                <a:tc>
                  <a:txBody>
                    <a:bodyPr/>
                    <a:lstStyle/>
                    <a:p>
                      <a:pPr algn="ctr">
                        <a:defRPr sz="1800"/>
                      </a:pPr>
                      <a:r>
                        <a:rPr sz="1200">
                          <a:latin typeface="Times Roman"/>
                          <a:ea typeface="Times Roman"/>
                          <a:cs typeface="Times Roman"/>
                          <a:sym typeface="Times Roman"/>
                        </a:rPr>
                        <a:t>3</a:t>
                      </a:r>
                    </a:p>
                  </a:txBody>
                  <a:tcPr marL="12700" marR="12700" marT="12700" marB="12700" anchor="ctr" horzOverflow="overflow"/>
                </a:tc>
                <a:extLst>
                  <a:ext uri="{0D108BD9-81ED-4DB2-BD59-A6C34878D82A}">
                    <a16:rowId xmlns:a16="http://schemas.microsoft.com/office/drawing/2014/main" val="10003"/>
                  </a:ext>
                </a:extLst>
              </a:tr>
            </a:tbl>
          </a:graphicData>
        </a:graphic>
      </p:graphicFrame>
    </p:spTree>
  </p:cSld>
  <p:clrMapOvr>
    <a:masterClrMapping/>
  </p:clrMapOvr>
  <p:transition spd="me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8" name="Title 1"/>
          <p:cNvSpPr txBox="1">
            <a:spLocks noGrp="1"/>
          </p:cNvSpPr>
          <p:nvPr>
            <p:ph type="title"/>
          </p:nvPr>
        </p:nvSpPr>
        <p:spPr>
          <a:xfrm>
            <a:off x="581609" y="349566"/>
            <a:ext cx="7772401" cy="943896"/>
          </a:xfrm>
          <a:prstGeom prst="rect">
            <a:avLst/>
          </a:prstGeom>
        </p:spPr>
        <p:txBody>
          <a:bodyPr/>
          <a:lstStyle>
            <a:lvl1pPr>
              <a:defRPr>
                <a:latin typeface="Times New Roman"/>
                <a:ea typeface="Times New Roman"/>
                <a:cs typeface="Times New Roman"/>
                <a:sym typeface="Times New Roman"/>
              </a:defRPr>
            </a:lvl1pPr>
          </a:lstStyle>
          <a:p>
            <a:r>
              <a:t>Metrics: sprint 2</a:t>
            </a:r>
          </a:p>
        </p:txBody>
      </p:sp>
      <p:sp>
        <p:nvSpPr>
          <p:cNvPr id="309" name="Title 1"/>
          <p:cNvSpPr txBox="1"/>
          <p:nvPr/>
        </p:nvSpPr>
        <p:spPr>
          <a:xfrm>
            <a:off x="631090" y="1832332"/>
            <a:ext cx="7772401" cy="94389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normAutofit/>
          </a:bodyPr>
          <a:lstStyle>
            <a:lvl1pPr>
              <a:defRPr sz="2300" cap="all">
                <a:solidFill>
                  <a:srgbClr val="FFFFFF"/>
                </a:solidFill>
                <a:latin typeface="Times New Roman"/>
                <a:ea typeface="Times New Roman"/>
                <a:cs typeface="Times New Roman"/>
                <a:sym typeface="Times New Roman"/>
              </a:defRPr>
            </a:lvl1pPr>
          </a:lstStyle>
          <a:p>
            <a:r>
              <a:t>Team Velocity</a:t>
            </a:r>
          </a:p>
        </p:txBody>
      </p:sp>
      <p:graphicFrame>
        <p:nvGraphicFramePr>
          <p:cNvPr id="310" name="Table 1"/>
          <p:cNvGraphicFramePr/>
          <p:nvPr/>
        </p:nvGraphicFramePr>
        <p:xfrm>
          <a:off x="653472" y="2745509"/>
          <a:ext cx="8041208" cy="1601044"/>
        </p:xfrm>
        <a:graphic>
          <a:graphicData uri="http://schemas.openxmlformats.org/drawingml/2006/table">
            <a:tbl>
              <a:tblPr bandRow="1">
                <a:tableStyleId>{4C3C2611-4C71-4FC5-86AE-919BDF0F9419}</a:tableStyleId>
              </a:tblPr>
              <a:tblGrid>
                <a:gridCol w="1115462">
                  <a:extLst>
                    <a:ext uri="{9D8B030D-6E8A-4147-A177-3AD203B41FA5}">
                      <a16:colId xmlns:a16="http://schemas.microsoft.com/office/drawing/2014/main" val="20000"/>
                    </a:ext>
                  </a:extLst>
                </a:gridCol>
                <a:gridCol w="3368846">
                  <a:extLst>
                    <a:ext uri="{9D8B030D-6E8A-4147-A177-3AD203B41FA5}">
                      <a16:colId xmlns:a16="http://schemas.microsoft.com/office/drawing/2014/main" val="20001"/>
                    </a:ext>
                  </a:extLst>
                </a:gridCol>
                <a:gridCol w="1296583">
                  <a:extLst>
                    <a:ext uri="{9D8B030D-6E8A-4147-A177-3AD203B41FA5}">
                      <a16:colId xmlns:a16="http://schemas.microsoft.com/office/drawing/2014/main" val="20002"/>
                    </a:ext>
                  </a:extLst>
                </a:gridCol>
                <a:gridCol w="1249496">
                  <a:extLst>
                    <a:ext uri="{9D8B030D-6E8A-4147-A177-3AD203B41FA5}">
                      <a16:colId xmlns:a16="http://schemas.microsoft.com/office/drawing/2014/main" val="20003"/>
                    </a:ext>
                  </a:extLst>
                </a:gridCol>
                <a:gridCol w="1010821">
                  <a:extLst>
                    <a:ext uri="{9D8B030D-6E8A-4147-A177-3AD203B41FA5}">
                      <a16:colId xmlns:a16="http://schemas.microsoft.com/office/drawing/2014/main" val="20004"/>
                    </a:ext>
                  </a:extLst>
                </a:gridCol>
              </a:tblGrid>
              <a:tr h="400261">
                <a:tc>
                  <a:txBody>
                    <a:bodyPr/>
                    <a:lstStyle/>
                    <a:p>
                      <a:pPr algn="ctr">
                        <a:defRPr sz="1800"/>
                      </a:pPr>
                      <a:r>
                        <a:rPr sz="1200" b="1">
                          <a:latin typeface="Times Roman"/>
                          <a:ea typeface="Times Roman"/>
                          <a:cs typeface="Times Roman"/>
                          <a:sym typeface="Times Roman"/>
                        </a:rPr>
                        <a:t>User Story ID</a:t>
                      </a:r>
                    </a:p>
                  </a:txBody>
                  <a:tcPr marL="12700" marR="12700" marT="12700" marB="12700" anchor="ctr" horzOverflow="overflow"/>
                </a:tc>
                <a:tc>
                  <a:txBody>
                    <a:bodyPr/>
                    <a:lstStyle/>
                    <a:p>
                      <a:pPr algn="ctr">
                        <a:defRPr sz="1800"/>
                      </a:pPr>
                      <a:r>
                        <a:rPr sz="1200" b="1">
                          <a:latin typeface="Times Roman"/>
                          <a:ea typeface="Times Roman"/>
                          <a:cs typeface="Times Roman"/>
                          <a:sym typeface="Times Roman"/>
                        </a:rPr>
                        <a:t>User Story Description</a:t>
                      </a:r>
                    </a:p>
                  </a:txBody>
                  <a:tcPr marL="12700" marR="12700" marT="12700" marB="12700" anchor="ctr" horzOverflow="overflow"/>
                </a:tc>
                <a:tc>
                  <a:txBody>
                    <a:bodyPr/>
                    <a:lstStyle/>
                    <a:p>
                      <a:pPr algn="ctr">
                        <a:defRPr sz="1800"/>
                      </a:pPr>
                      <a:r>
                        <a:rPr sz="1200" b="1">
                          <a:latin typeface="Times Roman"/>
                          <a:ea typeface="Times Roman"/>
                          <a:cs typeface="Times Roman"/>
                          <a:sym typeface="Times Roman"/>
                        </a:rPr>
                        <a:t>Story Points</a:t>
                      </a:r>
                    </a:p>
                  </a:txBody>
                  <a:tcPr marL="12700" marR="12700" marT="12700" marB="12700" anchor="ctr" horzOverflow="overflow"/>
                </a:tc>
                <a:tc>
                  <a:txBody>
                    <a:bodyPr/>
                    <a:lstStyle/>
                    <a:p>
                      <a:pPr algn="ctr">
                        <a:defRPr sz="1800"/>
                      </a:pPr>
                      <a:r>
                        <a:rPr sz="1200" b="1">
                          <a:latin typeface="Times Roman"/>
                          <a:ea typeface="Times Roman"/>
                          <a:cs typeface="Times Roman"/>
                          <a:sym typeface="Times Roman"/>
                        </a:rPr>
                        <a:t>Status</a:t>
                      </a:r>
                    </a:p>
                  </a:txBody>
                  <a:tcPr marL="12700" marR="12700" marT="12700" marB="12700" anchor="ctr" horzOverflow="overflow"/>
                </a:tc>
                <a:tc>
                  <a:txBody>
                    <a:bodyPr/>
                    <a:lstStyle/>
                    <a:p>
                      <a:pPr algn="ctr">
                        <a:defRPr sz="1800"/>
                      </a:pPr>
                      <a:r>
                        <a:rPr sz="1200" b="1">
                          <a:latin typeface="Times Roman"/>
                          <a:ea typeface="Times Roman"/>
                          <a:cs typeface="Times Roman"/>
                          <a:sym typeface="Times Roman"/>
                        </a:rPr>
                        <a:t>Completed Points</a:t>
                      </a:r>
                    </a:p>
                  </a:txBody>
                  <a:tcPr marL="12700" marR="12700" marT="12700" marB="12700" anchor="ctr" horzOverflow="overflow"/>
                </a:tc>
                <a:extLst>
                  <a:ext uri="{0D108BD9-81ED-4DB2-BD59-A6C34878D82A}">
                    <a16:rowId xmlns:a16="http://schemas.microsoft.com/office/drawing/2014/main" val="10000"/>
                  </a:ext>
                </a:extLst>
              </a:tr>
              <a:tr h="400261">
                <a:tc>
                  <a:txBody>
                    <a:bodyPr/>
                    <a:lstStyle/>
                    <a:p>
                      <a:pPr algn="ctr">
                        <a:defRPr sz="1800"/>
                      </a:pPr>
                      <a:r>
                        <a:rPr sz="1200">
                          <a:latin typeface="Times Roman"/>
                          <a:ea typeface="Times Roman"/>
                          <a:cs typeface="Times Roman"/>
                          <a:sym typeface="Times Roman"/>
                        </a:rPr>
                        <a:t>US_03</a:t>
                      </a:r>
                    </a:p>
                  </a:txBody>
                  <a:tcPr marL="12700" marR="12700" marT="12700" marB="12700" anchor="ctr" horzOverflow="overflow"/>
                </a:tc>
                <a:tc>
                  <a:txBody>
                    <a:bodyPr/>
                    <a:lstStyle/>
                    <a:p>
                      <a:pPr algn="l">
                        <a:defRPr sz="1800"/>
                      </a:pPr>
                      <a:r>
                        <a:rPr sz="1200">
                          <a:latin typeface="Times Roman"/>
                          <a:ea typeface="Times Roman"/>
                          <a:cs typeface="Times Roman"/>
                          <a:sym typeface="Times Roman"/>
                        </a:rPr>
                        <a:t>As a contributor, I want to get a refund if the campaign fails so that I don’t lose my funds</a:t>
                      </a:r>
                    </a:p>
                  </a:txBody>
                  <a:tcPr marL="12700" marR="12700" marT="12700" marB="12700" anchor="ctr" horzOverflow="overflow"/>
                </a:tc>
                <a:tc>
                  <a:txBody>
                    <a:bodyPr/>
                    <a:lstStyle/>
                    <a:p>
                      <a:pPr algn="ctr">
                        <a:defRPr sz="1800"/>
                      </a:pPr>
                      <a:r>
                        <a:rPr sz="1200">
                          <a:latin typeface="Times Roman"/>
                          <a:ea typeface="Times Roman"/>
                          <a:cs typeface="Times Roman"/>
                          <a:sym typeface="Times Roman"/>
                        </a:rPr>
                        <a:t>5</a:t>
                      </a:r>
                    </a:p>
                  </a:txBody>
                  <a:tcPr marL="12700" marR="12700" marT="12700" marB="12700" anchor="ctr" horzOverflow="overflow"/>
                </a:tc>
                <a:tc>
                  <a:txBody>
                    <a:bodyPr/>
                    <a:lstStyle/>
                    <a:p>
                      <a:pPr algn="ctr">
                        <a:defRPr sz="1800"/>
                      </a:pPr>
                      <a:r>
                        <a:rPr sz="1200">
                          <a:solidFill>
                            <a:schemeClr val="accent6">
                              <a:satOff val="-12774"/>
                              <a:lumOff val="-12156"/>
                            </a:schemeClr>
                          </a:solidFill>
                          <a:latin typeface="Times Roman"/>
                          <a:ea typeface="Times Roman"/>
                          <a:cs typeface="Times Roman"/>
                          <a:sym typeface="Times Roman"/>
                        </a:rPr>
                        <a:t>Completed</a:t>
                      </a:r>
                    </a:p>
                  </a:txBody>
                  <a:tcPr marL="12700" marR="12700" marT="12700" marB="12700" anchor="ctr" horzOverflow="overflow"/>
                </a:tc>
                <a:tc>
                  <a:txBody>
                    <a:bodyPr/>
                    <a:lstStyle/>
                    <a:p>
                      <a:pPr algn="ctr">
                        <a:defRPr sz="1800"/>
                      </a:pPr>
                      <a:r>
                        <a:rPr sz="1200">
                          <a:latin typeface="Times Roman"/>
                          <a:ea typeface="Times Roman"/>
                          <a:cs typeface="Times Roman"/>
                          <a:sym typeface="Times Roman"/>
                        </a:rPr>
                        <a:t>5</a:t>
                      </a:r>
                    </a:p>
                  </a:txBody>
                  <a:tcPr marL="12700" marR="12700" marT="12700" marB="12700" anchor="ctr" horzOverflow="overflow"/>
                </a:tc>
                <a:extLst>
                  <a:ext uri="{0D108BD9-81ED-4DB2-BD59-A6C34878D82A}">
                    <a16:rowId xmlns:a16="http://schemas.microsoft.com/office/drawing/2014/main" val="10001"/>
                  </a:ext>
                </a:extLst>
              </a:tr>
              <a:tr h="400261">
                <a:tc>
                  <a:txBody>
                    <a:bodyPr/>
                    <a:lstStyle/>
                    <a:p>
                      <a:pPr algn="ctr">
                        <a:defRPr sz="1800"/>
                      </a:pPr>
                      <a:r>
                        <a:rPr sz="1200">
                          <a:latin typeface="Times Roman"/>
                          <a:ea typeface="Times Roman"/>
                          <a:cs typeface="Times Roman"/>
                          <a:sym typeface="Times Roman"/>
                        </a:rPr>
                        <a:t>US_07</a:t>
                      </a:r>
                    </a:p>
                  </a:txBody>
                  <a:tcPr marL="12700" marR="12700" marT="12700" marB="12700" anchor="ctr" horzOverflow="overflow"/>
                </a:tc>
                <a:tc>
                  <a:txBody>
                    <a:bodyPr/>
                    <a:lstStyle/>
                    <a:p>
                      <a:pPr algn="l">
                        <a:defRPr sz="1800"/>
                      </a:pPr>
                      <a:r>
                        <a:rPr sz="1200">
                          <a:latin typeface="Times Roman"/>
                          <a:ea typeface="Times Roman"/>
                          <a:cs typeface="Times Roman"/>
                          <a:sym typeface="Times Roman"/>
                        </a:rPr>
                        <a:t>As a user, I want to view all campaigns with details so that I can choose which to support</a:t>
                      </a:r>
                    </a:p>
                  </a:txBody>
                  <a:tcPr marL="12700" marR="12700" marT="12700" marB="12700" anchor="ctr" horzOverflow="overflow"/>
                </a:tc>
                <a:tc>
                  <a:txBody>
                    <a:bodyPr/>
                    <a:lstStyle/>
                    <a:p>
                      <a:pPr algn="ctr">
                        <a:defRPr sz="1800"/>
                      </a:pPr>
                      <a:r>
                        <a:rPr sz="1200">
                          <a:latin typeface="Times Roman"/>
                          <a:ea typeface="Times Roman"/>
                          <a:cs typeface="Times Roman"/>
                          <a:sym typeface="Times Roman"/>
                        </a:rPr>
                        <a:t>5</a:t>
                      </a:r>
                    </a:p>
                  </a:txBody>
                  <a:tcPr marL="12700" marR="12700" marT="12700" marB="12700" anchor="ctr" horzOverflow="overflow"/>
                </a:tc>
                <a:tc>
                  <a:txBody>
                    <a:bodyPr/>
                    <a:lstStyle/>
                    <a:p>
                      <a:pPr algn="ctr">
                        <a:defRPr sz="1800"/>
                      </a:pPr>
                      <a:r>
                        <a:rPr sz="1200">
                          <a:solidFill>
                            <a:schemeClr val="accent6">
                              <a:satOff val="-12774"/>
                              <a:lumOff val="-12156"/>
                            </a:schemeClr>
                          </a:solidFill>
                          <a:latin typeface="Times Roman"/>
                          <a:ea typeface="Times Roman"/>
                          <a:cs typeface="Times Roman"/>
                          <a:sym typeface="Times Roman"/>
                        </a:rPr>
                        <a:t>Completed</a:t>
                      </a:r>
                    </a:p>
                  </a:txBody>
                  <a:tcPr marL="12700" marR="12700" marT="12700" marB="12700" anchor="ctr" horzOverflow="overflow"/>
                </a:tc>
                <a:tc>
                  <a:txBody>
                    <a:bodyPr/>
                    <a:lstStyle/>
                    <a:p>
                      <a:pPr algn="ctr">
                        <a:defRPr sz="1800"/>
                      </a:pPr>
                      <a:r>
                        <a:rPr sz="1200">
                          <a:latin typeface="Times Roman"/>
                          <a:ea typeface="Times Roman"/>
                          <a:cs typeface="Times Roman"/>
                          <a:sym typeface="Times Roman"/>
                        </a:rPr>
                        <a:t>5</a:t>
                      </a:r>
                    </a:p>
                  </a:txBody>
                  <a:tcPr marL="12700" marR="12700" marT="12700" marB="12700" anchor="ctr" horzOverflow="overflow"/>
                </a:tc>
                <a:extLst>
                  <a:ext uri="{0D108BD9-81ED-4DB2-BD59-A6C34878D82A}">
                    <a16:rowId xmlns:a16="http://schemas.microsoft.com/office/drawing/2014/main" val="10002"/>
                  </a:ext>
                </a:extLst>
              </a:tr>
              <a:tr h="400261">
                <a:tc>
                  <a:txBody>
                    <a:bodyPr/>
                    <a:lstStyle/>
                    <a:p>
                      <a:pPr algn="ctr">
                        <a:defRPr sz="1800"/>
                      </a:pPr>
                      <a:r>
                        <a:rPr sz="1200">
                          <a:latin typeface="Times Roman"/>
                          <a:ea typeface="Times Roman"/>
                          <a:cs typeface="Times Roman"/>
                          <a:sym typeface="Times Roman"/>
                        </a:rPr>
                        <a:t>US_08</a:t>
                      </a:r>
                    </a:p>
                  </a:txBody>
                  <a:tcPr marL="12700" marR="12700" marT="12700" marB="12700" anchor="ctr" horzOverflow="overflow"/>
                </a:tc>
                <a:tc>
                  <a:txBody>
                    <a:bodyPr/>
                    <a:lstStyle/>
                    <a:p>
                      <a:pPr algn="l">
                        <a:defRPr sz="1800"/>
                      </a:pPr>
                      <a:r>
                        <a:rPr sz="1200">
                          <a:latin typeface="Times Roman"/>
                          <a:ea typeface="Times Roman"/>
                          <a:cs typeface="Times Roman"/>
                          <a:sym typeface="Times Roman"/>
                        </a:rPr>
                        <a:t>As a user, I want to see campaign status so that I know whether it’s active, successful, or failed</a:t>
                      </a:r>
                    </a:p>
                  </a:txBody>
                  <a:tcPr marL="12700" marR="12700" marT="12700" marB="12700" anchor="ctr" horzOverflow="overflow"/>
                </a:tc>
                <a:tc>
                  <a:txBody>
                    <a:bodyPr/>
                    <a:lstStyle/>
                    <a:p>
                      <a:pPr algn="ctr">
                        <a:defRPr sz="1800"/>
                      </a:pPr>
                      <a:r>
                        <a:rPr sz="1200">
                          <a:latin typeface="Times Roman"/>
                          <a:ea typeface="Times Roman"/>
                          <a:cs typeface="Times Roman"/>
                          <a:sym typeface="Times Roman"/>
                        </a:rPr>
                        <a:t>3</a:t>
                      </a:r>
                    </a:p>
                  </a:txBody>
                  <a:tcPr marL="12700" marR="12700" marT="12700" marB="12700" anchor="ctr" horzOverflow="overflow"/>
                </a:tc>
                <a:tc>
                  <a:txBody>
                    <a:bodyPr/>
                    <a:lstStyle/>
                    <a:p>
                      <a:pPr algn="ctr">
                        <a:defRPr sz="1800"/>
                      </a:pPr>
                      <a:r>
                        <a:rPr sz="1200">
                          <a:solidFill>
                            <a:schemeClr val="accent6">
                              <a:satOff val="-12774"/>
                              <a:lumOff val="-12156"/>
                            </a:schemeClr>
                          </a:solidFill>
                          <a:latin typeface="Times Roman"/>
                          <a:ea typeface="Times Roman"/>
                          <a:cs typeface="Times Roman"/>
                          <a:sym typeface="Times Roman"/>
                        </a:rPr>
                        <a:t>Completed</a:t>
                      </a:r>
                    </a:p>
                  </a:txBody>
                  <a:tcPr marL="12700" marR="12700" marT="12700" marB="12700" anchor="ctr" horzOverflow="overflow"/>
                </a:tc>
                <a:tc>
                  <a:txBody>
                    <a:bodyPr/>
                    <a:lstStyle/>
                    <a:p>
                      <a:pPr algn="ctr">
                        <a:defRPr sz="1800"/>
                      </a:pPr>
                      <a:r>
                        <a:rPr sz="1200">
                          <a:latin typeface="Times Roman"/>
                          <a:ea typeface="Times Roman"/>
                          <a:cs typeface="Times Roman"/>
                          <a:sym typeface="Times Roman"/>
                        </a:rPr>
                        <a:t>3</a:t>
                      </a:r>
                    </a:p>
                  </a:txBody>
                  <a:tcPr marL="12700" marR="12700" marT="12700" marB="12700" anchor="ctr" horzOverflow="overflow"/>
                </a:tc>
                <a:extLst>
                  <a:ext uri="{0D108BD9-81ED-4DB2-BD59-A6C34878D82A}">
                    <a16:rowId xmlns:a16="http://schemas.microsoft.com/office/drawing/2014/main" val="10003"/>
                  </a:ext>
                </a:extLst>
              </a:tr>
            </a:tbl>
          </a:graphicData>
        </a:graphic>
      </p:graphicFrame>
    </p:spTree>
  </p:cSld>
  <p:clrMapOvr>
    <a:masterClrMapping/>
  </p:clrMapOvr>
  <p:transition spd="me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2" name="Title 1"/>
          <p:cNvSpPr txBox="1">
            <a:spLocks noGrp="1"/>
          </p:cNvSpPr>
          <p:nvPr>
            <p:ph type="title"/>
          </p:nvPr>
        </p:nvSpPr>
        <p:spPr>
          <a:xfrm>
            <a:off x="610590" y="614549"/>
            <a:ext cx="7772401" cy="1456268"/>
          </a:xfrm>
          <a:prstGeom prst="rect">
            <a:avLst/>
          </a:prstGeom>
        </p:spPr>
        <p:txBody>
          <a:bodyPr/>
          <a:lstStyle>
            <a:lvl1pPr>
              <a:defRPr sz="2800">
                <a:latin typeface="Times New Roman"/>
                <a:ea typeface="Times New Roman"/>
                <a:cs typeface="Times New Roman"/>
                <a:sym typeface="Times New Roman"/>
              </a:defRPr>
            </a:lvl1pPr>
          </a:lstStyle>
          <a:p>
            <a:r>
              <a:t>Committed/Compteted Ratio</a:t>
            </a:r>
          </a:p>
        </p:txBody>
      </p:sp>
      <p:pic>
        <p:nvPicPr>
          <p:cNvPr id="313" name="pasted-movie.png" descr="pasted-movie.png"/>
          <p:cNvPicPr>
            <a:picLocks noChangeAspect="1"/>
          </p:cNvPicPr>
          <p:nvPr/>
        </p:nvPicPr>
        <p:blipFill>
          <a:blip r:embed="rId2"/>
          <a:stretch>
            <a:fillRect/>
          </a:stretch>
        </p:blipFill>
        <p:spPr>
          <a:xfrm>
            <a:off x="677883" y="1801090"/>
            <a:ext cx="4170812" cy="4170813"/>
          </a:xfrm>
          <a:prstGeom prst="rect">
            <a:avLst/>
          </a:prstGeom>
          <a:ln w="12700">
            <a:miter lim="400000"/>
          </a:ln>
        </p:spPr>
      </p:pic>
    </p:spTree>
  </p:cSld>
  <p:clrMapOvr>
    <a:masterClrMapping/>
  </p:clrMapOvr>
  <p:transition spd="me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5" name="Title 1"/>
          <p:cNvSpPr txBox="1">
            <a:spLocks noGrp="1"/>
          </p:cNvSpPr>
          <p:nvPr>
            <p:ph type="title"/>
          </p:nvPr>
        </p:nvSpPr>
        <p:spPr>
          <a:xfrm>
            <a:off x="295469" y="659364"/>
            <a:ext cx="7772401" cy="845574"/>
          </a:xfrm>
          <a:prstGeom prst="rect">
            <a:avLst/>
          </a:prstGeom>
        </p:spPr>
        <p:txBody>
          <a:bodyPr/>
          <a:lstStyle>
            <a:lvl1pPr>
              <a:defRPr>
                <a:latin typeface="Times New Roman"/>
                <a:ea typeface="Times New Roman"/>
                <a:cs typeface="Times New Roman"/>
                <a:sym typeface="Times New Roman"/>
              </a:defRPr>
            </a:lvl1pPr>
          </a:lstStyle>
          <a:p>
            <a:r>
              <a:t>Metrics: Burndown Chart</a:t>
            </a:r>
          </a:p>
        </p:txBody>
      </p:sp>
      <p:pic>
        <p:nvPicPr>
          <p:cNvPr id="316" name="unknown.png" descr="unknown.png"/>
          <p:cNvPicPr>
            <a:picLocks noChangeAspect="1"/>
          </p:cNvPicPr>
          <p:nvPr/>
        </p:nvPicPr>
        <p:blipFill>
          <a:blip r:embed="rId2"/>
          <a:stretch>
            <a:fillRect/>
          </a:stretch>
        </p:blipFill>
        <p:spPr>
          <a:xfrm>
            <a:off x="396713" y="1700499"/>
            <a:ext cx="6485530" cy="3605443"/>
          </a:xfrm>
          <a:prstGeom prst="rect">
            <a:avLst/>
          </a:prstGeom>
          <a:ln w="12700">
            <a:miter lim="400000"/>
          </a:ln>
        </p:spPr>
      </p:pic>
      <p:sp>
        <p:nvSpPr>
          <p:cNvPr id="317" name="Text"/>
          <p:cNvSpPr txBox="1"/>
          <p:nvPr/>
        </p:nvSpPr>
        <p:spPr>
          <a:xfrm>
            <a:off x="-7397338" y="-544286"/>
            <a:ext cx="127001" cy="44704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p>
            <a:pPr>
              <a:defRPr sz="1200">
                <a:latin typeface="Times Roman"/>
                <a:ea typeface="Times Roman"/>
                <a:cs typeface="Times Roman"/>
                <a:sym typeface="Times Roman"/>
              </a:defRPr>
            </a:pPr>
            <a:endParaRPr/>
          </a:p>
        </p:txBody>
      </p:sp>
    </p:spTree>
  </p:cSld>
  <p:clrMapOvr>
    <a:masterClrMapping/>
  </p:clrMapOvr>
  <p:transition spd="me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9" name="Title 1"/>
          <p:cNvSpPr txBox="1">
            <a:spLocks noGrp="1"/>
          </p:cNvSpPr>
          <p:nvPr>
            <p:ph type="title"/>
          </p:nvPr>
        </p:nvSpPr>
        <p:spPr>
          <a:xfrm>
            <a:off x="897577" y="119743"/>
            <a:ext cx="7772401" cy="914400"/>
          </a:xfrm>
          <a:prstGeom prst="rect">
            <a:avLst/>
          </a:prstGeom>
        </p:spPr>
        <p:txBody>
          <a:bodyPr/>
          <a:lstStyle>
            <a:lvl1pPr>
              <a:defRPr sz="2400">
                <a:latin typeface="Times New Roman"/>
                <a:ea typeface="Times New Roman"/>
                <a:cs typeface="Times New Roman"/>
                <a:sym typeface="Times New Roman"/>
              </a:defRPr>
            </a:lvl1pPr>
          </a:lstStyle>
          <a:p>
            <a:r>
              <a:t>Sprint 3 retrospective</a:t>
            </a:r>
          </a:p>
        </p:txBody>
      </p:sp>
      <p:sp>
        <p:nvSpPr>
          <p:cNvPr id="320" name="What Went Well…"/>
          <p:cNvSpPr txBox="1"/>
          <p:nvPr/>
        </p:nvSpPr>
        <p:spPr>
          <a:xfrm>
            <a:off x="969896" y="1151708"/>
            <a:ext cx="6012394" cy="588264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p>
            <a:pPr>
              <a:spcBef>
                <a:spcPts val="1200"/>
              </a:spcBef>
              <a:defRPr sz="1200" b="1">
                <a:solidFill>
                  <a:srgbClr val="FFFFFF"/>
                </a:solidFill>
                <a:latin typeface="Times Roman"/>
                <a:ea typeface="Times Roman"/>
                <a:cs typeface="Times Roman"/>
                <a:sym typeface="Times Roman"/>
              </a:defRPr>
            </a:pPr>
            <a:r>
              <a:t>What Went Well</a:t>
            </a:r>
            <a:endParaRPr b="0"/>
          </a:p>
          <a:p>
            <a:pPr marL="457200" indent="-317500">
              <a:spcBef>
                <a:spcPts val="1200"/>
              </a:spcBef>
              <a:buSzPct val="100000"/>
              <a:buFont typeface="Times Roman"/>
              <a:buChar char="•"/>
              <a:defRPr sz="1200">
                <a:solidFill>
                  <a:srgbClr val="FFFFFF"/>
                </a:solidFill>
                <a:latin typeface="Times Roman"/>
                <a:ea typeface="Times Roman"/>
                <a:cs typeface="Times Roman"/>
                <a:sym typeface="Times Roman"/>
              </a:defRPr>
            </a:pPr>
            <a:r>
              <a:t>All planned user stories (US_03, US_07, US_09) were completed successfully.</a:t>
            </a:r>
          </a:p>
          <a:p>
            <a:pPr marL="457200" indent="-317500">
              <a:spcBef>
                <a:spcPts val="1200"/>
              </a:spcBef>
              <a:buSzPct val="100000"/>
              <a:buFont typeface="Times Roman"/>
              <a:buChar char="•"/>
              <a:defRPr sz="1200">
                <a:solidFill>
                  <a:srgbClr val="FFFFFF"/>
                </a:solidFill>
                <a:latin typeface="Times Roman"/>
                <a:ea typeface="Times Roman"/>
                <a:cs typeface="Times Roman"/>
                <a:sym typeface="Times Roman"/>
              </a:defRPr>
            </a:pPr>
            <a:r>
              <a:t>100% of test cases passed, including edge cases for refunds, deadlines, and contributions.</a:t>
            </a:r>
          </a:p>
          <a:p>
            <a:pPr marL="457200" indent="-317500">
              <a:spcBef>
                <a:spcPts val="1200"/>
              </a:spcBef>
              <a:buSzPct val="100000"/>
              <a:buFont typeface="Times Roman"/>
              <a:buChar char="•"/>
              <a:defRPr sz="1200">
                <a:solidFill>
                  <a:srgbClr val="FFFFFF"/>
                </a:solidFill>
                <a:latin typeface="Times Roman"/>
                <a:ea typeface="Times Roman"/>
                <a:cs typeface="Times Roman"/>
                <a:sym typeface="Times Roman"/>
              </a:defRPr>
            </a:pPr>
            <a:r>
              <a:t>Contributions, deadlines, and campaign totals tracked accurately.</a:t>
            </a:r>
          </a:p>
          <a:p>
            <a:pPr marL="457200" indent="-317500">
              <a:spcBef>
                <a:spcPts val="1200"/>
              </a:spcBef>
              <a:buSzPct val="100000"/>
              <a:buFont typeface="Times Roman"/>
              <a:buChar char="•"/>
              <a:defRPr sz="1200">
                <a:solidFill>
                  <a:srgbClr val="FFFFFF"/>
                </a:solidFill>
                <a:latin typeface="Times Roman"/>
                <a:ea typeface="Times Roman"/>
                <a:cs typeface="Times Roman"/>
                <a:sym typeface="Times Roman"/>
              </a:defRPr>
            </a:pPr>
            <a:r>
              <a:t>Smooth team collaboration and coordination for tasks, merging, and testing.</a:t>
            </a:r>
          </a:p>
          <a:p>
            <a:pPr marL="457200" indent="-317500">
              <a:spcBef>
                <a:spcPts val="1200"/>
              </a:spcBef>
              <a:buSzPct val="100000"/>
              <a:buFont typeface="Times Roman"/>
              <a:buChar char="•"/>
              <a:defRPr sz="1200">
                <a:solidFill>
                  <a:srgbClr val="FFFFFF"/>
                </a:solidFill>
                <a:latin typeface="Times Roman"/>
                <a:ea typeface="Times Roman"/>
                <a:cs typeface="Times Roman"/>
                <a:sym typeface="Times Roman"/>
              </a:defRPr>
            </a:pPr>
            <a:r>
              <a:t>Significant learning in smart contract logic, Solidity features, and testing practices.</a:t>
            </a:r>
          </a:p>
          <a:p>
            <a:pPr>
              <a:spcBef>
                <a:spcPts val="1200"/>
              </a:spcBef>
              <a:defRPr sz="1200" b="1">
                <a:solidFill>
                  <a:srgbClr val="FFFFFF"/>
                </a:solidFill>
                <a:latin typeface="Times Roman"/>
                <a:ea typeface="Times Roman"/>
                <a:cs typeface="Times Roman"/>
                <a:sym typeface="Times Roman"/>
              </a:defRPr>
            </a:pPr>
            <a:r>
              <a:t>What Could Be Improved</a:t>
            </a:r>
            <a:endParaRPr b="0"/>
          </a:p>
          <a:p>
            <a:pPr marL="457200" indent="-317500">
              <a:spcBef>
                <a:spcPts val="1200"/>
              </a:spcBef>
              <a:buSzPct val="100000"/>
              <a:buFont typeface="Times Roman"/>
              <a:buChar char="•"/>
              <a:defRPr sz="1200">
                <a:solidFill>
                  <a:srgbClr val="FFFFFF"/>
                </a:solidFill>
                <a:latin typeface="Times Roman"/>
                <a:ea typeface="Times Roman"/>
                <a:cs typeface="Times Roman"/>
                <a:sym typeface="Times Roman"/>
              </a:defRPr>
            </a:pPr>
            <a:r>
              <a:t>Some tasks, especially complex test scenarios, took longer than estimated.</a:t>
            </a:r>
          </a:p>
          <a:p>
            <a:pPr marL="457200" indent="-317500">
              <a:spcBef>
                <a:spcPts val="1200"/>
              </a:spcBef>
              <a:buSzPct val="100000"/>
              <a:buFont typeface="Times Roman"/>
              <a:buChar char="•"/>
              <a:defRPr sz="1200">
                <a:solidFill>
                  <a:srgbClr val="FFFFFF"/>
                </a:solidFill>
                <a:latin typeface="Times Roman"/>
                <a:ea typeface="Times Roman"/>
                <a:cs typeface="Times Roman"/>
                <a:sym typeface="Times Roman"/>
              </a:defRPr>
            </a:pPr>
            <a:r>
              <a:t>Documentation for smart contract deployment and usage could be more detailed.</a:t>
            </a:r>
          </a:p>
          <a:p>
            <a:pPr marL="457200" indent="-317500">
              <a:spcBef>
                <a:spcPts val="1200"/>
              </a:spcBef>
              <a:buSzPct val="100000"/>
              <a:buFont typeface="Times Roman"/>
              <a:buChar char="•"/>
              <a:defRPr sz="1200">
                <a:solidFill>
                  <a:srgbClr val="FFFFFF"/>
                </a:solidFill>
                <a:latin typeface="Times Roman"/>
                <a:ea typeface="Times Roman"/>
                <a:cs typeface="Times Roman"/>
                <a:sym typeface="Times Roman"/>
              </a:defRPr>
            </a:pPr>
            <a:r>
              <a:t>Rare edge cases were discovered later than ideal; earlier identification would save time.</a:t>
            </a:r>
          </a:p>
          <a:p>
            <a:pPr>
              <a:spcBef>
                <a:spcPts val="1200"/>
              </a:spcBef>
              <a:defRPr sz="1200" b="1">
                <a:solidFill>
                  <a:srgbClr val="FFFFFF"/>
                </a:solidFill>
                <a:latin typeface="Times Roman"/>
                <a:ea typeface="Times Roman"/>
                <a:cs typeface="Times Roman"/>
                <a:sym typeface="Times Roman"/>
              </a:defRPr>
            </a:pPr>
            <a:r>
              <a:t>Action Items</a:t>
            </a:r>
            <a:endParaRPr b="0"/>
          </a:p>
          <a:p>
            <a:pPr marL="457200" indent="-317500">
              <a:spcBef>
                <a:spcPts val="1200"/>
              </a:spcBef>
              <a:buSzPct val="100000"/>
              <a:buFont typeface="Times Roman"/>
              <a:buChar char="•"/>
              <a:defRPr sz="1200">
                <a:solidFill>
                  <a:srgbClr val="FFFFFF"/>
                </a:solidFill>
                <a:latin typeface="Times Roman"/>
                <a:ea typeface="Times Roman"/>
                <a:cs typeface="Times Roman"/>
                <a:sym typeface="Times Roman"/>
              </a:defRPr>
            </a:pPr>
            <a:r>
              <a:t>Plan comprehensive tests early to cover all scenarios.</a:t>
            </a:r>
          </a:p>
          <a:p>
            <a:pPr marL="457200" indent="-317500">
              <a:spcBef>
                <a:spcPts val="1200"/>
              </a:spcBef>
              <a:buSzPct val="100000"/>
              <a:buFont typeface="Times Roman"/>
              <a:buChar char="•"/>
              <a:defRPr sz="1200">
                <a:solidFill>
                  <a:srgbClr val="FFFFFF"/>
                </a:solidFill>
                <a:latin typeface="Times Roman"/>
                <a:ea typeface="Times Roman"/>
                <a:cs typeface="Times Roman"/>
                <a:sym typeface="Times Roman"/>
              </a:defRPr>
            </a:pPr>
            <a:r>
              <a:t>Improve documentation for deployment, usage, and maintenance.</a:t>
            </a:r>
          </a:p>
          <a:p>
            <a:pPr marL="457200" indent="-317500">
              <a:spcBef>
                <a:spcPts val="1200"/>
              </a:spcBef>
              <a:buSzPct val="100000"/>
              <a:buFont typeface="Times Roman"/>
              <a:buChar char="•"/>
              <a:defRPr sz="1200">
                <a:solidFill>
                  <a:srgbClr val="FFFFFF"/>
                </a:solidFill>
                <a:latin typeface="Times Roman"/>
                <a:ea typeface="Times Roman"/>
                <a:cs typeface="Times Roman"/>
                <a:sym typeface="Times Roman"/>
              </a:defRPr>
            </a:pPr>
            <a:r>
              <a:t>Refine task estimation using historical sprint data.</a:t>
            </a:r>
          </a:p>
          <a:p>
            <a:pPr marL="457200" indent="-317500">
              <a:spcBef>
                <a:spcPts val="1200"/>
              </a:spcBef>
              <a:buSzPct val="100000"/>
              <a:buFont typeface="Times Roman"/>
              <a:buChar char="•"/>
              <a:defRPr sz="1200">
                <a:solidFill>
                  <a:srgbClr val="FFFFFF"/>
                </a:solidFill>
                <a:latin typeface="Times Roman"/>
                <a:ea typeface="Times Roman"/>
                <a:cs typeface="Times Roman"/>
                <a:sym typeface="Times Roman"/>
              </a:defRPr>
            </a:pPr>
            <a:r>
              <a:t>Conduct peer reviews to identify uncommon edge cases early.</a:t>
            </a:r>
          </a:p>
          <a:p>
            <a:pPr marL="457200" indent="-317500">
              <a:spcBef>
                <a:spcPts val="1200"/>
              </a:spcBef>
              <a:buSzPct val="100000"/>
              <a:buFont typeface="Times Roman"/>
              <a:buChar char="•"/>
              <a:defRPr sz="1200">
                <a:solidFill>
                  <a:srgbClr val="FFFFFF"/>
                </a:solidFill>
                <a:latin typeface="Times Roman"/>
                <a:ea typeface="Times Roman"/>
                <a:cs typeface="Times Roman"/>
                <a:sym typeface="Times Roman"/>
              </a:defRPr>
            </a:pPr>
            <a:r>
              <a:t>Prepare smart contracts for future front-end integration.</a:t>
            </a:r>
          </a:p>
          <a:p>
            <a:pPr>
              <a:spcBef>
                <a:spcPts val="1200"/>
              </a:spcBef>
              <a:defRPr sz="1200">
                <a:solidFill>
                  <a:srgbClr val="FFFFFF"/>
                </a:solidFill>
                <a:latin typeface="Times Roman"/>
                <a:ea typeface="Times Roman"/>
                <a:cs typeface="Times Roman"/>
                <a:sym typeface="Times Roman"/>
              </a:defRPr>
            </a:pPr>
            <a:endParaRPr/>
          </a:p>
        </p:txBody>
      </p:sp>
    </p:spTree>
  </p:cSld>
  <p:clrMapOvr>
    <a:masterClrMapping/>
  </p:clrMapOvr>
  <p:transition spd="me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2" name="Title 1"/>
          <p:cNvSpPr txBox="1">
            <a:spLocks noGrp="1"/>
          </p:cNvSpPr>
          <p:nvPr>
            <p:ph type="title"/>
          </p:nvPr>
        </p:nvSpPr>
        <p:spPr>
          <a:xfrm>
            <a:off x="457200" y="609601"/>
            <a:ext cx="7772400" cy="678425"/>
          </a:xfrm>
          <a:prstGeom prst="rect">
            <a:avLst/>
          </a:prstGeom>
        </p:spPr>
        <p:txBody>
          <a:bodyPr/>
          <a:lstStyle>
            <a:lvl1pPr>
              <a:defRPr>
                <a:latin typeface="Times New Roman"/>
                <a:ea typeface="Times New Roman"/>
                <a:cs typeface="Times New Roman"/>
                <a:sym typeface="Times New Roman"/>
              </a:defRPr>
            </a:lvl1pPr>
          </a:lstStyle>
          <a:p>
            <a:r>
              <a:t>Project demo</a:t>
            </a:r>
          </a:p>
        </p:txBody>
      </p:sp>
      <p:pic>
        <p:nvPicPr>
          <p:cNvPr id="2" name="Picture 1" descr="A screenshot of a computer program&#10;&#10;AI-generated content may be incorrect.">
            <a:extLst>
              <a:ext uri="{FF2B5EF4-FFF2-40B4-BE49-F238E27FC236}">
                <a16:creationId xmlns:a16="http://schemas.microsoft.com/office/drawing/2014/main" id="{C8120E64-A0B8-C87A-9BD6-534A230E6F44}"/>
              </a:ext>
            </a:extLst>
          </p:cNvPr>
          <p:cNvPicPr>
            <a:picLocks noChangeAspect="1"/>
          </p:cNvPicPr>
          <p:nvPr/>
        </p:nvPicPr>
        <p:blipFill>
          <a:blip r:embed="rId2"/>
          <a:stretch>
            <a:fillRect/>
          </a:stretch>
        </p:blipFill>
        <p:spPr>
          <a:xfrm>
            <a:off x="455819" y="1425208"/>
            <a:ext cx="8232363" cy="4104272"/>
          </a:xfrm>
          <a:prstGeom prst="rect">
            <a:avLst/>
          </a:prstGeom>
        </p:spPr>
      </p:pic>
    </p:spTree>
  </p:cSld>
  <p:clrMapOvr>
    <a:masterClrMapping/>
  </p:clrMapOvr>
  <p:transition spd="med"/>
</p:sld>
</file>

<file path=ppt/slides/slide40.xml><?xml version="1.0" encoding="utf-8"?>
<p:sld xmlns:a="http://schemas.openxmlformats.org/drawingml/2006/main" xmlns:r="http://schemas.openxmlformats.org/officeDocument/2006/relationships" xmlns:p="http://schemas.openxmlformats.org/presentationml/2006/main">
  <p:cSld>
    <p:bg>
      <p:bgPr>
        <a:blipFill rotWithShape="1">
          <a:blip r:embed="rId2"/>
          <a:srcRect/>
          <a:stretch>
            <a:fillRect/>
          </a:stretch>
        </a:blipFill>
        <a:effectLst/>
      </p:bgPr>
    </p:bg>
    <p:spTree>
      <p:nvGrpSpPr>
        <p:cNvPr id="1" name=""/>
        <p:cNvGrpSpPr/>
        <p:nvPr/>
      </p:nvGrpSpPr>
      <p:grpSpPr>
        <a:xfrm>
          <a:off x="0" y="0"/>
          <a:ext cx="0" cy="0"/>
          <a:chOff x="0" y="0"/>
          <a:chExt cx="0" cy="0"/>
        </a:xfrm>
      </p:grpSpPr>
      <p:sp>
        <p:nvSpPr>
          <p:cNvPr id="324" name="Rectangle 8"/>
          <p:cNvSpPr/>
          <p:nvPr/>
        </p:nvSpPr>
        <p:spPr>
          <a:xfrm>
            <a:off x="-2381" y="-1787"/>
            <a:ext cx="9141618" cy="6856216"/>
          </a:xfrm>
          <a:prstGeom prst="rect">
            <a:avLst/>
          </a:prstGeom>
          <a:ln w="12700">
            <a:miter lim="400000"/>
          </a:ln>
        </p:spPr>
        <p:txBody>
          <a:bodyPr lIns="45719" rIns="45719" anchor="ctr"/>
          <a:lstStyle/>
          <a:p>
            <a:pPr algn="ctr">
              <a:defRPr>
                <a:solidFill>
                  <a:srgbClr val="FFFFFF"/>
                </a:solidFill>
              </a:defRPr>
            </a:pPr>
            <a:endParaRPr/>
          </a:p>
        </p:txBody>
      </p:sp>
      <p:pic>
        <p:nvPicPr>
          <p:cNvPr id="325" name="Picture 4" descr="Picture 4"/>
          <p:cNvPicPr>
            <a:picLocks noChangeAspect="1"/>
          </p:cNvPicPr>
          <p:nvPr/>
        </p:nvPicPr>
        <p:blipFill>
          <a:blip r:embed="rId3">
            <a:alphaModFix amt="20000"/>
          </a:blip>
          <a:srcRect l="3006" r="8659"/>
          <a:stretch>
            <a:fillRect/>
          </a:stretch>
        </p:blipFill>
        <p:spPr>
          <a:xfrm>
            <a:off x="20" y="10"/>
            <a:ext cx="9143980" cy="6857922"/>
          </a:xfrm>
          <a:prstGeom prst="rect">
            <a:avLst/>
          </a:prstGeom>
          <a:ln w="12700">
            <a:miter lim="400000"/>
          </a:ln>
        </p:spPr>
      </p:pic>
      <p:pic>
        <p:nvPicPr>
          <p:cNvPr id="326" name="Picture 10" descr="Picture 10"/>
          <p:cNvPicPr>
            <a:picLocks noChangeAspect="1"/>
          </p:cNvPicPr>
          <p:nvPr/>
        </p:nvPicPr>
        <p:blipFill>
          <a:blip r:embed="rId4">
            <a:alphaModFix amt="39000"/>
          </a:blip>
          <a:stretch>
            <a:fillRect/>
          </a:stretch>
        </p:blipFill>
        <p:spPr>
          <a:xfrm>
            <a:off x="0" y="0"/>
            <a:ext cx="9141618" cy="6856215"/>
          </a:xfrm>
          <a:prstGeom prst="rect">
            <a:avLst/>
          </a:prstGeom>
          <a:ln w="12700">
            <a:miter lim="400000"/>
          </a:ln>
        </p:spPr>
      </p:pic>
      <p:sp>
        <p:nvSpPr>
          <p:cNvPr id="327" name="Title 1"/>
          <p:cNvSpPr txBox="1">
            <a:spLocks noGrp="1"/>
          </p:cNvSpPr>
          <p:nvPr>
            <p:ph type="title"/>
          </p:nvPr>
        </p:nvSpPr>
        <p:spPr>
          <a:xfrm>
            <a:off x="514350" y="975755"/>
            <a:ext cx="7598569" cy="1456268"/>
          </a:xfrm>
          <a:prstGeom prst="rect">
            <a:avLst/>
          </a:prstGeom>
        </p:spPr>
        <p:txBody>
          <a:bodyPr/>
          <a:lstStyle>
            <a:lvl1pPr>
              <a:defRPr>
                <a:latin typeface="Times New Roman"/>
                <a:ea typeface="Times New Roman"/>
                <a:cs typeface="Times New Roman"/>
                <a:sym typeface="Times New Roman"/>
              </a:defRPr>
            </a:lvl1pPr>
          </a:lstStyle>
          <a:p>
            <a:r>
              <a:t>Wiki Page LINK</a:t>
            </a:r>
          </a:p>
        </p:txBody>
      </p:sp>
      <p:sp>
        <p:nvSpPr>
          <p:cNvPr id="328" name="Content Placeholder 2"/>
          <p:cNvSpPr txBox="1">
            <a:spLocks noGrp="1"/>
          </p:cNvSpPr>
          <p:nvPr>
            <p:ph type="body" idx="1"/>
          </p:nvPr>
        </p:nvSpPr>
        <p:spPr>
          <a:xfrm>
            <a:off x="514350" y="1603371"/>
            <a:ext cx="7598569" cy="3649134"/>
          </a:xfrm>
          <a:prstGeom prst="rect">
            <a:avLst/>
          </a:prstGeom>
        </p:spPr>
        <p:txBody>
          <a:bodyPr lIns="45719" tIns="45720" rIns="45719" bIns="45720" anchor="ctr">
            <a:normAutofit/>
          </a:bodyPr>
          <a:lstStyle/>
          <a:p>
            <a:pPr marL="0" indent="0">
              <a:buNone/>
            </a:pPr>
            <a:r>
              <a:rPr lang="en-US" sz="2400" dirty="0">
                <a:solidFill>
                  <a:srgbClr val="71DDAB"/>
                </a:solidFill>
                <a:uFill>
                  <a:solidFill>
                    <a:srgbClr val="71DDAB"/>
                  </a:solidFill>
                </a:uFill>
              </a:rPr>
              <a:t>https://github.com/htmw/F2025-Team2/wiki</a:t>
            </a:r>
            <a:endParaRPr lang="en-US" sz="2400" dirty="0"/>
          </a:p>
        </p:txBody>
      </p:sp>
    </p:spTree>
  </p:cSld>
  <p:clrMapOvr>
    <a:masterClrMapping/>
  </p:clrMapOvr>
  <p:transition spd="me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0" name="Content Placeholder 2"/>
          <p:cNvSpPr txBox="1">
            <a:spLocks noGrp="1"/>
          </p:cNvSpPr>
          <p:nvPr>
            <p:ph type="body" sz="half" idx="1"/>
          </p:nvPr>
        </p:nvSpPr>
        <p:spPr>
          <a:xfrm>
            <a:off x="1755268" y="1578415"/>
            <a:ext cx="6833420" cy="3265675"/>
          </a:xfrm>
          <a:prstGeom prst="rect">
            <a:avLst/>
          </a:prstGeom>
        </p:spPr>
        <p:txBody>
          <a:bodyPr/>
          <a:lstStyle>
            <a:lvl1pPr marL="0" indent="0">
              <a:buSzTx/>
              <a:buNone/>
              <a:defRPr sz="8800">
                <a:effectLst>
                  <a:outerShdw blurRad="38100" dist="38100" dir="2700000" rotWithShape="0">
                    <a:srgbClr val="000000">
                      <a:alpha val="43137"/>
                    </a:srgbClr>
                  </a:outerShdw>
                </a:effectLst>
                <a:latin typeface="Times New Roman"/>
                <a:ea typeface="Times New Roman"/>
                <a:cs typeface="Times New Roman"/>
                <a:sym typeface="Times New Roman"/>
              </a:defRPr>
            </a:lvl1pPr>
          </a:lstStyle>
          <a:p>
            <a:r>
              <a:t>Thank You!</a:t>
            </a: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2" presetClass="entr" presetSubtype="4" fill="hold" grpId="1" nodeType="clickEffect">
                                  <p:stCondLst>
                                    <p:cond delay="0"/>
                                  </p:stCondLst>
                                  <p:iterate>
                                    <p:tmAbs val="0"/>
                                  </p:iterate>
                                  <p:childTnLst>
                                    <p:set>
                                      <p:cBhvr>
                                        <p:cTn id="6" fill="hold"/>
                                        <p:tgtEl>
                                          <p:spTgt spid="330"/>
                                        </p:tgtEl>
                                        <p:attrNameLst>
                                          <p:attrName>style.visibility</p:attrName>
                                        </p:attrNameLst>
                                      </p:cBhvr>
                                      <p:to>
                                        <p:strVal val="visible"/>
                                      </p:to>
                                    </p:set>
                                    <p:anim calcmode="lin" valueType="num">
                                      <p:cBhvr>
                                        <p:cTn id="7" dur="500" fill="hold"/>
                                        <p:tgtEl>
                                          <p:spTgt spid="330"/>
                                        </p:tgtEl>
                                        <p:attrNameLst>
                                          <p:attrName>ppt_x</p:attrName>
                                        </p:attrNameLst>
                                      </p:cBhvr>
                                      <p:tavLst>
                                        <p:tav tm="0">
                                          <p:val>
                                            <p:strVal val="#ppt_x"/>
                                          </p:val>
                                        </p:tav>
                                        <p:tav tm="100000">
                                          <p:val>
                                            <p:strVal val="#ppt_x"/>
                                          </p:val>
                                        </p:tav>
                                      </p:tavLst>
                                    </p:anim>
                                    <p:anim calcmode="lin" valueType="num">
                                      <p:cBhvr>
                                        <p:cTn id="8" dur="500" fill="hold"/>
                                        <p:tgtEl>
                                          <p:spTgt spid="33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0" grpId="1" animBg="1" advAuto="0"/>
    </p:bldLst>
  </p:timing>
</p:sld>
</file>

<file path=ppt/theme/theme1.xml><?xml version="1.0" encoding="utf-8"?>
<a:theme xmlns:a="http://schemas.openxmlformats.org/drawingml/2006/main" name="Celestial">
  <a:themeElements>
    <a:clrScheme name="Celestial">
      <a:dk1>
        <a:srgbClr val="000000"/>
      </a:dk1>
      <a:lt1>
        <a:srgbClr val="FFFFFF"/>
      </a:lt1>
      <a:dk2>
        <a:srgbClr val="A7A7A7"/>
      </a:dk2>
      <a:lt2>
        <a:srgbClr val="535353"/>
      </a:lt2>
      <a:accent1>
        <a:srgbClr val="E5B458"/>
      </a:accent1>
      <a:accent2>
        <a:srgbClr val="F77754"/>
      </a:accent2>
      <a:accent3>
        <a:srgbClr val="D8507E"/>
      </a:accent3>
      <a:accent4>
        <a:srgbClr val="BC70EE"/>
      </a:accent4>
      <a:accent5>
        <a:srgbClr val="3CA2E2"/>
      </a:accent5>
      <a:accent6>
        <a:srgbClr val="91BF77"/>
      </a:accent6>
      <a:hlink>
        <a:srgbClr val="0000FF"/>
      </a:hlink>
      <a:folHlink>
        <a:srgbClr val="FF00FF"/>
      </a:folHlink>
    </a:clrScheme>
    <a:fontScheme name="Celestial">
      <a:majorFont>
        <a:latin typeface="Arial"/>
        <a:ea typeface="Arial"/>
        <a:cs typeface="Arial"/>
      </a:majorFont>
      <a:minorFont>
        <a:latin typeface="Helvetica"/>
        <a:ea typeface="Helvetica"/>
        <a:cs typeface="Helvetica"/>
      </a:minorFont>
    </a:fontScheme>
    <a:fmtScheme name="Celestial">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9050" cap="rnd">
          <a:solidFill>
            <a:schemeClr val="accent1"/>
          </a:solidFill>
          <a:prstDash val="solid"/>
          <a:round/>
        </a:ln>
        <a:effectLst>
          <a:outerShdw blurRad="50800" dist="38100" dir="5400000" rotWithShape="0">
            <a:srgbClr val="000000">
              <a:alpha val="35000"/>
            </a:srgbClr>
          </a:outerShdw>
        </a:effectLst>
        <a:sp3d/>
      </a:spPr>
      <a:bodyPr rot="0" spcFirstLastPara="1" vertOverflow="overflow" horzOverflow="overflow" vert="horz" wrap="square" lIns="45719" tIns="45719" rIns="45719" bIns="45719" numCol="1" spcCol="38100" rtlCol="0" anchor="ctr">
        <a:spAutoFit/>
      </a:bodyPr>
      <a:lstStyle>
        <a:defPPr marL="0" marR="0" indent="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9050" cap="rnd">
          <a:solidFill>
            <a:schemeClr val="accent1"/>
          </a:solidFill>
          <a:prstDash val="solid"/>
          <a:round/>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Celestial">
  <a:themeElements>
    <a:clrScheme name="Celestial">
      <a:dk1>
        <a:srgbClr val="000000"/>
      </a:dk1>
      <a:lt1>
        <a:srgbClr val="FFFFFF"/>
      </a:lt1>
      <a:dk2>
        <a:srgbClr val="A7A7A7"/>
      </a:dk2>
      <a:lt2>
        <a:srgbClr val="535353"/>
      </a:lt2>
      <a:accent1>
        <a:srgbClr val="E5B458"/>
      </a:accent1>
      <a:accent2>
        <a:srgbClr val="F77754"/>
      </a:accent2>
      <a:accent3>
        <a:srgbClr val="D8507E"/>
      </a:accent3>
      <a:accent4>
        <a:srgbClr val="BC70EE"/>
      </a:accent4>
      <a:accent5>
        <a:srgbClr val="3CA2E2"/>
      </a:accent5>
      <a:accent6>
        <a:srgbClr val="91BF77"/>
      </a:accent6>
      <a:hlink>
        <a:srgbClr val="0000FF"/>
      </a:hlink>
      <a:folHlink>
        <a:srgbClr val="FF00FF"/>
      </a:folHlink>
    </a:clrScheme>
    <a:fontScheme name="Celestial">
      <a:majorFont>
        <a:latin typeface="Arial"/>
        <a:ea typeface="Arial"/>
        <a:cs typeface="Arial"/>
      </a:majorFont>
      <a:minorFont>
        <a:latin typeface="Helvetica"/>
        <a:ea typeface="Helvetica"/>
        <a:cs typeface="Helvetica"/>
      </a:minorFont>
    </a:fontScheme>
    <a:fmtScheme name="Celestial">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9050" cap="rnd">
          <a:solidFill>
            <a:schemeClr val="accent1"/>
          </a:solidFill>
          <a:prstDash val="solid"/>
          <a:round/>
        </a:ln>
        <a:effectLst>
          <a:outerShdw blurRad="50800" dist="38100" dir="5400000" rotWithShape="0">
            <a:srgbClr val="000000">
              <a:alpha val="35000"/>
            </a:srgbClr>
          </a:outerShdw>
        </a:effectLst>
        <a:sp3d/>
      </a:spPr>
      <a:bodyPr rot="0" spcFirstLastPara="1" vertOverflow="overflow" horzOverflow="overflow" vert="horz" wrap="square" lIns="45719" tIns="45719" rIns="45719" bIns="45719" numCol="1" spcCol="38100" rtlCol="0" anchor="ctr">
        <a:spAutoFit/>
      </a:bodyPr>
      <a:lstStyle>
        <a:defPPr marL="0" marR="0" indent="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9050" cap="rnd">
          <a:solidFill>
            <a:schemeClr val="accent1"/>
          </a:solidFill>
          <a:prstDash val="solid"/>
          <a:round/>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On-screen Show (4:3)</PresentationFormat>
  <Slides>41</Slides>
  <Notes>0</Notes>
  <HiddenSlides>0</HiddenSlides>
  <ScaleCrop>false</ScaleCrop>
  <HeadingPairs>
    <vt:vector size="4" baseType="variant">
      <vt:variant>
        <vt:lpstr>Theme</vt:lpstr>
      </vt:variant>
      <vt:variant>
        <vt:i4>1</vt:i4>
      </vt:variant>
      <vt:variant>
        <vt:lpstr>Slide Titles</vt:lpstr>
      </vt:variant>
      <vt:variant>
        <vt:i4>41</vt:i4>
      </vt:variant>
    </vt:vector>
  </HeadingPairs>
  <TitlesOfParts>
    <vt:vector size="42" baseType="lpstr">
      <vt:lpstr>Celestial</vt:lpstr>
      <vt:lpstr>Crowdfunding </vt:lpstr>
      <vt:lpstr>Agenda</vt:lpstr>
      <vt:lpstr>Getting to know the Team…</vt:lpstr>
      <vt:lpstr>Getting to know the Team…</vt:lpstr>
      <vt:lpstr>Improvements</vt:lpstr>
      <vt:lpstr>Project Description</vt:lpstr>
      <vt:lpstr>Team Working Agreement</vt:lpstr>
      <vt:lpstr>Team Working Agreement</vt:lpstr>
      <vt:lpstr>The Startup Founder Persona</vt:lpstr>
      <vt:lpstr>The Investor Persona</vt:lpstr>
      <vt:lpstr>The Community Member Persona</vt:lpstr>
      <vt:lpstr>MVP</vt:lpstr>
      <vt:lpstr>TOOLS &amp;Technologies</vt:lpstr>
      <vt:lpstr>Algorithms &amp; Logic</vt:lpstr>
      <vt:lpstr>Algorithms &amp; Logic</vt:lpstr>
      <vt:lpstr>Algorithms &amp; Logic</vt:lpstr>
      <vt:lpstr>PowerPoint Presentation</vt:lpstr>
      <vt:lpstr>Architecture Diagram</vt:lpstr>
      <vt:lpstr>Context Diagram</vt:lpstr>
      <vt:lpstr>state Diagram</vt:lpstr>
      <vt:lpstr>ER Diagram</vt:lpstr>
      <vt:lpstr>Class Diagram</vt:lpstr>
      <vt:lpstr>Sequence Diagram</vt:lpstr>
      <vt:lpstr>PowerPoint Presentation</vt:lpstr>
      <vt:lpstr>Product Backlog</vt:lpstr>
      <vt:lpstr>PowerPoint Presentation</vt:lpstr>
      <vt:lpstr>PowerPoint Presentation</vt:lpstr>
      <vt:lpstr>Product Backlog overview</vt:lpstr>
      <vt:lpstr>SPRINT SUMMARY</vt:lpstr>
      <vt:lpstr>SPRINT SUMMARY</vt:lpstr>
      <vt:lpstr>Sprint 3</vt:lpstr>
      <vt:lpstr>Sprint 3 backlog</vt:lpstr>
      <vt:lpstr>Sprint 3 Backlog testcases</vt:lpstr>
      <vt:lpstr>Stories completed</vt:lpstr>
      <vt:lpstr>Metrics: sprint 2</vt:lpstr>
      <vt:lpstr>Committed/Compteted Ratio</vt:lpstr>
      <vt:lpstr>Metrics: Burndown Chart</vt:lpstr>
      <vt:lpstr>Sprint 3 retrospective</vt:lpstr>
      <vt:lpstr>Project demo</vt:lpstr>
      <vt:lpstr>Wiki Page LINK</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revision>24</cp:revision>
  <dcterms:modified xsi:type="dcterms:W3CDTF">2025-12-15T11:14:26Z</dcterms:modified>
</cp:coreProperties>
</file>