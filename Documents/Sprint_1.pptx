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41"/>
  </p:notesMasterIdLst>
  <p:sldIdLst>
    <p:sldId id="256" r:id="rId2"/>
    <p:sldId id="257" r:id="rId3"/>
    <p:sldId id="269" r:id="rId4"/>
    <p:sldId id="282" r:id="rId5"/>
    <p:sldId id="259" r:id="rId6"/>
    <p:sldId id="260" r:id="rId7"/>
    <p:sldId id="280" r:id="rId8"/>
    <p:sldId id="281" r:id="rId9"/>
    <p:sldId id="271" r:id="rId10"/>
    <p:sldId id="272" r:id="rId11"/>
    <p:sldId id="273" r:id="rId12"/>
    <p:sldId id="279" r:id="rId13"/>
    <p:sldId id="262" r:id="rId14"/>
    <p:sldId id="263" r:id="rId15"/>
    <p:sldId id="283" r:id="rId16"/>
    <p:sldId id="289" r:id="rId17"/>
    <p:sldId id="284" r:id="rId18"/>
    <p:sldId id="285" r:id="rId19"/>
    <p:sldId id="286" r:id="rId20"/>
    <p:sldId id="287" r:id="rId21"/>
    <p:sldId id="288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1" r:id="rId33"/>
    <p:sldId id="302" r:id="rId34"/>
    <p:sldId id="303" r:id="rId35"/>
    <p:sldId id="306" r:id="rId36"/>
    <p:sldId id="304" r:id="rId37"/>
    <p:sldId id="305" r:id="rId38"/>
    <p:sldId id="277" r:id="rId39"/>
    <p:sldId id="278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C51B7B-E9A3-4FDC-A977-6FC58D2485A6}">
          <p14:sldIdLst>
            <p14:sldId id="256"/>
            <p14:sldId id="257"/>
            <p14:sldId id="269"/>
            <p14:sldId id="282"/>
            <p14:sldId id="259"/>
            <p14:sldId id="260"/>
            <p14:sldId id="280"/>
            <p14:sldId id="281"/>
            <p14:sldId id="271"/>
            <p14:sldId id="272"/>
            <p14:sldId id="273"/>
            <p14:sldId id="279"/>
            <p14:sldId id="262"/>
            <p14:sldId id="263"/>
            <p14:sldId id="283"/>
            <p14:sldId id="289"/>
            <p14:sldId id="284"/>
            <p14:sldId id="285"/>
            <p14:sldId id="286"/>
            <p14:sldId id="287"/>
            <p14:sldId id="288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1"/>
            <p14:sldId id="302"/>
            <p14:sldId id="303"/>
            <p14:sldId id="306"/>
            <p14:sldId id="304"/>
            <p14:sldId id="305"/>
          </p14:sldIdLst>
        </p14:section>
        <p14:section name="Untitled Section" id="{4FC32B63-5767-42B8-B0E1-FBF4B12C52EA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2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72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3430B-86A8-4FF2-98C1-533C96C2ADD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DE380-1F0B-4E0F-A8EC-074693834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920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DE380-1F0B-4E0F-A8EC-0746938343D5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981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4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8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79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4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7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36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9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56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3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5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0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12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14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59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33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541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7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716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am12.safelinks.protection.outlook.com/?url=https%3A%2F%2Fgithub.com%2Fhtmw%2FF2025-Team2%2Fwiki&amp;data=05%7C02%7Chwong%40pace.edu%7Cb969cc44c2714dc954f508ddf3b7f5a8%7C0799c53eca9a49e88901064a6412a41d%7C0%7C0%7C638934693599775363%7CUnknown%7CTWFpbGZsb3d8eyJFbXB0eU1hcGkiOnRydWUsIlYiOiIwLjAuMDAwMCIsIlAiOiJXaW4zMiIsIkFOIjoiTWFpbCIsIldUIjoyfQ%3D%3D%7C0%7C%7C%7C&amp;sdata=PMkg9E29zurs8ZrN7ji3lTeoMNpMAn8jRv94WdjtUPY%3D&amp;reserved=0" TargetMode="Externa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CEE3B40-0719-467B-A4F7-B7D14A4AC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World map made up of coins">
            <a:extLst>
              <a:ext uri="{FF2B5EF4-FFF2-40B4-BE49-F238E27FC236}">
                <a16:creationId xmlns:a16="http://schemas.microsoft.com/office/drawing/2014/main" id="{5364344D-C947-9761-7FD9-B2DE587A63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333" r="-2" b="-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D2D1CDE-6BAA-430B-9048-78C5BBF8C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799" y="1964267"/>
            <a:ext cx="5398294" cy="1742494"/>
          </a:xfrm>
        </p:spPr>
        <p:txBody>
          <a:bodyPr>
            <a:normAutofit/>
          </a:bodyPr>
          <a:lstStyle/>
          <a:p>
            <a:r>
              <a:rPr lang="en-US" b="1" dirty="0">
                <a:ln w="3175" cmpd="sng">
                  <a:solidFill>
                    <a:schemeClr val="accent6">
                      <a:lumMod val="75000"/>
                    </a:schemeClr>
                  </a:solidFill>
                </a:ln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Crowdfunding</a:t>
            </a:r>
            <a:r>
              <a:rPr lang="en-US" b="1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4591665"/>
            <a:ext cx="5398294" cy="119953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By</a:t>
            </a:r>
          </a:p>
          <a:p>
            <a:pPr algn="ctr"/>
            <a:r>
              <a:rPr lang="en-US" dirty="0"/>
              <a:t>Team Nexus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4E6742-6575-044D-4D88-566A304F2351}"/>
              </a:ext>
            </a:extLst>
          </p:cNvPr>
          <p:cNvSpPr/>
          <p:nvPr/>
        </p:nvSpPr>
        <p:spPr>
          <a:xfrm>
            <a:off x="4479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2787"/>
            <a:ext cx="7772400" cy="131752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0628"/>
            <a:ext cx="7772400" cy="5217952"/>
          </a:xfrm>
        </p:spPr>
        <p:txBody>
          <a:bodyPr>
            <a:noAutofit/>
          </a:bodyPr>
          <a:lstStyle/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Roles | Improvements | Responsibilities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| Project Description | Team Working Agreement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Personas | MVP | Project Design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| Algorithms | Diagrams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1 </a:t>
            </a:r>
          </a:p>
          <a:p>
            <a:pPr marL="914400" lvl="0" indent="-297146">
              <a:lnSpc>
                <a:spcPct val="150000"/>
              </a:lnSpc>
              <a:spcAft>
                <a:spcPts val="0"/>
              </a:spcAft>
              <a:buChar char="●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  <a:p>
            <a:pPr marL="914400" lvl="0" indent="-297146">
              <a:lnSpc>
                <a:spcPct val="150000"/>
              </a:lnSpc>
              <a:spcAft>
                <a:spcPts val="0"/>
              </a:spcAft>
              <a:buChar char="●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</a:p>
          <a:p>
            <a:pPr marL="914400" lvl="0" indent="-297146">
              <a:lnSpc>
                <a:spcPct val="150000"/>
              </a:lnSpc>
              <a:spcAft>
                <a:spcPts val="0"/>
              </a:spcAft>
              <a:buChar char="●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Stories Completed</a:t>
            </a:r>
          </a:p>
          <a:p>
            <a:pPr marL="914400" lvl="0" indent="-297146">
              <a:lnSpc>
                <a:spcPct val="150000"/>
              </a:lnSpc>
              <a:spcAft>
                <a:spcPts val="0"/>
              </a:spcAft>
              <a:buChar char="●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Stories Not Completed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  <a:p>
            <a:pPr marL="914400" lvl="0" indent="-290115">
              <a:lnSpc>
                <a:spcPct val="150000"/>
              </a:lnSpc>
              <a:spcAft>
                <a:spcPts val="0"/>
              </a:spcAft>
              <a:buChar char="●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Retrospective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2 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E3F9-054B-7198-45FC-E58EEBA39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2"/>
            <a:ext cx="5992761" cy="62926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to know the Team…</a:t>
            </a:r>
          </a:p>
        </p:txBody>
      </p:sp>
      <p:pic>
        <p:nvPicPr>
          <p:cNvPr id="7" name="Content Placeholder 6" descr="A person standing in front of a staircase&#10;&#10;AI-generated content may be incorrect.">
            <a:extLst>
              <a:ext uri="{FF2B5EF4-FFF2-40B4-BE49-F238E27FC236}">
                <a16:creationId xmlns:a16="http://schemas.microsoft.com/office/drawing/2014/main" id="{6EDC5FE1-E189-2B25-1F30-DED7B50B49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38"/>
          <a:stretch>
            <a:fillRect/>
          </a:stretch>
        </p:blipFill>
        <p:spPr bwMode="auto">
          <a:xfrm>
            <a:off x="3453580" y="2214716"/>
            <a:ext cx="2427735" cy="246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A42DB4-135C-FFA9-6E15-F0F52083CE56}"/>
              </a:ext>
            </a:extLst>
          </p:cNvPr>
          <p:cNvSpPr txBox="1"/>
          <p:nvPr/>
        </p:nvSpPr>
        <p:spPr>
          <a:xfrm flipH="1">
            <a:off x="3765337" y="4728780"/>
            <a:ext cx="1804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Ashwitha Maram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Developer/Tester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634D19-6900-1BE4-D59D-9E42983027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30"/>
          <a:stretch>
            <a:fillRect/>
          </a:stretch>
        </p:blipFill>
        <p:spPr>
          <a:xfrm>
            <a:off x="816077" y="2214716"/>
            <a:ext cx="2190135" cy="24678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5CECAA-3C77-2A3B-54CB-9581199FCD83}"/>
              </a:ext>
            </a:extLst>
          </p:cNvPr>
          <p:cNvSpPr txBox="1"/>
          <p:nvPr/>
        </p:nvSpPr>
        <p:spPr>
          <a:xfrm>
            <a:off x="914401" y="4790335"/>
            <a:ext cx="1932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Ashwanth Maram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FF4A29-843B-D26F-13F7-C4EB2DBE0C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576" b="19666"/>
          <a:stretch>
            <a:fillRect/>
          </a:stretch>
        </p:blipFill>
        <p:spPr>
          <a:xfrm>
            <a:off x="6137790" y="2214716"/>
            <a:ext cx="2851356" cy="24678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014C30-7A5C-0C2F-1819-78C168C30EE2}"/>
              </a:ext>
            </a:extLst>
          </p:cNvPr>
          <p:cNvSpPr txBox="1"/>
          <p:nvPr/>
        </p:nvSpPr>
        <p:spPr>
          <a:xfrm>
            <a:off x="6449961" y="4805724"/>
            <a:ext cx="2448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Mandaliya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Chain Developer</a:t>
            </a:r>
          </a:p>
        </p:txBody>
      </p:sp>
    </p:spTree>
    <p:extLst>
      <p:ext uri="{BB962C8B-B14F-4D97-AF65-F5344CB8AC3E}">
        <p14:creationId xmlns:p14="http://schemas.microsoft.com/office/powerpoint/2010/main" val="164862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87F7-322D-864E-A8E1-AAE1E7EC6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6150077" cy="55060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to know the Team…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5F4F15-98B4-37E4-DF8C-5EFFA8F9F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394" y="1714640"/>
            <a:ext cx="2315771" cy="249630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04D04B-7D66-3865-941A-316329C2634E}"/>
              </a:ext>
            </a:extLst>
          </p:cNvPr>
          <p:cNvSpPr txBox="1"/>
          <p:nvPr/>
        </p:nvSpPr>
        <p:spPr>
          <a:xfrm>
            <a:off x="163064" y="4312465"/>
            <a:ext cx="3292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Vinukonda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Yashwanth Reddy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and Database Engineer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930" y="1706251"/>
            <a:ext cx="2514240" cy="249630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832400" y="4312465"/>
            <a:ext cx="33472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Nyi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Lwin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935" y="1706251"/>
            <a:ext cx="2754546" cy="24963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4585" y="4312465"/>
            <a:ext cx="33472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Naveen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Pesalabanda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Master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456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06188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1484"/>
            <a:ext cx="7772400" cy="411971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Team Member introduction before starting the presentation and Retrospective.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group email to Wiki page link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Project description chart to Presentation slides.</a:t>
            </a:r>
          </a:p>
          <a:p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620"/>
            <a:ext cx="7772400" cy="835742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3908"/>
            <a:ext cx="8421330" cy="5170686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726964-A019-C927-2681-A86A1EDFF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06" y="1417739"/>
            <a:ext cx="5570290" cy="47357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75B82-1635-0204-5B62-8F709C3B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CB7E3-03AD-DB32-691C-36778C77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993057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Working Agreement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7EF7C-D3D9-2FE5-8E14-4951B30A0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043" y="1691148"/>
            <a:ext cx="3813048" cy="405089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Expectations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 Zoom, GitHub for collaboration.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 everyone opinions; decisions are made collectively.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Notifying the team in advance if you cannot complete or attend.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case of any conflicts, present research-backed solutions and resolve by majority vote.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everyone updated when pushing code or making changes.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last-minute dumping of work on others</a:t>
            </a:r>
            <a:r>
              <a:rPr lang="en-US" sz="1700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8C5DE-D87A-862F-CF34-0DCFD1570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5858" y="1848465"/>
            <a:ext cx="3883743" cy="39427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Schedules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Meetings will be held twice weekly on Zoom or Google meet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time is set based on availability.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will be shared in advance for preparation.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Planning at the start, Retrospective at the end of each sprint.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must be informed ahead of time; member must read meeting summary.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members are expected to participate and contribute fairly.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11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A029-8523-7250-38C8-32947E554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3A3F-12DF-17B9-A39D-72CB30E69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993057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Working Agreement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B58A4-4B62-5CAA-9717-48C7FE440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043" y="2703871"/>
            <a:ext cx="3813048" cy="1946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Dynamics &amp; Principles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member must clearly understand and own their tasks.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distributed fairly; large tasks broken into smaller ones.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task has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review on completion.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problem-solving before escalating blockers.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Trackers must be updated regularly.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progress should be committed and shared on GitHub.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F45AA-1CA7-1AE7-DB9F-841143669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848465"/>
            <a:ext cx="3952568" cy="32938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Checklist for Task Completion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should run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errors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must meet all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acceptance criteria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task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and tested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everyone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should be updated with the task.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by all team members before submission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635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4958B-245B-2222-A00F-2C42E394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609601"/>
            <a:ext cx="4711700" cy="74725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Startup Founder Persona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1A49751F-BCFC-86C6-87FF-E31D4F0BB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563329"/>
            <a:ext cx="5906115" cy="468507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Alice Johnson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28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Female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Startup Founder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 is an ambitious entrepreneur developing a sustainable fashion brand. She wants to raise money to bring her eco-friendly products to market but struggles with high fees and limited visibility on traditional crowdfunding platforms.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Struggles to gain trust from contributors due to lack of transparency.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platforms charge high fees, cutting into her funding.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control over how her campaign is presented.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 funds fairly and transparently.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credibility with backers.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contributors see exactly how their money is being used.</a:t>
            </a:r>
          </a:p>
          <a:p>
            <a:endParaRPr lang="en-US" dirty="0"/>
          </a:p>
        </p:txBody>
      </p:sp>
      <p:pic>
        <p:nvPicPr>
          <p:cNvPr id="2050" name="Picture 2" descr="Female startup founder pitching on stage, wearing emerald green suit. Long  brown hair, green eyes. Digital art style.&quot; | HackerNoon">
            <a:extLst>
              <a:ext uri="{FF2B5EF4-FFF2-40B4-BE49-F238E27FC236}">
                <a16:creationId xmlns:a16="http://schemas.microsoft.com/office/drawing/2014/main" id="{AC41C208-8DEE-9668-EAED-8874E60FB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08" r="34159" b="1"/>
          <a:stretch>
            <a:fillRect/>
          </a:stretch>
        </p:blipFill>
        <p:spPr bwMode="auto">
          <a:xfrm>
            <a:off x="6548284" y="816078"/>
            <a:ext cx="2359742" cy="3952568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52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C4C35-1C2B-24B5-247D-49519C342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29" y="334298"/>
            <a:ext cx="5328463" cy="81607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Investor Persona</a:t>
            </a:r>
            <a:endParaRPr lang="en-US" dirty="0"/>
          </a:p>
        </p:txBody>
      </p:sp>
      <p:sp>
        <p:nvSpPr>
          <p:cNvPr id="3080" name="Content Placeholder 3079">
            <a:extLst>
              <a:ext uri="{FF2B5EF4-FFF2-40B4-BE49-F238E27FC236}">
                <a16:creationId xmlns:a16="http://schemas.microsoft.com/office/drawing/2014/main" id="{E1E5E3D0-93F3-59B4-5D52-D8DADBDD4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10" y="1150374"/>
            <a:ext cx="5328464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Bob Smith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35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Male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Investor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 is a passionate investor who likes to fund innovative projects. He wants to support creators but often worries about whether his money is being used properly and feels disconnected after contributing.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Unsure if funds are spent transparently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refunds if a project fails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no control once money is invested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with full transparency and security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refunds if funding goals aren’t met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say in how project funds are used through voting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8A874-CEEC-A69B-0613-4D23E23CB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155" y="1527114"/>
            <a:ext cx="2728143" cy="305160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449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5EAC-E286-988B-E48D-5679A097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609600"/>
            <a:ext cx="4711700" cy="87507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Community Member Persona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686D6-AF4E-16BE-7582-207D8F4A7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1" y="1622323"/>
            <a:ext cx="4893392" cy="462607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Cathy Lee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22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Gender: Female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Occupation: College Student / Community Member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Cathy is an active member of online communities and DAOs. She enjoys contributing to causes but wants her voice to count, not just her money.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>
              <a:lnSpc>
                <a:spcPct val="9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say in how project funds are allocated</a:t>
            </a:r>
          </a:p>
          <a:p>
            <a:pPr>
              <a:lnSpc>
                <a:spcPct val="9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Hesitant to contribute without accountability</a:t>
            </a:r>
          </a:p>
          <a:p>
            <a:pPr>
              <a:lnSpc>
                <a:spcPct val="9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most platforms profit-driven and restrictive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pPr>
              <a:lnSpc>
                <a:spcPct val="9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Participate in voting and decision-making</a:t>
            </a:r>
          </a:p>
          <a:p>
            <a:pPr>
              <a:lnSpc>
                <a:spcPct val="9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transparent, community-driven projects</a:t>
            </a:r>
          </a:p>
          <a:p>
            <a:pPr>
              <a:lnSpc>
                <a:spcPct val="9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about blockchain while backing meaningful causes</a:t>
            </a:r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9C870-6FB6-83C3-C0DA-2C08EEF8CC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095" r="10972" b="1"/>
          <a:stretch>
            <a:fillRect/>
          </a:stretch>
        </p:blipFill>
        <p:spPr>
          <a:xfrm>
            <a:off x="5693202" y="990601"/>
            <a:ext cx="2584285" cy="352240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5919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5EAC-E286-988B-E48D-5679A097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1072819"/>
            <a:ext cx="4711700" cy="87507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686D6-AF4E-16BE-7582-207D8F4A7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641" y="1072819"/>
            <a:ext cx="7154898" cy="487497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Campaign Creation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Allow users to launch funding campaigns with metadata (title, goal, deadline).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Logic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Accept ETH contributions and track them per user.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Refund Mechanism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Automatically refund contributors if the goal isn’t met.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Voting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Let contributors vote on fund allocation or milestones.</a:t>
            </a:r>
          </a:p>
        </p:txBody>
      </p:sp>
    </p:spTree>
    <p:extLst>
      <p:ext uri="{BB962C8B-B14F-4D97-AF65-F5344CB8AC3E}">
        <p14:creationId xmlns:p14="http://schemas.microsoft.com/office/powerpoint/2010/main" val="3316367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235974"/>
            <a:ext cx="4711700" cy="156332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&amp;Technologies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1CFAF82-FA1E-12FC-1E59-894264EC7D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351" y="1455175"/>
            <a:ext cx="4711700" cy="442451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Ethereum + Solidity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Remix IDE, Hardhat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Network: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MetaMask,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Sepolia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Test Network,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Sepolia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ETH Faucets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Testing: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Hardhat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Tools: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GitHub, VS Code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33ECD877-B5FB-9B2F-7024-FE8E728DE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3202" y="2098757"/>
            <a:ext cx="2584285" cy="258428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942" y="157316"/>
            <a:ext cx="4463845" cy="161249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&amp;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5676"/>
            <a:ext cx="7772400" cy="43655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Contract–Based Voting Mechanism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weighted voting system based on user stake or role.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tamper-proof, transparent decision-making using smart contracts.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Refund Logic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refunds users if the funding goal is not achieved.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 via smart contract conditions to ensure user trust.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Rules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(Optional)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suspicious behavior like duplicate voting or fake contributions.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maintain fairness and integrity in decentralized processes.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6E8ED7-BBAD-6BD5-78BF-E1A419235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3BB2-C8E3-301E-BD43-324BC001E8A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772696" y="2367679"/>
            <a:ext cx="3234813" cy="2066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4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Diagrams</a:t>
            </a:r>
          </a:p>
        </p:txBody>
      </p:sp>
    </p:spTree>
    <p:extLst>
      <p:ext uri="{BB962C8B-B14F-4D97-AF65-F5344CB8AC3E}">
        <p14:creationId xmlns:p14="http://schemas.microsoft.com/office/powerpoint/2010/main" val="2770412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5C1E-89C8-8EE7-7E80-CE6DEE986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C8FF9BB5-0DA5-3792-1F29-395506FFA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641" y="2141538"/>
            <a:ext cx="6995518" cy="3649662"/>
          </a:xfrm>
        </p:spPr>
      </p:pic>
    </p:spTree>
    <p:extLst>
      <p:ext uri="{BB962C8B-B14F-4D97-AF65-F5344CB8AC3E}">
        <p14:creationId xmlns:p14="http://schemas.microsoft.com/office/powerpoint/2010/main" val="4264534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0E13-BB84-1104-45C2-B5B118EA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1EA190-40D3-FFC1-2D42-C1EA89AB5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47921"/>
            <a:ext cx="7772400" cy="363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45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5016D-2ECD-3E8A-E63B-5C9A19C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94389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0DC809-20E4-A462-FF43-B10517BC7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1252" y="1681317"/>
            <a:ext cx="4404851" cy="422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18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2EE1-0B3A-040E-B0A0-1E9F0583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59AC1-B2AC-611F-D5A4-BC4FDD640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936" r="4392"/>
          <a:stretch>
            <a:fillRect/>
          </a:stretch>
        </p:blipFill>
        <p:spPr>
          <a:xfrm>
            <a:off x="2782529" y="1769806"/>
            <a:ext cx="3303639" cy="402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817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F224-FEDB-3D73-EE52-C76B4FF59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89E29D-6225-0B36-B18E-DAC24298C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9093" r="15235"/>
          <a:stretch>
            <a:fillRect/>
          </a:stretch>
        </p:blipFill>
        <p:spPr>
          <a:xfrm>
            <a:off x="2467897" y="2141537"/>
            <a:ext cx="3234814" cy="421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33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8A4D8-D65D-67E2-F097-E8F60C22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36B865-0DB8-3650-FE07-AF79A625D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122" r="11527"/>
          <a:stretch>
            <a:fillRect/>
          </a:stretch>
        </p:blipFill>
        <p:spPr>
          <a:xfrm>
            <a:off x="1681317" y="1809135"/>
            <a:ext cx="5781368" cy="443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25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9EEF0E-AAA8-1C70-5F8D-A4634011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5" y="2074606"/>
            <a:ext cx="6007508" cy="21041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</a:t>
            </a:r>
          </a:p>
        </p:txBody>
      </p:sp>
    </p:spTree>
    <p:extLst>
      <p:ext uri="{BB962C8B-B14F-4D97-AF65-F5344CB8AC3E}">
        <p14:creationId xmlns:p14="http://schemas.microsoft.com/office/powerpoint/2010/main" val="3767158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34D94-0072-27C7-C6BD-62A73B122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FE085-050D-47D2-3D07-3F1923E62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62" y="275303"/>
            <a:ext cx="8602275" cy="571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84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99798-84C3-9F62-8FB9-996DD3F2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4C362-9BBE-C030-1F5D-0838799EC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36" y="530943"/>
            <a:ext cx="8621328" cy="415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67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87F7B-B845-BEA3-2DFE-E37CD6AA9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6478"/>
            <a:ext cx="7772400" cy="796412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 overview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56F275-5006-B11B-EBB0-7FAD02285D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0" b="-1"/>
          <a:stretch>
            <a:fillRect/>
          </a:stretch>
        </p:blipFill>
        <p:spPr>
          <a:xfrm>
            <a:off x="314589" y="1342238"/>
            <a:ext cx="8309294" cy="447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423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9B8A0-9050-B882-86DB-0443F44E4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147" y="2349910"/>
            <a:ext cx="3175821" cy="231058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</a:t>
            </a:r>
          </a:p>
        </p:txBody>
      </p:sp>
    </p:spTree>
    <p:extLst>
      <p:ext uri="{BB962C8B-B14F-4D97-AF65-F5344CB8AC3E}">
        <p14:creationId xmlns:p14="http://schemas.microsoft.com/office/powerpoint/2010/main" val="31255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7F75-4287-988C-12AB-B3A82A36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09602"/>
            <a:ext cx="7772400" cy="96356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1 Backlog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85AA3E-D774-047D-72A3-14551E6286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7986" y="1779638"/>
            <a:ext cx="8888361" cy="456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90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5900-150C-7D0D-BF7C-C1FEAF634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75708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Sprint 1 Backlog testcases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572E62-B9F8-D4CA-3FCE-CEE8FCD26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" y="1366683"/>
            <a:ext cx="8878529" cy="538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40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432DA31-8308-4F44-87C4-068169AA4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1B5872-759B-8DB8-D147-97F455DD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7" y="639097"/>
            <a:ext cx="5839545" cy="5702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Stories completed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0DC6C7C-B2D0-5CA9-40FA-768F2CBE9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853681"/>
              </p:ext>
            </p:extLst>
          </p:nvPr>
        </p:nvGraphicFramePr>
        <p:xfrm>
          <a:off x="619433" y="1415845"/>
          <a:ext cx="7875639" cy="5093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8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79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900"/>
                        <a:t>No.</a:t>
                      </a:r>
                    </a:p>
                  </a:txBody>
                  <a:tcPr marL="58686" marR="58686" marT="29343" marB="29343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900"/>
                        <a:t>User Stories</a:t>
                      </a:r>
                    </a:p>
                  </a:txBody>
                  <a:tcPr marL="58686" marR="58686" marT="29343" marB="29343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900"/>
                        <a:t>Completed Date</a:t>
                      </a:r>
                    </a:p>
                  </a:txBody>
                  <a:tcPr marL="58686" marR="58686" marT="29343" marB="29343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900"/>
                        <a:t>Story Points</a:t>
                      </a:r>
                    </a:p>
                  </a:txBody>
                  <a:tcPr marL="58686" marR="58686" marT="29343" marB="29343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900"/>
                        <a:t>Completed Points</a:t>
                      </a:r>
                    </a:p>
                  </a:txBody>
                  <a:tcPr marL="58686" marR="58686" marT="29343" marB="29343"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US_01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/>
                        <a:t>As a campaign manager, I want to create new campaigns with a target amount and deadline.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Oct 14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25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25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/>
                        <a:t>Implement contract deployment with target and deadline.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Oct 14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10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10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/>
                        <a:t>Verify manager ownership after deployment.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Oct 15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5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5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 dirty="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/>
                        <a:t>Validate stored target and deadline values.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Oct 15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10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10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US_02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/>
                        <a:t>As a supporter, I want to contribute funds to a campaign.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Oct 17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25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25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/>
                        <a:t>Test minimum contribution (≥ 100 wei).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Oct 17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10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10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/>
                        <a:t>Reject invalid contribution (&lt; 100 wei).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Oct 18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5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5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/>
                        <a:t>Verify raised amount and contributors count update.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Oct 18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5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5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25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US_03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/>
                        <a:t>As a contributor, I want to get a refund if the goal is not met before the deadline.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Oct 20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10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10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/>
                        <a:t>Ensure refund is available only after deadline and target unmet.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Oct 20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5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5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/>
                        <a:t>Confirm only contributors can initiate refunds.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Oct 21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/>
                        <a:t>5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5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9654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9E92-88C5-EECA-3C7B-0B0E6E3AA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09602"/>
            <a:ext cx="7772400" cy="94389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sprint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501F0A-2AA3-61B3-D6A7-A039605CC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990703"/>
              </p:ext>
            </p:extLst>
          </p:nvPr>
        </p:nvGraphicFramePr>
        <p:xfrm>
          <a:off x="1524000" y="1397000"/>
          <a:ext cx="609600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25246492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944966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451382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3682014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249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88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632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22673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19C803-D2AD-4218-1BF7-C3552A3A4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872127"/>
              </p:ext>
            </p:extLst>
          </p:nvPr>
        </p:nvGraphicFramePr>
        <p:xfrm>
          <a:off x="604684" y="1741129"/>
          <a:ext cx="7005484" cy="4433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3562">
                  <a:extLst>
                    <a:ext uri="{9D8B030D-6E8A-4147-A177-3AD203B41FA5}">
                      <a16:colId xmlns:a16="http://schemas.microsoft.com/office/drawing/2014/main" val="4074602658"/>
                    </a:ext>
                  </a:extLst>
                </a:gridCol>
                <a:gridCol w="2325328">
                  <a:extLst>
                    <a:ext uri="{9D8B030D-6E8A-4147-A177-3AD203B41FA5}">
                      <a16:colId xmlns:a16="http://schemas.microsoft.com/office/drawing/2014/main" val="3691718014"/>
                    </a:ext>
                  </a:extLst>
                </a:gridCol>
                <a:gridCol w="1784556">
                  <a:extLst>
                    <a:ext uri="{9D8B030D-6E8A-4147-A177-3AD203B41FA5}">
                      <a16:colId xmlns:a16="http://schemas.microsoft.com/office/drawing/2014/main" val="1938581220"/>
                    </a:ext>
                  </a:extLst>
                </a:gridCol>
                <a:gridCol w="1932038">
                  <a:extLst>
                    <a:ext uri="{9D8B030D-6E8A-4147-A177-3AD203B41FA5}">
                      <a16:colId xmlns:a16="http://schemas.microsoft.com/office/drawing/2014/main" val="2795402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Story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Story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Story points estimated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Story points delivered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58196"/>
                  </a:ext>
                </a:extLst>
              </a:tr>
              <a:tr h="1040417">
                <a:tc>
                  <a:txBody>
                    <a:bodyPr/>
                    <a:lstStyle/>
                    <a:p>
                      <a:r>
                        <a:rPr lang="en-IN" dirty="0"/>
                        <a:t>US_01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 a campaign manager, I want to create new campaigns with a target amount and deadline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78022"/>
                  </a:ext>
                </a:extLst>
              </a:tr>
              <a:tr h="1032387">
                <a:tc>
                  <a:txBody>
                    <a:bodyPr/>
                    <a:lstStyle/>
                    <a:p>
                      <a:r>
                        <a:rPr lang="en-IN" dirty="0"/>
                        <a:t>US_02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 a supporter, I want to contribute funds to a campaign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703195"/>
                  </a:ext>
                </a:extLst>
              </a:tr>
              <a:tr h="1297858">
                <a:tc>
                  <a:txBody>
                    <a:bodyPr/>
                    <a:lstStyle/>
                    <a:p>
                      <a:r>
                        <a:rPr lang="en-IN" dirty="0"/>
                        <a:t>US_09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 a contributor, I want to get a refund if the goal is not met before the deadline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888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8532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FCFA5-B88C-3983-3DEE-14EBF6D28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83574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Team Velocity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0B50D7-4509-0629-5DA5-610BDCFD3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218996"/>
              </p:ext>
            </p:extLst>
          </p:nvPr>
        </p:nvGraphicFramePr>
        <p:xfrm>
          <a:off x="685800" y="1793439"/>
          <a:ext cx="7772400" cy="1828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168508715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131101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53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 estimated points: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669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 points delivered: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051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Points carried over: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241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Team Velocity: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842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09717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CA792-FE7F-64F6-9D5A-13798DE43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84557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Burndown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74808A-0C55-E521-D625-1C66DBC233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4"/>
          <a:stretch>
            <a:fillRect/>
          </a:stretch>
        </p:blipFill>
        <p:spPr>
          <a:xfrm>
            <a:off x="2408902" y="1945662"/>
            <a:ext cx="4267201" cy="384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39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2AE8-32E0-EB0E-D8E1-3B8AEFB0E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9143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1 retrospective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0A19F-FD94-67CA-F8CB-92B1F360A2C8}"/>
              </a:ext>
            </a:extLst>
          </p:cNvPr>
          <p:cNvSpPr txBox="1"/>
          <p:nvPr/>
        </p:nvSpPr>
        <p:spPr>
          <a:xfrm>
            <a:off x="127820" y="1841921"/>
            <a:ext cx="2871019" cy="2453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b="1" dirty="0"/>
              <a:t>What went well?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Improved Meeting Structure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Efficient Time Management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Better Communication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Seamless Code Integration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-US" sz="1400" dirty="0"/>
              <a:t>Open and Honest Communication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44A8E0-6A6C-520F-DEEB-EE01BBD63DFC}"/>
              </a:ext>
            </a:extLst>
          </p:cNvPr>
          <p:cNvSpPr txBox="1"/>
          <p:nvPr/>
        </p:nvSpPr>
        <p:spPr>
          <a:xfrm>
            <a:off x="2969342" y="1841921"/>
            <a:ext cx="3333135" cy="2563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b="1" dirty="0"/>
              <a:t>What could be improved?</a:t>
            </a:r>
            <a:endParaRPr lang="en-US" sz="1400" dirty="0"/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Confidence in Decision-Making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Faster Response Times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Better Way of Scheduling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Clearer Dependency Tracking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Thorough Technical Analysis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Smaller, Manageable Tasks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4F390-C3DF-D6B8-73B6-D7A2E1AF0A18}"/>
              </a:ext>
            </a:extLst>
          </p:cNvPr>
          <p:cNvSpPr txBox="1"/>
          <p:nvPr/>
        </p:nvSpPr>
        <p:spPr>
          <a:xfrm>
            <a:off x="5840361" y="1841921"/>
            <a:ext cx="2871019" cy="2325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b="1" dirty="0"/>
              <a:t>Our commitments</a:t>
            </a:r>
            <a:endParaRPr lang="en-US" sz="1400" dirty="0">
              <a:highlight>
                <a:srgbClr val="FF000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Engage More in Technical Discussions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Improve Task &amp; Dependency Tracking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400" dirty="0"/>
              <a:t>Enhance Team Coordination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-US" sz="1400" dirty="0"/>
              <a:t>Frequent Jira Updates</a:t>
            </a:r>
          </a:p>
        </p:txBody>
      </p:sp>
    </p:spTree>
    <p:extLst>
      <p:ext uri="{BB962C8B-B14F-4D97-AF65-F5344CB8AC3E}">
        <p14:creationId xmlns:p14="http://schemas.microsoft.com/office/powerpoint/2010/main" val="27504499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EFE3-4955-F63B-FAB4-E98EAC9D4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75708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2 Planning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333A732D-1C13-4D6D-C586-F9E4A3CA1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199" y="1917290"/>
            <a:ext cx="8264013" cy="401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10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FB4E-BE65-6B69-63B3-EF9549EAB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79641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Sprint-2 Stories Planned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445F75-1F3E-CFDB-56E6-8E94DE9F8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B2BF1C-8A8A-F4E5-6702-4A40CAD71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9" y="1837020"/>
            <a:ext cx="8534400" cy="395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184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978D3-A3A1-EC88-7352-0BB2BF418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678424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073389-E046-403E-AE57-9305B1BBC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567" y="1691148"/>
            <a:ext cx="8458866" cy="431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222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44875-D487-A900-4A70-91014CB1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36569-1F36-B050-E089-7500BF133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678424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90F7F47-5738-C90D-D18D-5409F77C1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050" y="1474839"/>
            <a:ext cx="8487900" cy="461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2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22CD25-774C-445A-BB73-E7CA305DB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a metal flute">
            <a:extLst>
              <a:ext uri="{FF2B5EF4-FFF2-40B4-BE49-F238E27FC236}">
                <a16:creationId xmlns:a16="http://schemas.microsoft.com/office/drawing/2014/main" id="{892CFDA1-E7CF-05C9-041D-0A262A5603C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3006" r="8660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22D27-F39E-4E29-B074-E0E3F1C8F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8A7432-3B34-DC9F-B973-E878EDB8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Wiki Page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798FA-F2B3-37B6-C427-F42043010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2142067"/>
            <a:ext cx="7598569" cy="3649133"/>
          </a:xfrm>
        </p:spPr>
        <p:txBody>
          <a:bodyPr>
            <a:normAutofit/>
          </a:bodyPr>
          <a:lstStyle/>
          <a:p>
            <a:r>
              <a:rPr lang="en-IN" dirty="0"/>
              <a:t> </a:t>
            </a:r>
            <a:r>
              <a:rPr lang="en-IN" dirty="0">
                <a:hlinkClick r:id="rId5" tooltip="Original URL:https://github.com/htmw/F2025-Team2/wikiClick to follow link."/>
              </a:rPr>
              <a:t>https://github.com/htmw/F2025-Team2/wiki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5195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37A0-4A01-28F1-9F88-410B28FA6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0111B-BEBA-6816-9388-A45886BB3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6181" y="2142069"/>
            <a:ext cx="6833419" cy="3265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2556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4379</TotalTime>
  <Words>1257</Words>
  <Application>Microsoft Office PowerPoint</Application>
  <PresentationFormat>On-screen Show (4:3)</PresentationFormat>
  <Paragraphs>243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Arial</vt:lpstr>
      <vt:lpstr>Calibri</vt:lpstr>
      <vt:lpstr>Calibri Light</vt:lpstr>
      <vt:lpstr>Times New Roman</vt:lpstr>
      <vt:lpstr>Celestial</vt:lpstr>
      <vt:lpstr>Crowdfunding </vt:lpstr>
      <vt:lpstr>Agenda</vt:lpstr>
      <vt:lpstr>Getting to know the Team…</vt:lpstr>
      <vt:lpstr>Getting to know the Team…</vt:lpstr>
      <vt:lpstr>Improvements</vt:lpstr>
      <vt:lpstr>Project Description</vt:lpstr>
      <vt:lpstr>Team Working Agreement</vt:lpstr>
      <vt:lpstr>Team Working Agreement</vt:lpstr>
      <vt:lpstr>The Startup Founder Persona</vt:lpstr>
      <vt:lpstr>The Investor Persona</vt:lpstr>
      <vt:lpstr>The Community Member Persona</vt:lpstr>
      <vt:lpstr>MVP</vt:lpstr>
      <vt:lpstr>TOOLS &amp;Technologies</vt:lpstr>
      <vt:lpstr>Algorithms &amp; Logic</vt:lpstr>
      <vt:lpstr>PowerPoint Presentation</vt:lpstr>
      <vt:lpstr>Architecture Diagram</vt:lpstr>
      <vt:lpstr>Context Diagram</vt:lpstr>
      <vt:lpstr>state Diagram</vt:lpstr>
      <vt:lpstr>ER Diagram</vt:lpstr>
      <vt:lpstr>Class Diagram</vt:lpstr>
      <vt:lpstr>Sequence Diagram</vt:lpstr>
      <vt:lpstr>Product Backlog</vt:lpstr>
      <vt:lpstr>PowerPoint Presentation</vt:lpstr>
      <vt:lpstr>PowerPoint Presentation</vt:lpstr>
      <vt:lpstr>Product Backlog overview</vt:lpstr>
      <vt:lpstr>Sprint 1</vt:lpstr>
      <vt:lpstr>Sprint 1 Backlog</vt:lpstr>
      <vt:lpstr>Sprint 1 Backlog testcases</vt:lpstr>
      <vt:lpstr>Stories completed</vt:lpstr>
      <vt:lpstr>Metrics: sprint 1</vt:lpstr>
      <vt:lpstr>Metrics: Team Velocity</vt:lpstr>
      <vt:lpstr>Metrics: Burndown Chart</vt:lpstr>
      <vt:lpstr>Sprint 1 retrospective</vt:lpstr>
      <vt:lpstr>Sprint 2 Planning</vt:lpstr>
      <vt:lpstr>Sprint-2 Stories Planned</vt:lpstr>
      <vt:lpstr>Project demo</vt:lpstr>
      <vt:lpstr>Project demo</vt:lpstr>
      <vt:lpstr>Wiki Page LINK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Decentralized Crowdfunding Platform</dc:title>
  <dc:subject/>
  <dc:creator>Yashaswini Reddy💕</dc:creator>
  <cp:keywords/>
  <dc:description>generated using python-pptx</dc:description>
  <cp:lastModifiedBy>Maram, Ms. Ashwitha</cp:lastModifiedBy>
  <cp:revision>14</cp:revision>
  <dcterms:created xsi:type="dcterms:W3CDTF">2013-01-27T09:14:16Z</dcterms:created>
  <dcterms:modified xsi:type="dcterms:W3CDTF">2025-10-24T02:41:38Z</dcterms:modified>
  <cp:category/>
</cp:coreProperties>
</file>